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PCB placement framed as a search problem for AlphaEvolve. The code in this project scores every layout from 0 to 1, with invalid layouts at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PCB is the green board inside every electronic device. The copper lines are the wires. This diagram is the 8-part toy board used in the rest of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five parts, same connections. Only the positions differ. Good placement is what makes the board cheaper, quieter and more 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aim is not to hand-tune one layout. It is to let a search process discover good placement methods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entire problem definition: board size, part sizes, and which parts must be wired together. Positions are deliberately left out, finding them is the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 rules are pass/fail. Goals are scored. The weights say how much each goal matters; the regulator bonus is capped at 20 mm so it cannot dominate.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AlphaEvolve is an evolutionary coding agent. You provide a starting program and an evaluator. The model mutates the program, the evaluator scores each version, and the best ones seed the next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idea. The thing being evolved is the placement algorithm, not a fixed list of coordinates, so the result generalizes.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round: pick a parent, build a prompt, the LLM proposes an edit, the edit is saved as a candidate file, evaluate() scores it, and the result is kept or dropped. Round 1 fails the overlap rule and is dropped. Rounds 2 and 3 improve the score from 0.066 to 0.243 to 0.281. The loop repeats by itself; viewers cannot click inside the embed.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prompt is rebuilt every round from the database: the task text, a parent chosen by score, that parent's metrics, and a few other strong programs. Learning lives in what gets put into the prompt, not in the model weights. Numbers shown are the real evaluator output for the stage 2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 is bounded between 0 and 1, so scoring an invalid layout as 0 is safe: it can never beat a valid layout. The evaluator is the most important part: it must be fast, deterministic and hard to cheat.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layouts scored by evaluator.py in the code zip: the crammed layout is example_overlap.py, the others are initial_program.py and stage3_anneal.py. Rules are pass or fail and checked first; goals are measured only for legal layouts.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initial_program.py from the code zip. The score of 0.066 is real evaluator output. Random placement ignores both the rules and the wiring; in a quick check of 300 seeds, 125 gave legal layouts and the rest overlapped, which scores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stage2_cluster.py from the code zip: a hand-written stand-in for the kind of program evolution might find. Its score of 0.243 is real evaluator output. The helpers clash() and pull() sit above the EVOLVE-BLOCK, so only place() is shown. A real evolved program will look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stage3_anneal.py from the code zip: a hand-written stand-in for a later, better program. Its score of 0.281 is real evaluator output. The helpers greedy(), cost() and nudge() sit above the EVOLVE-BLOCK, so only place() is shown. A real run will find different code and may do better or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Starts from a random scatter (usually overlapping and invalid), then repeatedly nudges parts, accepting most improvements and a few setbacks early on. It restarts with a new random layout after each run. The same scoring formula as the evaluator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stand-in for what evolution might discover over time: start with random scatter, remove overlaps, cluster around the MCU, then refine with small tweaks or annealing. Each board is produced by real code run live in this slide, and scored with the same formula.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 effort in an AlphaEvolve project goes into the evaluator. Anything it forgets to check, evolution will find and exploit.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toy works end to end and beats a hand-written baseline, swap in richer evaluators one at a time, checking each for loopholes before adding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EFE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0E2A24"/>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30"/>
            <a:ext cx="10566400" cy="4480570"/>
          </a:xfrm>
          <a:prstGeom prst="rect">
            <a:avLst/>
          </a:prstGeom>
          <a:noFill/>
          <a:ln/>
        </p:spPr>
        <p:txBody>
          <a:bodyPr wrap="square" lIns="0" tIns="0" rIns="0" bIns="0" rtlCol="0" anchor="t"/>
          <a:lstStyle>
            <a:lvl1pPr algn="l" indent="0" marL="0">
              <a:lnSpc>
                <a:spcPct val="140000"/>
              </a:lnSpc>
              <a:buNone/>
              <a:defRPr lang="en-US" sz="1600" dirty="0">
                <a:solidFill>
                  <a:srgbClr val="0E2A24"/>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EFE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0E2A24"/>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30"/>
            <a:ext cx="10566400" cy="4480570"/>
          </a:xfrm>
          <a:prstGeom prst="rect">
            <a:avLst/>
          </a:prstGeom>
          <a:noFill/>
          <a:ln/>
        </p:spPr>
        <p:txBody>
          <a:bodyPr wrap="square" lIns="0" tIns="0" rIns="0" bIns="0" rtlCol="0" anchor="t"/>
          <a:lstStyle>
            <a:lvl1pPr algn="l" indent="0" marL="0">
              <a:lnSpc>
                <a:spcPct val="140000"/>
              </a:lnSpc>
              <a:buNone/>
              <a:defRPr lang="en-US" sz="1600" dirty="0">
                <a:solidFill>
                  <a:srgbClr val="0E2A24"/>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2.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2.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image" Target="../media/image-12-14.png"/><Relationship Id="rId15" Type="http://schemas.openxmlformats.org/officeDocument/2006/relationships/image" Target="../media/image-12-15.png"/><Relationship Id="rId16" Type="http://schemas.openxmlformats.org/officeDocument/2006/relationships/image" Target="../media/image-12-16.png"/><Relationship Id="rId17" Type="http://schemas.openxmlformats.org/officeDocument/2006/relationships/image" Target="../media/image-12-17.png"/><Relationship Id="rId18" Type="http://schemas.openxmlformats.org/officeDocument/2006/relationships/image" Target="../media/image-12-18.png"/><Relationship Id="rId19" Type="http://schemas.openxmlformats.org/officeDocument/2006/relationships/image" Target="../media/image-12-19.png"/><Relationship Id="rId20" Type="http://schemas.openxmlformats.org/officeDocument/2006/relationships/image" Target="../media/image-12-20.png"/><Relationship Id="rId21" Type="http://schemas.openxmlformats.org/officeDocument/2006/relationships/image" Target="../media/image-12-21.png"/><Relationship Id="rId22" Type="http://schemas.openxmlformats.org/officeDocument/2006/relationships/image" Target="../media/image-12-22.png"/><Relationship Id="rId23" Type="http://schemas.openxmlformats.org/officeDocument/2006/relationships/image" Target="../media/image-12-23.png"/><Relationship Id="rId24" Type="http://schemas.openxmlformats.org/officeDocument/2006/relationships/image" Target="../media/image-12-24.png"/><Relationship Id="rId25" Type="http://schemas.openxmlformats.org/officeDocument/2006/relationships/slideLayout" Target="../slideLayouts/slideLayout2.xml"/><Relationship Id="rId2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2.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2.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2.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24"/>
        </a:solidFill>
      </p:bgPr>
    </p:bg>
    <p:spTree>
      <p:nvGrpSpPr>
        <p:cNvPr id="1" name=""/>
        <p:cNvGrpSpPr/>
        <p:nvPr/>
      </p:nvGrpSpPr>
      <p:grpSpPr>
        <a:xfrm>
          <a:off x="0" y="0"/>
          <a:ext cx="0" cy="0"/>
          <a:chOff x="0" y="0"/>
          <a:chExt cx="0" cy="0"/>
        </a:xfrm>
      </p:grpSpPr>
      <p:sp>
        <p:nvSpPr>
          <p:cNvPr id="2" name="Shape 0"/>
          <p:cNvSpPr/>
          <p:nvPr/>
        </p:nvSpPr>
        <p:spPr>
          <a:xfrm>
            <a:off x="8775700" y="1155700"/>
            <a:ext cx="1371600" cy="1371600"/>
          </a:xfrm>
          <a:prstGeom prst="roundRect">
            <a:avLst>
              <a:gd name="adj" fmla="val 6481"/>
            </a:avLst>
          </a:prstGeom>
          <a:solidFill>
            <a:srgbClr val="143A32"/>
          </a:solidFill>
          <a:ln w="25400">
            <a:solidFill>
              <a:srgbClr val="2F6B5C"/>
            </a:solidFill>
            <a:prstDash val="solid"/>
          </a:ln>
        </p:spPr>
      </p:sp>
      <p:sp>
        <p:nvSpPr>
          <p:cNvPr id="3" name="Shape 1"/>
          <p:cNvSpPr/>
          <p:nvPr/>
        </p:nvSpPr>
        <p:spPr>
          <a:xfrm>
            <a:off x="10426700" y="4457700"/>
            <a:ext cx="736600" cy="736600"/>
          </a:xfrm>
          <a:prstGeom prst="roundRect">
            <a:avLst>
              <a:gd name="adj" fmla="val 12069"/>
            </a:avLst>
          </a:prstGeom>
          <a:solidFill>
            <a:srgbClr val="143A32"/>
          </a:solidFill>
          <a:ln w="25400">
            <a:solidFill>
              <a:srgbClr val="2F6B5C"/>
            </a:solidFill>
            <a:prstDash val="solid"/>
          </a:ln>
        </p:spPr>
      </p:sp>
      <p:sp>
        <p:nvSpPr>
          <p:cNvPr id="4" name="Shape 2"/>
          <p:cNvSpPr/>
          <p:nvPr/>
        </p:nvSpPr>
        <p:spPr>
          <a:xfrm>
            <a:off x="7950200" y="4076700"/>
            <a:ext cx="609600" cy="355600"/>
          </a:xfrm>
          <a:prstGeom prst="roundRect">
            <a:avLst>
              <a:gd name="adj" fmla="val 17857"/>
            </a:avLst>
          </a:prstGeom>
          <a:solidFill>
            <a:srgbClr val="143A32"/>
          </a:solidFill>
          <a:ln w="25400">
            <a:solidFill>
              <a:srgbClr val="2F6B5C"/>
            </a:solidFill>
            <a:prstDash val="solid"/>
          </a:ln>
        </p:spPr>
      </p:sp>
      <p:pic>
        <p:nvPicPr>
          <p:cNvPr id="5" name="Image 0" descr="connector">    </p:cNvPr>
          <p:cNvPicPr>
            <a:picLocks noChangeAspect="1"/>
          </p:cNvPicPr>
          <p:nvPr/>
        </p:nvPicPr>
        <p:blipFill>
          <a:blip r:embed="rId1"/>
          <a:srcRect l="0" r="0" t="0" b="0"/>
          <a:stretch/>
        </p:blipFill>
        <p:spPr>
          <a:xfrm>
            <a:off x="10064750" y="1746250"/>
            <a:ext cx="825500" cy="2794000"/>
          </a:xfrm>
          <a:prstGeom prst="rect">
            <a:avLst/>
          </a:prstGeom>
        </p:spPr>
      </p:pic>
      <p:pic>
        <p:nvPicPr>
          <p:cNvPr id="6" name="Image 1" descr="connector">    </p:cNvPr>
          <p:cNvPicPr>
            <a:picLocks noChangeAspect="1"/>
          </p:cNvPicPr>
          <p:nvPr/>
        </p:nvPicPr>
        <p:blipFill>
          <a:blip r:embed="rId2"/>
          <a:srcRect l="0" r="0" t="0" b="0"/>
          <a:stretch/>
        </p:blipFill>
        <p:spPr>
          <a:xfrm>
            <a:off x="9048750" y="2444750"/>
            <a:ext cx="190500" cy="2730500"/>
          </a:xfrm>
          <a:prstGeom prst="rect">
            <a:avLst/>
          </a:prstGeom>
        </p:spPr>
      </p:pic>
      <p:pic>
        <p:nvPicPr>
          <p:cNvPr id="7" name="Image 2" descr="connector">    </p:cNvPr>
          <p:cNvPicPr>
            <a:picLocks noChangeAspect="1"/>
          </p:cNvPicPr>
          <p:nvPr/>
        </p:nvPicPr>
        <p:blipFill>
          <a:blip r:embed="rId3"/>
          <a:srcRect l="0" r="0" t="0" b="0"/>
          <a:stretch/>
        </p:blipFill>
        <p:spPr>
          <a:xfrm>
            <a:off x="8159750" y="4349750"/>
            <a:ext cx="190500" cy="1206500"/>
          </a:xfrm>
          <a:prstGeom prst="rect">
            <a:avLst/>
          </a:prstGeom>
        </p:spPr>
      </p:pic>
      <p:sp>
        <p:nvSpPr>
          <p:cNvPr id="8" name="Shape 3"/>
          <p:cNvSpPr/>
          <p:nvPr/>
        </p:nvSpPr>
        <p:spPr>
          <a:xfrm>
            <a:off x="9080500" y="5016500"/>
            <a:ext cx="127000" cy="127000"/>
          </a:xfrm>
          <a:prstGeom prst="roundRect">
            <a:avLst>
              <a:gd name="adj" fmla="val 50000"/>
            </a:avLst>
          </a:prstGeom>
          <a:solidFill>
            <a:srgbClr val="E8A25C"/>
          </a:solidFill>
          <a:ln/>
        </p:spPr>
      </p:sp>
      <p:sp>
        <p:nvSpPr>
          <p:cNvPr id="9" name="Shape 4"/>
          <p:cNvSpPr/>
          <p:nvPr/>
        </p:nvSpPr>
        <p:spPr>
          <a:xfrm>
            <a:off x="8191500" y="5397500"/>
            <a:ext cx="127000" cy="127000"/>
          </a:xfrm>
          <a:prstGeom prst="roundRect">
            <a:avLst>
              <a:gd name="adj" fmla="val 50000"/>
            </a:avLst>
          </a:prstGeom>
          <a:solidFill>
            <a:srgbClr val="E8A25C"/>
          </a:solidFill>
          <a:ln/>
        </p:spPr>
      </p:sp>
      <p:sp>
        <p:nvSpPr>
          <p:cNvPr id="10" name="Text 5"/>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E8A25C"/>
                </a:solidFill>
                <a:latin typeface="Inter" pitchFamily="34" charset="0"/>
                <a:ea typeface="Inter" pitchFamily="34" charset="-122"/>
                <a:cs typeface="Inter" pitchFamily="34" charset="-120"/>
              </a:rPr>
              <a:t>ALPHAEVOLVE · PCB PLACEMENT</a:t>
            </a:r>
            <a:endParaRPr lang="en-US" sz="1400" dirty="0"/>
          </a:p>
        </p:txBody>
      </p:sp>
      <p:sp>
        <p:nvSpPr>
          <p:cNvPr id="11" name="Text 6"/>
          <p:cNvSpPr/>
          <p:nvPr>
            <p:ph type="title"/>
          </p:nvPr>
        </p:nvSpPr>
        <p:spPr>
          <a:xfrm>
            <a:off x="812800" y="2542580"/>
            <a:ext cx="6867525" cy="1478260"/>
          </a:xfrm>
          <a:prstGeom prst="rect">
            <a:avLst/>
          </a:prstGeom>
          <a:noFill/>
          <a:ln/>
        </p:spPr>
        <p:txBody>
          <a:bodyPr wrap="square" lIns="0" tIns="0" rIns="0" bIns="0" rtlCol="0" anchor="t">
            <a:normAutofit/>
          </a:bodyPr>
          <a:lstStyle/>
          <a:p>
            <a:pPr algn="l" indent="0" marL="0">
              <a:lnSpc>
                <a:spcPts val="5720"/>
              </a:lnSpc>
              <a:buNone/>
            </a:pPr>
            <a:r>
              <a:rPr lang="en-US" sz="5200" b="1" i="0" dirty="0">
                <a:solidFill>
                  <a:srgbClr val="EFE9DA"/>
                </a:solidFill>
                <a:latin typeface="Space Grotesk" pitchFamily="34" charset="0"/>
                <a:ea typeface="Space Grotesk" pitchFamily="34" charset="-122"/>
                <a:cs typeface="Space Grotesk" pitchFamily="34" charset="-120"/>
              </a:rPr>
              <a:t>Teaching an AI to lay out circuit boards</a:t>
            </a:r>
            <a:endParaRPr lang="en-US" sz="5200" dirty="0"/>
          </a:p>
        </p:txBody>
      </p:sp>
      <p:sp>
        <p:nvSpPr>
          <p:cNvPr id="12" name="Text 7"/>
          <p:cNvSpPr/>
          <p:nvPr/>
        </p:nvSpPr>
        <p:spPr>
          <a:xfrm>
            <a:off x="812800" y="5476280"/>
            <a:ext cx="654050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DB3AA"/>
                </a:solidFill>
                <a:latin typeface="Inter" pitchFamily="34" charset="0"/>
                <a:ea typeface="Inter" pitchFamily="34" charset="-122"/>
                <a:cs typeface="Inter" pitchFamily="34" charset="-120"/>
              </a:rPr>
              <a:t>A plain-language walkthrough: the problem, the goal, and two live simulations.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FE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2A24"/>
                </a:solidFill>
                <a:latin typeface="Space Grotesk" pitchFamily="34" charset="0"/>
                <a:ea typeface="Space Grotesk" pitchFamily="34" charset="-122"/>
                <a:cs typeface="Space Grotesk" pitchFamily="34" charset="-120"/>
              </a:rPr>
              <a:t>What a PCB is</a:t>
            </a:r>
            <a:endParaRPr lang="en-US" sz="3200" dirty="0"/>
          </a:p>
        </p:txBody>
      </p:sp>
      <p:sp>
        <p:nvSpPr>
          <p:cNvPr id="3" name="Shape 1"/>
          <p:cNvSpPr/>
          <p:nvPr/>
        </p:nvSpPr>
        <p:spPr>
          <a:xfrm>
            <a:off x="831850" y="1583680"/>
            <a:ext cx="5422900" cy="3898900"/>
          </a:xfrm>
          <a:prstGeom prst="roundRect">
            <a:avLst>
              <a:gd name="adj" fmla="val 3420"/>
            </a:avLst>
          </a:prstGeom>
          <a:solidFill>
            <a:srgbClr val="1C5E47"/>
          </a:solidFill>
          <a:ln w="38100">
            <a:solidFill>
              <a:srgbClr val="0F3B2D"/>
            </a:solidFill>
            <a:prstDash val="solid"/>
          </a:ln>
        </p:spPr>
      </p:sp>
      <p:pic>
        <p:nvPicPr>
          <p:cNvPr id="4" name="Image 0" descr="connector">    </p:cNvPr>
          <p:cNvPicPr>
            <a:picLocks noChangeAspect="1"/>
          </p:cNvPicPr>
          <p:nvPr/>
        </p:nvPicPr>
        <p:blipFill>
          <a:blip r:embed="rId1"/>
          <a:srcRect l="0" r="0" t="0" b="0"/>
          <a:stretch/>
        </p:blipFill>
        <p:spPr>
          <a:xfrm>
            <a:off x="3308350" y="2225030"/>
            <a:ext cx="152400" cy="749300"/>
          </a:xfrm>
          <a:prstGeom prst="rect">
            <a:avLst/>
          </a:prstGeom>
        </p:spPr>
      </p:pic>
      <p:pic>
        <p:nvPicPr>
          <p:cNvPr id="5" name="Image 1" descr="connector">    </p:cNvPr>
          <p:cNvPicPr>
            <a:picLocks noChangeAspect="1"/>
          </p:cNvPicPr>
          <p:nvPr/>
        </p:nvPicPr>
        <p:blipFill>
          <a:blip r:embed="rId2"/>
          <a:srcRect l="0" r="0" t="0" b="0"/>
          <a:stretch/>
        </p:blipFill>
        <p:spPr>
          <a:xfrm>
            <a:off x="4102100" y="3088630"/>
            <a:ext cx="469900" cy="152400"/>
          </a:xfrm>
          <a:prstGeom prst="rect">
            <a:avLst/>
          </a:prstGeom>
        </p:spPr>
      </p:pic>
      <p:pic>
        <p:nvPicPr>
          <p:cNvPr id="6" name="Image 2" descr="connector">    </p:cNvPr>
          <p:cNvPicPr>
            <a:picLocks noChangeAspect="1"/>
          </p:cNvPicPr>
          <p:nvPr/>
        </p:nvPicPr>
        <p:blipFill>
          <a:blip r:embed="rId3"/>
          <a:srcRect l="0" r="0" t="0" b="0"/>
          <a:stretch/>
        </p:blipFill>
        <p:spPr>
          <a:xfrm>
            <a:off x="4102100" y="3723630"/>
            <a:ext cx="469900" cy="152400"/>
          </a:xfrm>
          <a:prstGeom prst="rect">
            <a:avLst/>
          </a:prstGeom>
        </p:spPr>
      </p:pic>
      <p:pic>
        <p:nvPicPr>
          <p:cNvPr id="7" name="Image 3" descr="connector">    </p:cNvPr>
          <p:cNvPicPr>
            <a:picLocks noChangeAspect="1"/>
          </p:cNvPicPr>
          <p:nvPr/>
        </p:nvPicPr>
        <p:blipFill>
          <a:blip r:embed="rId4"/>
          <a:srcRect l="0" r="0" t="0" b="0"/>
          <a:stretch/>
        </p:blipFill>
        <p:spPr>
          <a:xfrm>
            <a:off x="1689100" y="3456930"/>
            <a:ext cx="1295400" cy="152400"/>
          </a:xfrm>
          <a:prstGeom prst="rect">
            <a:avLst/>
          </a:prstGeom>
        </p:spPr>
      </p:pic>
      <p:pic>
        <p:nvPicPr>
          <p:cNvPr id="8" name="Image 4" descr="connector">    </p:cNvPr>
          <p:cNvPicPr>
            <a:picLocks noChangeAspect="1"/>
          </p:cNvPicPr>
          <p:nvPr/>
        </p:nvPicPr>
        <p:blipFill>
          <a:blip r:embed="rId5"/>
          <a:srcRect l="0" r="0" t="0" b="0"/>
          <a:stretch/>
        </p:blipFill>
        <p:spPr>
          <a:xfrm>
            <a:off x="4991100" y="2567930"/>
            <a:ext cx="692150" cy="673100"/>
          </a:xfrm>
          <a:prstGeom prst="rect">
            <a:avLst/>
          </a:prstGeom>
        </p:spPr>
      </p:pic>
      <p:pic>
        <p:nvPicPr>
          <p:cNvPr id="9" name="Image 5" descr="connector">    </p:cNvPr>
          <p:cNvPicPr>
            <a:picLocks noChangeAspect="1"/>
          </p:cNvPicPr>
          <p:nvPr/>
        </p:nvPicPr>
        <p:blipFill>
          <a:blip r:embed="rId6"/>
          <a:srcRect l="0" r="0" t="0" b="0"/>
          <a:stretch/>
        </p:blipFill>
        <p:spPr>
          <a:xfrm>
            <a:off x="2197100" y="2148830"/>
            <a:ext cx="787400" cy="1079500"/>
          </a:xfrm>
          <a:prstGeom prst="rect">
            <a:avLst/>
          </a:prstGeom>
        </p:spPr>
      </p:pic>
      <p:pic>
        <p:nvPicPr>
          <p:cNvPr id="10" name="Image 6" descr="connector">    </p:cNvPr>
          <p:cNvPicPr>
            <a:picLocks noChangeAspect="1"/>
          </p:cNvPicPr>
          <p:nvPr/>
        </p:nvPicPr>
        <p:blipFill>
          <a:blip r:embed="rId7"/>
          <a:srcRect l="0" r="0" t="0" b="0"/>
          <a:stretch/>
        </p:blipFill>
        <p:spPr>
          <a:xfrm>
            <a:off x="3467100" y="4091930"/>
            <a:ext cx="152400" cy="850900"/>
          </a:xfrm>
          <a:prstGeom prst="rect">
            <a:avLst/>
          </a:prstGeom>
        </p:spPr>
      </p:pic>
      <p:sp>
        <p:nvSpPr>
          <p:cNvPr id="11" name="Text 2"/>
          <p:cNvSpPr/>
          <p:nvPr/>
        </p:nvSpPr>
        <p:spPr>
          <a:xfrm>
            <a:off x="2908300" y="2898130"/>
            <a:ext cx="1270000" cy="1270000"/>
          </a:xfrm>
          <a:prstGeom prst="roundRect">
            <a:avLst>
              <a:gd name="adj" fmla="val 5000"/>
            </a:avLst>
          </a:prstGeom>
          <a:solidFill>
            <a:srgbClr val="2B2B2B"/>
          </a:solidFill>
          <a:ln/>
        </p:spPr>
        <p:txBody>
          <a:bodyPr wrap="square" lIns="0" tIns="0" rIns="0" bIns="0" rtlCol="0" anchor="ctr">
            <a:normAutofit/>
          </a:bodyPr>
          <a:lstStyle/>
          <a:p>
            <a:pPr algn="ctr" indent="0" marL="0">
              <a:lnSpc>
                <a:spcPts val="2240"/>
              </a:lnSpc>
              <a:buNone/>
            </a:pPr>
            <a:r>
              <a:rPr lang="en-US" sz="1600" b="1" dirty="0">
                <a:solidFill>
                  <a:srgbClr val="EFE9DA"/>
                </a:solidFill>
                <a:latin typeface="Inter" pitchFamily="34" charset="0"/>
                <a:ea typeface="Inter" pitchFamily="34" charset="-122"/>
                <a:cs typeface="Inter" pitchFamily="34" charset="-120"/>
              </a:rPr>
              <a:t>MCU</a:t>
            </a:r>
            <a:endParaRPr lang="en-US" sz="1600" dirty="0"/>
          </a:p>
        </p:txBody>
      </p:sp>
      <p:sp>
        <p:nvSpPr>
          <p:cNvPr id="12" name="Text 3"/>
          <p:cNvSpPr/>
          <p:nvPr/>
        </p:nvSpPr>
        <p:spPr>
          <a:xfrm>
            <a:off x="2971800" y="1818630"/>
            <a:ext cx="825500" cy="482600"/>
          </a:xfrm>
          <a:prstGeom prst="roundRect">
            <a:avLst>
              <a:gd name="adj" fmla="val 10526"/>
            </a:avLst>
          </a:prstGeom>
          <a:solidFill>
            <a:srgbClr val="C9CED3"/>
          </a:solidFill>
          <a:ln/>
        </p:spPr>
        <p:txBody>
          <a:bodyPr wrap="square" lIns="0" tIns="0" rIns="0" bIns="0" rtlCol="0" anchor="ctr">
            <a:normAutofit/>
          </a:bodyPr>
          <a:lstStyle/>
          <a:p>
            <a:pPr algn="ctr" indent="0" marL="0">
              <a:lnSpc>
                <a:spcPts val="1680"/>
              </a:lnSpc>
              <a:buNone/>
            </a:pPr>
            <a:r>
              <a:rPr lang="en-US" sz="1200" b="1" dirty="0">
                <a:solidFill>
                  <a:srgbClr val="16241F"/>
                </a:solidFill>
                <a:latin typeface="Inter" pitchFamily="34" charset="0"/>
                <a:ea typeface="Inter" pitchFamily="34" charset="-122"/>
                <a:cs typeface="Inter" pitchFamily="34" charset="-120"/>
              </a:rPr>
              <a:t>XTAL</a:t>
            </a:r>
            <a:endParaRPr lang="en-US" sz="1200" dirty="0"/>
          </a:p>
        </p:txBody>
      </p:sp>
      <p:sp>
        <p:nvSpPr>
          <p:cNvPr id="13" name="Text 4"/>
          <p:cNvSpPr/>
          <p:nvPr/>
        </p:nvSpPr>
        <p:spPr>
          <a:xfrm>
            <a:off x="4495800" y="3025130"/>
            <a:ext cx="571500" cy="279400"/>
          </a:xfrm>
          <a:prstGeom prst="roundRect">
            <a:avLst>
              <a:gd name="adj" fmla="val 13636"/>
            </a:avLst>
          </a:prstGeom>
          <a:solidFill>
            <a:srgbClr val="E3B66B"/>
          </a:solidFill>
          <a:ln/>
        </p:spPr>
        <p:txBody>
          <a:bodyPr wrap="square" lIns="0" tIns="0" rIns="0" bIns="0" rtlCol="0" anchor="ctr">
            <a:normAutofit/>
          </a:bodyPr>
          <a:lstStyle/>
          <a:p>
            <a:pPr algn="ctr" indent="0" marL="0">
              <a:lnSpc>
                <a:spcPts val="1680"/>
              </a:lnSpc>
              <a:buNone/>
            </a:pPr>
            <a:r>
              <a:rPr lang="en-US" sz="1200" b="1" dirty="0">
                <a:solidFill>
                  <a:srgbClr val="16241F"/>
                </a:solidFill>
                <a:latin typeface="Inter" pitchFamily="34" charset="0"/>
                <a:ea typeface="Inter" pitchFamily="34" charset="-122"/>
                <a:cs typeface="Inter" pitchFamily="34" charset="-120"/>
              </a:rPr>
              <a:t>C1</a:t>
            </a:r>
            <a:endParaRPr lang="en-US" sz="1200" dirty="0"/>
          </a:p>
        </p:txBody>
      </p:sp>
      <p:sp>
        <p:nvSpPr>
          <p:cNvPr id="14" name="Text 5"/>
          <p:cNvSpPr/>
          <p:nvPr/>
        </p:nvSpPr>
        <p:spPr>
          <a:xfrm>
            <a:off x="4495800" y="3660130"/>
            <a:ext cx="571500" cy="279400"/>
          </a:xfrm>
          <a:prstGeom prst="roundRect">
            <a:avLst>
              <a:gd name="adj" fmla="val 13636"/>
            </a:avLst>
          </a:prstGeom>
          <a:solidFill>
            <a:srgbClr val="E3B66B"/>
          </a:solidFill>
          <a:ln/>
        </p:spPr>
        <p:txBody>
          <a:bodyPr wrap="square" lIns="0" tIns="0" rIns="0" bIns="0" rtlCol="0" anchor="ctr">
            <a:normAutofit/>
          </a:bodyPr>
          <a:lstStyle/>
          <a:p>
            <a:pPr algn="ctr" indent="0" marL="0">
              <a:lnSpc>
                <a:spcPts val="1680"/>
              </a:lnSpc>
              <a:buNone/>
            </a:pPr>
            <a:r>
              <a:rPr lang="en-US" sz="1200" b="1" dirty="0">
                <a:solidFill>
                  <a:srgbClr val="16241F"/>
                </a:solidFill>
                <a:latin typeface="Inter" pitchFamily="34" charset="0"/>
                <a:ea typeface="Inter" pitchFamily="34" charset="-122"/>
                <a:cs typeface="Inter" pitchFamily="34" charset="-120"/>
              </a:rPr>
              <a:t>C2</a:t>
            </a:r>
            <a:endParaRPr lang="en-US" sz="1200" dirty="0"/>
          </a:p>
        </p:txBody>
      </p:sp>
      <p:sp>
        <p:nvSpPr>
          <p:cNvPr id="15" name="Text 6"/>
          <p:cNvSpPr/>
          <p:nvPr/>
        </p:nvSpPr>
        <p:spPr>
          <a:xfrm>
            <a:off x="5257800" y="1945630"/>
            <a:ext cx="698500" cy="698500"/>
          </a:xfrm>
          <a:prstGeom prst="roundRect">
            <a:avLst>
              <a:gd name="adj" fmla="val 7273"/>
            </a:avLst>
          </a:prstGeom>
          <a:solidFill>
            <a:srgbClr val="6FA8DC"/>
          </a:solidFill>
          <a:ln/>
        </p:spPr>
        <p:txBody>
          <a:bodyPr wrap="square" lIns="0" tIns="0" rIns="0" bIns="0" rtlCol="0" anchor="ctr">
            <a:normAutofit/>
          </a:bodyPr>
          <a:lstStyle/>
          <a:p>
            <a:pPr algn="ctr" indent="0" marL="0">
              <a:lnSpc>
                <a:spcPts val="1680"/>
              </a:lnSpc>
              <a:buNone/>
            </a:pPr>
            <a:r>
              <a:rPr lang="en-US" sz="1200" b="1" dirty="0">
                <a:solidFill>
                  <a:srgbClr val="16241F"/>
                </a:solidFill>
                <a:latin typeface="Inter" pitchFamily="34" charset="0"/>
                <a:ea typeface="Inter" pitchFamily="34" charset="-122"/>
                <a:cs typeface="Inter" pitchFamily="34" charset="-120"/>
              </a:rPr>
              <a:t>LDO</a:t>
            </a:r>
            <a:endParaRPr lang="en-US" sz="1200" dirty="0"/>
          </a:p>
        </p:txBody>
      </p:sp>
      <p:sp>
        <p:nvSpPr>
          <p:cNvPr id="16" name="Text 7"/>
          <p:cNvSpPr/>
          <p:nvPr/>
        </p:nvSpPr>
        <p:spPr>
          <a:xfrm>
            <a:off x="1003300" y="3025130"/>
            <a:ext cx="762000" cy="1016000"/>
          </a:xfrm>
          <a:prstGeom prst="roundRect">
            <a:avLst>
              <a:gd name="adj" fmla="val 6667"/>
            </a:avLst>
          </a:prstGeom>
          <a:solidFill>
            <a:srgbClr val="9AA3AB"/>
          </a:solidFill>
          <a:ln/>
        </p:spPr>
        <p:txBody>
          <a:bodyPr wrap="square" lIns="0" tIns="0" rIns="0" bIns="0" rtlCol="0" anchor="ctr">
            <a:normAutofit/>
          </a:bodyPr>
          <a:lstStyle/>
          <a:p>
            <a:pPr algn="ctr" indent="0" marL="0">
              <a:lnSpc>
                <a:spcPts val="1960"/>
              </a:lnSpc>
              <a:buNone/>
            </a:pPr>
            <a:r>
              <a:rPr lang="en-US" sz="1400" b="1" dirty="0">
                <a:solidFill>
                  <a:srgbClr val="16241F"/>
                </a:solidFill>
                <a:latin typeface="Inter" pitchFamily="34" charset="0"/>
                <a:ea typeface="Inter" pitchFamily="34" charset="-122"/>
                <a:cs typeface="Inter" pitchFamily="34" charset="-120"/>
              </a:rPr>
              <a:t>USB</a:t>
            </a:r>
            <a:endParaRPr lang="en-US" sz="1400" dirty="0"/>
          </a:p>
        </p:txBody>
      </p:sp>
      <p:sp>
        <p:nvSpPr>
          <p:cNvPr id="17" name="Text 8"/>
          <p:cNvSpPr/>
          <p:nvPr/>
        </p:nvSpPr>
        <p:spPr>
          <a:xfrm>
            <a:off x="2908300" y="4866630"/>
            <a:ext cx="1778000" cy="381000"/>
          </a:xfrm>
          <a:prstGeom prst="roundRect">
            <a:avLst>
              <a:gd name="adj" fmla="val 13333"/>
            </a:avLst>
          </a:prstGeom>
          <a:solidFill>
            <a:srgbClr val="111111"/>
          </a:solidFill>
          <a:ln/>
        </p:spPr>
        <p:txBody>
          <a:bodyPr wrap="square" lIns="0" tIns="0" rIns="0" bIns="0" rtlCol="0" anchor="ctr">
            <a:normAutofit/>
          </a:bodyPr>
          <a:lstStyle/>
          <a:p>
            <a:pPr algn="ctr" indent="0" marL="0">
              <a:lnSpc>
                <a:spcPts val="1680"/>
              </a:lnSpc>
              <a:buNone/>
            </a:pPr>
            <a:r>
              <a:rPr lang="en-US" sz="1200" b="1" dirty="0">
                <a:solidFill>
                  <a:srgbClr val="EFE9DA"/>
                </a:solidFill>
                <a:latin typeface="Inter" pitchFamily="34" charset="0"/>
                <a:ea typeface="Inter" pitchFamily="34" charset="-122"/>
                <a:cs typeface="Inter" pitchFamily="34" charset="-120"/>
              </a:rPr>
              <a:t>HDR</a:t>
            </a:r>
            <a:endParaRPr lang="en-US" sz="1200" dirty="0"/>
          </a:p>
        </p:txBody>
      </p:sp>
      <p:sp>
        <p:nvSpPr>
          <p:cNvPr id="18" name="Text 9"/>
          <p:cNvSpPr/>
          <p:nvPr/>
        </p:nvSpPr>
        <p:spPr>
          <a:xfrm>
            <a:off x="1987550" y="1945630"/>
            <a:ext cx="571500" cy="279400"/>
          </a:xfrm>
          <a:prstGeom prst="roundRect">
            <a:avLst>
              <a:gd name="adj" fmla="val 13636"/>
            </a:avLst>
          </a:prstGeom>
          <a:solidFill>
            <a:srgbClr val="E85D4A"/>
          </a:solidFill>
          <a:ln/>
        </p:spPr>
        <p:txBody>
          <a:bodyPr wrap="square" lIns="0" tIns="0" rIns="0" bIns="0" rtlCol="0" anchor="ctr">
            <a:normAutofit/>
          </a:bodyPr>
          <a:lstStyle/>
          <a:p>
            <a:pPr algn="ctr" indent="0" marL="0">
              <a:lnSpc>
                <a:spcPts val="1680"/>
              </a:lnSpc>
              <a:buNone/>
            </a:pPr>
            <a:r>
              <a:rPr lang="en-US" sz="1200" b="1" dirty="0">
                <a:solidFill>
                  <a:srgbClr val="16241F"/>
                </a:solidFill>
                <a:latin typeface="Inter" pitchFamily="34" charset="0"/>
                <a:ea typeface="Inter" pitchFamily="34" charset="-122"/>
                <a:cs typeface="Inter" pitchFamily="34" charset="-120"/>
              </a:rPr>
              <a:t>LED</a:t>
            </a:r>
            <a:endParaRPr lang="en-US" sz="1200" dirty="0"/>
          </a:p>
        </p:txBody>
      </p:sp>
      <p:sp>
        <p:nvSpPr>
          <p:cNvPr id="19" name="Text 10"/>
          <p:cNvSpPr/>
          <p:nvPr/>
        </p:nvSpPr>
        <p:spPr>
          <a:xfrm>
            <a:off x="6731000" y="2059930"/>
            <a:ext cx="478764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E2A24"/>
                </a:solidFill>
                <a:latin typeface="Space Grotesk" pitchFamily="34" charset="0"/>
                <a:ea typeface="Space Grotesk" pitchFamily="34" charset="-122"/>
                <a:cs typeface="Space Grotesk" pitchFamily="34" charset="-120"/>
              </a:rPr>
              <a:t>The board</a:t>
            </a:r>
            <a:endParaRPr lang="en-US" sz="2000" dirty="0"/>
          </a:p>
        </p:txBody>
      </p:sp>
      <p:sp>
        <p:nvSpPr>
          <p:cNvPr id="20" name="Text 11"/>
          <p:cNvSpPr/>
          <p:nvPr/>
        </p:nvSpPr>
        <p:spPr>
          <a:xfrm>
            <a:off x="6731000" y="2428230"/>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3443D"/>
                </a:solidFill>
                <a:latin typeface="Inter" pitchFamily="34" charset="0"/>
                <a:ea typeface="Inter" pitchFamily="34" charset="-122"/>
                <a:cs typeface="Inter" pitchFamily="34" charset="-120"/>
              </a:rPr>
              <a:t>A flat fiberglass sheet that holds everything in place.</a:t>
            </a:r>
            <a:endParaRPr lang="en-US" sz="1500" dirty="0"/>
          </a:p>
        </p:txBody>
      </p:sp>
      <p:sp>
        <p:nvSpPr>
          <p:cNvPr id="21" name="Text 12"/>
          <p:cNvSpPr/>
          <p:nvPr/>
        </p:nvSpPr>
        <p:spPr>
          <a:xfrm>
            <a:off x="6731000" y="3215630"/>
            <a:ext cx="478764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85A14"/>
                </a:solidFill>
                <a:latin typeface="Space Grotesk" pitchFamily="34" charset="0"/>
                <a:ea typeface="Space Grotesk" pitchFamily="34" charset="-122"/>
                <a:cs typeface="Space Grotesk" pitchFamily="34" charset="-120"/>
              </a:rPr>
              <a:t>The traces</a:t>
            </a:r>
            <a:endParaRPr lang="en-US" sz="2000" dirty="0"/>
          </a:p>
        </p:txBody>
      </p:sp>
      <p:sp>
        <p:nvSpPr>
          <p:cNvPr id="22" name="Text 13"/>
          <p:cNvSpPr/>
          <p:nvPr/>
        </p:nvSpPr>
        <p:spPr>
          <a:xfrm>
            <a:off x="6731000" y="3583930"/>
            <a:ext cx="54610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3443D"/>
                </a:solidFill>
                <a:latin typeface="Inter" pitchFamily="34" charset="0"/>
                <a:ea typeface="Inter" pitchFamily="34" charset="-122"/>
                <a:cs typeface="Inter" pitchFamily="34" charset="-120"/>
              </a:rPr>
              <a:t>Thin copper paths that act as wires between parts.</a:t>
            </a:r>
            <a:endParaRPr lang="en-US" sz="1500" dirty="0"/>
          </a:p>
        </p:txBody>
      </p:sp>
      <p:sp>
        <p:nvSpPr>
          <p:cNvPr id="23" name="Text 14"/>
          <p:cNvSpPr/>
          <p:nvPr/>
        </p:nvSpPr>
        <p:spPr>
          <a:xfrm>
            <a:off x="6731000" y="4104630"/>
            <a:ext cx="478764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E2A24"/>
                </a:solidFill>
                <a:latin typeface="Space Grotesk" pitchFamily="34" charset="0"/>
                <a:ea typeface="Space Grotesk" pitchFamily="34" charset="-122"/>
                <a:cs typeface="Space Grotesk" pitchFamily="34" charset="-120"/>
              </a:rPr>
              <a:t>The parts</a:t>
            </a:r>
            <a:endParaRPr lang="en-US" sz="2000" dirty="0"/>
          </a:p>
        </p:txBody>
      </p:sp>
      <p:sp>
        <p:nvSpPr>
          <p:cNvPr id="24" name="Text 15"/>
          <p:cNvSpPr/>
          <p:nvPr/>
        </p:nvSpPr>
        <p:spPr>
          <a:xfrm>
            <a:off x="6731000" y="4472930"/>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3443D"/>
                </a:solidFill>
                <a:latin typeface="Inter" pitchFamily="34" charset="0"/>
                <a:ea typeface="Inter" pitchFamily="34" charset="-122"/>
                <a:cs typeface="Inter" pitchFamily="34" charset="-120"/>
              </a:rPr>
              <a:t>Chips, capacitors, connectors and more, soldered on top.</a:t>
            </a:r>
            <a:endParaRPr lang="en-US" sz="1500" dirty="0"/>
          </a:p>
        </p:txBody>
      </p:sp>
      <p:sp>
        <p:nvSpPr>
          <p:cNvPr id="25" name="Text 16"/>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B64"/>
                </a:solidFill>
                <a:latin typeface="Inter" pitchFamily="34" charset="0"/>
                <a:ea typeface="Inter" pitchFamily="34" charset="-122"/>
                <a:cs typeface="Inter" pitchFamily="34" charset="-120"/>
              </a:rPr>
              <a:t>PCB placement with AlphaEvolve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EFE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2A24"/>
                </a:solidFill>
                <a:latin typeface="Space Grotesk" pitchFamily="34" charset="0"/>
                <a:ea typeface="Space Grotesk" pitchFamily="34" charset="-122"/>
                <a:cs typeface="Space Grotesk" pitchFamily="34" charset="-120"/>
              </a:rPr>
              <a:t>Why placement matters</a:t>
            </a:r>
            <a:endParaRPr lang="en-US" sz="3200" dirty="0"/>
          </a:p>
        </p:txBody>
      </p:sp>
      <p:sp>
        <p:nvSpPr>
          <p:cNvPr id="3" name="Text 1"/>
          <p:cNvSpPr/>
          <p:nvPr/>
        </p:nvSpPr>
        <p:spPr>
          <a:xfrm>
            <a:off x="812800" y="1513830"/>
            <a:ext cx="523240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7A2410"/>
                </a:solidFill>
                <a:latin typeface="Space Grotesk" pitchFamily="34" charset="0"/>
                <a:ea typeface="Space Grotesk" pitchFamily="34" charset="-122"/>
                <a:cs typeface="Space Grotesk" pitchFamily="34" charset="-120"/>
              </a:rPr>
              <a:t>Scattered placement</a:t>
            </a:r>
            <a:endParaRPr lang="en-US" sz="1800" dirty="0"/>
          </a:p>
        </p:txBody>
      </p:sp>
      <p:sp>
        <p:nvSpPr>
          <p:cNvPr id="4" name="Shape 2"/>
          <p:cNvSpPr/>
          <p:nvPr/>
        </p:nvSpPr>
        <p:spPr>
          <a:xfrm>
            <a:off x="812800" y="1902420"/>
            <a:ext cx="5080000" cy="3302000"/>
          </a:xfrm>
          <a:prstGeom prst="roundRect">
            <a:avLst>
              <a:gd name="adj" fmla="val 4615"/>
            </a:avLst>
          </a:prstGeom>
          <a:solidFill>
            <a:srgbClr val="1C5E47"/>
          </a:solidFill>
          <a:ln/>
        </p:spPr>
      </p:sp>
      <p:pic>
        <p:nvPicPr>
          <p:cNvPr id="5" name="Image 0" descr="connector">    </p:cNvPr>
          <p:cNvPicPr>
            <a:picLocks noChangeAspect="1"/>
          </p:cNvPicPr>
          <p:nvPr/>
        </p:nvPicPr>
        <p:blipFill>
          <a:blip r:embed="rId1"/>
          <a:srcRect l="0" r="0" t="0" b="0"/>
          <a:stretch/>
        </p:blipFill>
        <p:spPr>
          <a:xfrm>
            <a:off x="3721100" y="3477220"/>
            <a:ext cx="1612900" cy="1104900"/>
          </a:xfrm>
          <a:prstGeom prst="rect">
            <a:avLst/>
          </a:prstGeom>
        </p:spPr>
      </p:pic>
      <p:pic>
        <p:nvPicPr>
          <p:cNvPr id="6" name="Image 1" descr="connector">    </p:cNvPr>
          <p:cNvPicPr>
            <a:picLocks noChangeAspect="1"/>
          </p:cNvPicPr>
          <p:nvPr/>
        </p:nvPicPr>
        <p:blipFill>
          <a:blip r:embed="rId2"/>
          <a:srcRect l="0" r="0" t="0" b="0"/>
          <a:stretch/>
        </p:blipFill>
        <p:spPr>
          <a:xfrm>
            <a:off x="1276350" y="2359620"/>
            <a:ext cx="1708150" cy="1206500"/>
          </a:xfrm>
          <a:prstGeom prst="rect">
            <a:avLst/>
          </a:prstGeom>
        </p:spPr>
      </p:pic>
      <p:pic>
        <p:nvPicPr>
          <p:cNvPr id="7" name="Image 2" descr="connector">    </p:cNvPr>
          <p:cNvPicPr>
            <a:picLocks noChangeAspect="1"/>
          </p:cNvPicPr>
          <p:nvPr/>
        </p:nvPicPr>
        <p:blipFill>
          <a:blip r:embed="rId3"/>
          <a:srcRect l="0" r="0" t="0" b="0"/>
          <a:stretch/>
        </p:blipFill>
        <p:spPr>
          <a:xfrm>
            <a:off x="3721100" y="2359620"/>
            <a:ext cx="1581150" cy="1079500"/>
          </a:xfrm>
          <a:prstGeom prst="rect">
            <a:avLst/>
          </a:prstGeom>
        </p:spPr>
      </p:pic>
      <p:pic>
        <p:nvPicPr>
          <p:cNvPr id="8" name="Image 3" descr="connector">    </p:cNvPr>
          <p:cNvPicPr>
            <a:picLocks noChangeAspect="1"/>
          </p:cNvPicPr>
          <p:nvPr/>
        </p:nvPicPr>
        <p:blipFill>
          <a:blip r:embed="rId4"/>
          <a:srcRect l="0" r="0" t="0" b="0"/>
          <a:stretch/>
        </p:blipFill>
        <p:spPr>
          <a:xfrm>
            <a:off x="1276350" y="2359620"/>
            <a:ext cx="374650" cy="2032000"/>
          </a:xfrm>
          <a:prstGeom prst="rect">
            <a:avLst/>
          </a:prstGeom>
        </p:spPr>
      </p:pic>
      <p:sp>
        <p:nvSpPr>
          <p:cNvPr id="9" name="Text 3"/>
          <p:cNvSpPr/>
          <p:nvPr/>
        </p:nvSpPr>
        <p:spPr>
          <a:xfrm>
            <a:off x="2908300" y="3108920"/>
            <a:ext cx="889000" cy="889000"/>
          </a:xfrm>
          <a:prstGeom prst="roundRect">
            <a:avLst>
              <a:gd name="adj" fmla="val 7143"/>
            </a:avLst>
          </a:prstGeom>
          <a:solidFill>
            <a:srgbClr val="2B2B2B"/>
          </a:solidFill>
          <a:ln/>
        </p:spPr>
        <p:txBody>
          <a:bodyPr wrap="square" lIns="0" tIns="0" rIns="0" bIns="0" rtlCol="0" anchor="ctr">
            <a:normAutofit/>
          </a:bodyPr>
          <a:lstStyle/>
          <a:p>
            <a:pPr algn="ctr" indent="0" marL="0">
              <a:lnSpc>
                <a:spcPts val="2100"/>
              </a:lnSpc>
              <a:buNone/>
            </a:pPr>
            <a:r>
              <a:rPr lang="en-US" sz="1500" b="1" dirty="0">
                <a:solidFill>
                  <a:srgbClr val="EFE9DA"/>
                </a:solidFill>
                <a:latin typeface="Inter" pitchFamily="34" charset="0"/>
                <a:ea typeface="Inter" pitchFamily="34" charset="-122"/>
                <a:cs typeface="Inter" pitchFamily="34" charset="-120"/>
              </a:rPr>
              <a:t>MCU</a:t>
            </a:r>
            <a:endParaRPr lang="en-US" sz="1500" dirty="0"/>
          </a:p>
        </p:txBody>
      </p:sp>
      <p:sp>
        <p:nvSpPr>
          <p:cNvPr id="10" name="Text 4"/>
          <p:cNvSpPr/>
          <p:nvPr/>
        </p:nvSpPr>
        <p:spPr>
          <a:xfrm>
            <a:off x="4876800" y="4505920"/>
            <a:ext cx="762000" cy="355600"/>
          </a:xfrm>
          <a:prstGeom prst="roundRect">
            <a:avLst>
              <a:gd name="adj" fmla="val 14286"/>
            </a:avLst>
          </a:prstGeom>
          <a:solidFill>
            <a:srgbClr val="C9CED3"/>
          </a:solidFill>
          <a:ln/>
        </p:spPr>
        <p:txBody>
          <a:bodyPr wrap="square" lIns="0" tIns="0" rIns="0" bIns="0" rtlCol="0" anchor="ctr">
            <a:normAutofit/>
          </a:bodyPr>
          <a:lstStyle/>
          <a:p>
            <a:pPr algn="ctr" indent="0" marL="0">
              <a:lnSpc>
                <a:spcPts val="1680"/>
              </a:lnSpc>
              <a:buNone/>
            </a:pPr>
            <a:r>
              <a:rPr lang="en-US" sz="1200" b="1" dirty="0">
                <a:solidFill>
                  <a:srgbClr val="16241F"/>
                </a:solidFill>
                <a:latin typeface="Inter" pitchFamily="34" charset="0"/>
                <a:ea typeface="Inter" pitchFamily="34" charset="-122"/>
                <a:cs typeface="Inter" pitchFamily="34" charset="-120"/>
              </a:rPr>
              <a:t>XTAL</a:t>
            </a:r>
            <a:endParaRPr lang="en-US" sz="1200" dirty="0"/>
          </a:p>
        </p:txBody>
      </p:sp>
      <p:sp>
        <p:nvSpPr>
          <p:cNvPr id="11" name="Text 5"/>
          <p:cNvSpPr/>
          <p:nvPr/>
        </p:nvSpPr>
        <p:spPr>
          <a:xfrm>
            <a:off x="1066800" y="2156420"/>
            <a:ext cx="571500" cy="279400"/>
          </a:xfrm>
          <a:prstGeom prst="roundRect">
            <a:avLst>
              <a:gd name="adj" fmla="val 13636"/>
            </a:avLst>
          </a:prstGeom>
          <a:solidFill>
            <a:srgbClr val="E3B66B"/>
          </a:solidFill>
          <a:ln/>
        </p:spPr>
        <p:txBody>
          <a:bodyPr wrap="square" lIns="0" tIns="0" rIns="0" bIns="0" rtlCol="0" anchor="ctr">
            <a:normAutofit/>
          </a:bodyPr>
          <a:lstStyle/>
          <a:p>
            <a:pPr algn="ctr" indent="0" marL="0">
              <a:lnSpc>
                <a:spcPts val="1680"/>
              </a:lnSpc>
              <a:buNone/>
            </a:pPr>
            <a:r>
              <a:rPr lang="en-US" sz="1200" b="1" dirty="0">
                <a:solidFill>
                  <a:srgbClr val="16241F"/>
                </a:solidFill>
                <a:latin typeface="Inter" pitchFamily="34" charset="0"/>
                <a:ea typeface="Inter" pitchFamily="34" charset="-122"/>
                <a:cs typeface="Inter" pitchFamily="34" charset="-120"/>
              </a:rPr>
              <a:t>C1</a:t>
            </a:r>
            <a:endParaRPr lang="en-US" sz="1200" dirty="0"/>
          </a:p>
        </p:txBody>
      </p:sp>
      <p:sp>
        <p:nvSpPr>
          <p:cNvPr id="12" name="Text 6"/>
          <p:cNvSpPr/>
          <p:nvPr/>
        </p:nvSpPr>
        <p:spPr>
          <a:xfrm>
            <a:off x="4940300" y="2156420"/>
            <a:ext cx="571500" cy="279400"/>
          </a:xfrm>
          <a:prstGeom prst="roundRect">
            <a:avLst>
              <a:gd name="adj" fmla="val 13636"/>
            </a:avLst>
          </a:prstGeom>
          <a:solidFill>
            <a:srgbClr val="E3B66B"/>
          </a:solidFill>
          <a:ln/>
        </p:spPr>
        <p:txBody>
          <a:bodyPr wrap="square" lIns="0" tIns="0" rIns="0" bIns="0" rtlCol="0" anchor="ctr">
            <a:normAutofit/>
          </a:bodyPr>
          <a:lstStyle/>
          <a:p>
            <a:pPr algn="ctr" indent="0" marL="0">
              <a:lnSpc>
                <a:spcPts val="1680"/>
              </a:lnSpc>
              <a:buNone/>
            </a:pPr>
            <a:r>
              <a:rPr lang="en-US" sz="1200" b="1" dirty="0">
                <a:solidFill>
                  <a:srgbClr val="16241F"/>
                </a:solidFill>
                <a:latin typeface="Inter" pitchFamily="34" charset="0"/>
                <a:ea typeface="Inter" pitchFamily="34" charset="-122"/>
                <a:cs typeface="Inter" pitchFamily="34" charset="-120"/>
              </a:rPr>
              <a:t>C2</a:t>
            </a:r>
            <a:endParaRPr lang="en-US" sz="1200" dirty="0"/>
          </a:p>
        </p:txBody>
      </p:sp>
      <p:sp>
        <p:nvSpPr>
          <p:cNvPr id="13" name="Text 7"/>
          <p:cNvSpPr/>
          <p:nvPr/>
        </p:nvSpPr>
        <p:spPr>
          <a:xfrm>
            <a:off x="1193800" y="4315420"/>
            <a:ext cx="762000" cy="635000"/>
          </a:xfrm>
          <a:prstGeom prst="roundRect">
            <a:avLst>
              <a:gd name="adj" fmla="val 8000"/>
            </a:avLst>
          </a:prstGeom>
          <a:solidFill>
            <a:srgbClr val="6FA8DC"/>
          </a:solidFill>
          <a:ln/>
        </p:spPr>
        <p:txBody>
          <a:bodyPr wrap="square" lIns="0" tIns="0" rIns="0" bIns="0" rtlCol="0" anchor="ctr">
            <a:normAutofit/>
          </a:bodyPr>
          <a:lstStyle/>
          <a:p>
            <a:pPr algn="ctr" indent="0" marL="0">
              <a:lnSpc>
                <a:spcPts val="1680"/>
              </a:lnSpc>
              <a:buNone/>
            </a:pPr>
            <a:r>
              <a:rPr lang="en-US" sz="1200" b="1" dirty="0">
                <a:solidFill>
                  <a:srgbClr val="16241F"/>
                </a:solidFill>
                <a:latin typeface="Inter" pitchFamily="34" charset="0"/>
                <a:ea typeface="Inter" pitchFamily="34" charset="-122"/>
                <a:cs typeface="Inter" pitchFamily="34" charset="-120"/>
              </a:rPr>
              <a:t>LDO</a:t>
            </a:r>
            <a:endParaRPr lang="en-US" sz="1200" dirty="0"/>
          </a:p>
        </p:txBody>
      </p:sp>
      <p:sp>
        <p:nvSpPr>
          <p:cNvPr id="14" name="Text 8"/>
          <p:cNvSpPr/>
          <p:nvPr/>
        </p:nvSpPr>
        <p:spPr>
          <a:xfrm>
            <a:off x="812800" y="5318720"/>
            <a:ext cx="5080000" cy="401290"/>
          </a:xfrm>
          <a:prstGeom prst="roundRect">
            <a:avLst>
              <a:gd name="adj" fmla="val 18989"/>
            </a:avLst>
          </a:prstGeom>
          <a:solidFill>
            <a:srgbClr val="F1D3C9"/>
          </a:solidFill>
          <a:ln/>
        </p:spPr>
        <p:txBody>
          <a:bodyPr wrap="square" lIns="130082" tIns="53882" rIns="0" bIns="28482" rtlCol="0" anchor="t">
            <a:normAutofit/>
          </a:bodyPr>
          <a:lstStyle/>
          <a:p>
            <a:pPr algn="l" indent="0" marL="0">
              <a:lnSpc>
                <a:spcPts val="1960"/>
              </a:lnSpc>
              <a:buNone/>
            </a:pPr>
            <a:r>
              <a:rPr lang="en-US" sz="1400" b="1" dirty="0">
                <a:solidFill>
                  <a:srgbClr val="7A2410"/>
                </a:solidFill>
                <a:latin typeface="Inter" pitchFamily="34" charset="0"/>
                <a:ea typeface="Inter" pitchFamily="34" charset="-122"/>
                <a:cs typeface="Inter" pitchFamily="34" charset="-120"/>
              </a:rPr>
              <a:t>Long wires: noisy clock, weak power filtering</a:t>
            </a:r>
            <a:endParaRPr lang="en-US" sz="1400" dirty="0"/>
          </a:p>
        </p:txBody>
      </p:sp>
      <p:sp>
        <p:nvSpPr>
          <p:cNvPr id="15" name="Text 9"/>
          <p:cNvSpPr/>
          <p:nvPr/>
        </p:nvSpPr>
        <p:spPr>
          <a:xfrm>
            <a:off x="6299200" y="1513830"/>
            <a:ext cx="523240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4A39"/>
                </a:solidFill>
                <a:latin typeface="Space Grotesk" pitchFamily="34" charset="0"/>
                <a:ea typeface="Space Grotesk" pitchFamily="34" charset="-122"/>
                <a:cs typeface="Space Grotesk" pitchFamily="34" charset="-120"/>
              </a:rPr>
              <a:t>Tidy placement</a:t>
            </a:r>
            <a:endParaRPr lang="en-US" sz="1800" dirty="0"/>
          </a:p>
        </p:txBody>
      </p:sp>
      <p:sp>
        <p:nvSpPr>
          <p:cNvPr id="16" name="Shape 10"/>
          <p:cNvSpPr/>
          <p:nvPr/>
        </p:nvSpPr>
        <p:spPr>
          <a:xfrm>
            <a:off x="6299200" y="1902420"/>
            <a:ext cx="5080000" cy="3302000"/>
          </a:xfrm>
          <a:prstGeom prst="roundRect">
            <a:avLst>
              <a:gd name="adj" fmla="val 4615"/>
            </a:avLst>
          </a:prstGeom>
          <a:solidFill>
            <a:srgbClr val="1C5E47"/>
          </a:solidFill>
          <a:ln/>
        </p:spPr>
      </p:sp>
      <p:pic>
        <p:nvPicPr>
          <p:cNvPr id="17" name="Image 4" descr="connector">    </p:cNvPr>
          <p:cNvPicPr>
            <a:picLocks noChangeAspect="1"/>
          </p:cNvPicPr>
          <p:nvPr/>
        </p:nvPicPr>
        <p:blipFill>
          <a:blip r:embed="rId5"/>
          <a:srcRect l="0" r="0" t="0" b="0"/>
          <a:stretch/>
        </p:blipFill>
        <p:spPr>
          <a:xfrm>
            <a:off x="8763000" y="2753320"/>
            <a:ext cx="152400" cy="431800"/>
          </a:xfrm>
          <a:prstGeom prst="rect">
            <a:avLst/>
          </a:prstGeom>
        </p:spPr>
      </p:pic>
      <p:pic>
        <p:nvPicPr>
          <p:cNvPr id="18" name="Image 5" descr="connector">    </p:cNvPr>
          <p:cNvPicPr>
            <a:picLocks noChangeAspect="1"/>
          </p:cNvPicPr>
          <p:nvPr/>
        </p:nvPicPr>
        <p:blipFill>
          <a:blip r:embed="rId6"/>
          <a:srcRect l="0" r="0" t="0" b="0"/>
          <a:stretch/>
        </p:blipFill>
        <p:spPr>
          <a:xfrm>
            <a:off x="9207500" y="3267670"/>
            <a:ext cx="342900" cy="152400"/>
          </a:xfrm>
          <a:prstGeom prst="rect">
            <a:avLst/>
          </a:prstGeom>
        </p:spPr>
      </p:pic>
      <p:pic>
        <p:nvPicPr>
          <p:cNvPr id="19" name="Image 6" descr="connector">    </p:cNvPr>
          <p:cNvPicPr>
            <a:picLocks noChangeAspect="1"/>
          </p:cNvPicPr>
          <p:nvPr/>
        </p:nvPicPr>
        <p:blipFill>
          <a:blip r:embed="rId7"/>
          <a:srcRect l="0" r="0" t="0" b="0"/>
          <a:stretch/>
        </p:blipFill>
        <p:spPr>
          <a:xfrm>
            <a:off x="9207500" y="3712170"/>
            <a:ext cx="342900" cy="152400"/>
          </a:xfrm>
          <a:prstGeom prst="rect">
            <a:avLst/>
          </a:prstGeom>
        </p:spPr>
      </p:pic>
      <p:pic>
        <p:nvPicPr>
          <p:cNvPr id="20" name="Image 7" descr="connector">    </p:cNvPr>
          <p:cNvPicPr>
            <a:picLocks noChangeAspect="1"/>
          </p:cNvPicPr>
          <p:nvPr/>
        </p:nvPicPr>
        <p:blipFill>
          <a:blip r:embed="rId8"/>
          <a:srcRect l="0" r="0" t="0" b="0"/>
          <a:stretch/>
        </p:blipFill>
        <p:spPr>
          <a:xfrm>
            <a:off x="9969500" y="3267670"/>
            <a:ext cx="533400" cy="152400"/>
          </a:xfrm>
          <a:prstGeom prst="rect">
            <a:avLst/>
          </a:prstGeom>
        </p:spPr>
      </p:pic>
      <p:pic>
        <p:nvPicPr>
          <p:cNvPr id="21" name="Image 8" descr="connector">    </p:cNvPr>
          <p:cNvPicPr>
            <a:picLocks noChangeAspect="1"/>
          </p:cNvPicPr>
          <p:nvPr/>
        </p:nvPicPr>
        <p:blipFill>
          <a:blip r:embed="rId9"/>
          <a:srcRect l="0" r="0" t="0" b="0"/>
          <a:stretch/>
        </p:blipFill>
        <p:spPr>
          <a:xfrm>
            <a:off x="9969500" y="3712170"/>
            <a:ext cx="533400" cy="152400"/>
          </a:xfrm>
          <a:prstGeom prst="rect">
            <a:avLst/>
          </a:prstGeom>
        </p:spPr>
      </p:pic>
      <p:sp>
        <p:nvSpPr>
          <p:cNvPr id="22" name="Text 11"/>
          <p:cNvSpPr/>
          <p:nvPr/>
        </p:nvSpPr>
        <p:spPr>
          <a:xfrm>
            <a:off x="8394700" y="3108920"/>
            <a:ext cx="889000" cy="889000"/>
          </a:xfrm>
          <a:prstGeom prst="roundRect">
            <a:avLst>
              <a:gd name="adj" fmla="val 7143"/>
            </a:avLst>
          </a:prstGeom>
          <a:solidFill>
            <a:srgbClr val="2B2B2B"/>
          </a:solidFill>
          <a:ln/>
        </p:spPr>
        <p:txBody>
          <a:bodyPr wrap="square" lIns="0" tIns="0" rIns="0" bIns="0" rtlCol="0" anchor="ctr">
            <a:normAutofit/>
          </a:bodyPr>
          <a:lstStyle/>
          <a:p>
            <a:pPr algn="ctr" indent="0" marL="0">
              <a:lnSpc>
                <a:spcPts val="2100"/>
              </a:lnSpc>
              <a:buNone/>
            </a:pPr>
            <a:r>
              <a:rPr lang="en-US" sz="1500" b="1" dirty="0">
                <a:solidFill>
                  <a:srgbClr val="EFE9DA"/>
                </a:solidFill>
                <a:latin typeface="Inter" pitchFamily="34" charset="0"/>
                <a:ea typeface="Inter" pitchFamily="34" charset="-122"/>
                <a:cs typeface="Inter" pitchFamily="34" charset="-120"/>
              </a:rPr>
              <a:t>MCU</a:t>
            </a:r>
            <a:endParaRPr lang="en-US" sz="1500" dirty="0"/>
          </a:p>
        </p:txBody>
      </p:sp>
      <p:sp>
        <p:nvSpPr>
          <p:cNvPr id="23" name="Text 12"/>
          <p:cNvSpPr/>
          <p:nvPr/>
        </p:nvSpPr>
        <p:spPr>
          <a:xfrm>
            <a:off x="8489950" y="2473920"/>
            <a:ext cx="698500" cy="355600"/>
          </a:xfrm>
          <a:prstGeom prst="roundRect">
            <a:avLst>
              <a:gd name="adj" fmla="val 14286"/>
            </a:avLst>
          </a:prstGeom>
          <a:solidFill>
            <a:srgbClr val="C9CED3"/>
          </a:solidFill>
          <a:ln/>
        </p:spPr>
        <p:txBody>
          <a:bodyPr wrap="square" lIns="0" tIns="0" rIns="0" bIns="0" rtlCol="0" anchor="ctr">
            <a:normAutofit/>
          </a:bodyPr>
          <a:lstStyle/>
          <a:p>
            <a:pPr algn="ctr" indent="0" marL="0">
              <a:lnSpc>
                <a:spcPts val="1680"/>
              </a:lnSpc>
              <a:buNone/>
            </a:pPr>
            <a:r>
              <a:rPr lang="en-US" sz="1200" b="1" dirty="0">
                <a:solidFill>
                  <a:srgbClr val="16241F"/>
                </a:solidFill>
                <a:latin typeface="Inter" pitchFamily="34" charset="0"/>
                <a:ea typeface="Inter" pitchFamily="34" charset="-122"/>
                <a:cs typeface="Inter" pitchFamily="34" charset="-120"/>
              </a:rPr>
              <a:t>XTAL</a:t>
            </a:r>
            <a:endParaRPr lang="en-US" sz="1200" dirty="0"/>
          </a:p>
        </p:txBody>
      </p:sp>
      <p:sp>
        <p:nvSpPr>
          <p:cNvPr id="24" name="Text 13"/>
          <p:cNvSpPr/>
          <p:nvPr/>
        </p:nvSpPr>
        <p:spPr>
          <a:xfrm>
            <a:off x="9474200" y="3204170"/>
            <a:ext cx="571500" cy="279400"/>
          </a:xfrm>
          <a:prstGeom prst="roundRect">
            <a:avLst>
              <a:gd name="adj" fmla="val 13636"/>
            </a:avLst>
          </a:prstGeom>
          <a:solidFill>
            <a:srgbClr val="E3B66B"/>
          </a:solidFill>
          <a:ln/>
        </p:spPr>
        <p:txBody>
          <a:bodyPr wrap="square" lIns="0" tIns="0" rIns="0" bIns="0" rtlCol="0" anchor="ctr">
            <a:normAutofit/>
          </a:bodyPr>
          <a:lstStyle/>
          <a:p>
            <a:pPr algn="ctr" indent="0" marL="0">
              <a:lnSpc>
                <a:spcPts val="1680"/>
              </a:lnSpc>
              <a:buNone/>
            </a:pPr>
            <a:r>
              <a:rPr lang="en-US" sz="1200" b="1" dirty="0">
                <a:solidFill>
                  <a:srgbClr val="16241F"/>
                </a:solidFill>
                <a:latin typeface="Inter" pitchFamily="34" charset="0"/>
                <a:ea typeface="Inter" pitchFamily="34" charset="-122"/>
                <a:cs typeface="Inter" pitchFamily="34" charset="-120"/>
              </a:rPr>
              <a:t>C1</a:t>
            </a:r>
            <a:endParaRPr lang="en-US" sz="1200" dirty="0"/>
          </a:p>
        </p:txBody>
      </p:sp>
      <p:sp>
        <p:nvSpPr>
          <p:cNvPr id="25" name="Text 14"/>
          <p:cNvSpPr/>
          <p:nvPr/>
        </p:nvSpPr>
        <p:spPr>
          <a:xfrm>
            <a:off x="9474200" y="3648670"/>
            <a:ext cx="571500" cy="279400"/>
          </a:xfrm>
          <a:prstGeom prst="roundRect">
            <a:avLst>
              <a:gd name="adj" fmla="val 13636"/>
            </a:avLst>
          </a:prstGeom>
          <a:solidFill>
            <a:srgbClr val="E3B66B"/>
          </a:solidFill>
          <a:ln/>
        </p:spPr>
        <p:txBody>
          <a:bodyPr wrap="square" lIns="0" tIns="0" rIns="0" bIns="0" rtlCol="0" anchor="ctr">
            <a:normAutofit/>
          </a:bodyPr>
          <a:lstStyle/>
          <a:p>
            <a:pPr algn="ctr" indent="0" marL="0">
              <a:lnSpc>
                <a:spcPts val="1680"/>
              </a:lnSpc>
              <a:buNone/>
            </a:pPr>
            <a:r>
              <a:rPr lang="en-US" sz="1200" b="1" dirty="0">
                <a:solidFill>
                  <a:srgbClr val="16241F"/>
                </a:solidFill>
                <a:latin typeface="Inter" pitchFamily="34" charset="0"/>
                <a:ea typeface="Inter" pitchFamily="34" charset="-122"/>
                <a:cs typeface="Inter" pitchFamily="34" charset="-120"/>
              </a:rPr>
              <a:t>C2</a:t>
            </a:r>
            <a:endParaRPr lang="en-US" sz="1200" dirty="0"/>
          </a:p>
        </p:txBody>
      </p:sp>
      <p:sp>
        <p:nvSpPr>
          <p:cNvPr id="26" name="Text 15"/>
          <p:cNvSpPr/>
          <p:nvPr/>
        </p:nvSpPr>
        <p:spPr>
          <a:xfrm>
            <a:off x="10426700" y="3204170"/>
            <a:ext cx="762000" cy="723900"/>
          </a:xfrm>
          <a:prstGeom prst="roundRect">
            <a:avLst>
              <a:gd name="adj" fmla="val 7018"/>
            </a:avLst>
          </a:prstGeom>
          <a:solidFill>
            <a:srgbClr val="6FA8DC"/>
          </a:solidFill>
          <a:ln/>
        </p:spPr>
        <p:txBody>
          <a:bodyPr wrap="square" lIns="0" tIns="0" rIns="0" bIns="0" rtlCol="0" anchor="ctr">
            <a:normAutofit/>
          </a:bodyPr>
          <a:lstStyle/>
          <a:p>
            <a:pPr algn="ctr" indent="0" marL="0">
              <a:lnSpc>
                <a:spcPts val="1680"/>
              </a:lnSpc>
              <a:buNone/>
            </a:pPr>
            <a:r>
              <a:rPr lang="en-US" sz="1200" b="1" dirty="0">
                <a:solidFill>
                  <a:srgbClr val="16241F"/>
                </a:solidFill>
                <a:latin typeface="Inter" pitchFamily="34" charset="0"/>
                <a:ea typeface="Inter" pitchFamily="34" charset="-122"/>
                <a:cs typeface="Inter" pitchFamily="34" charset="-120"/>
              </a:rPr>
              <a:t>LDO</a:t>
            </a:r>
            <a:endParaRPr lang="en-US" sz="1200" dirty="0"/>
          </a:p>
        </p:txBody>
      </p:sp>
      <p:sp>
        <p:nvSpPr>
          <p:cNvPr id="27" name="Text 16"/>
          <p:cNvSpPr/>
          <p:nvPr/>
        </p:nvSpPr>
        <p:spPr>
          <a:xfrm>
            <a:off x="6299200" y="5318720"/>
            <a:ext cx="5080000" cy="401290"/>
          </a:xfrm>
          <a:prstGeom prst="roundRect">
            <a:avLst>
              <a:gd name="adj" fmla="val 18989"/>
            </a:avLst>
          </a:prstGeom>
          <a:solidFill>
            <a:srgbClr val="CFE6DC"/>
          </a:solidFill>
          <a:ln/>
        </p:spPr>
        <p:txBody>
          <a:bodyPr wrap="square" lIns="130082" tIns="53882" rIns="0" bIns="28482" rtlCol="0" anchor="t">
            <a:normAutofit/>
          </a:bodyPr>
          <a:lstStyle/>
          <a:p>
            <a:pPr algn="l" indent="0" marL="0">
              <a:lnSpc>
                <a:spcPts val="1960"/>
              </a:lnSpc>
              <a:buNone/>
            </a:pPr>
            <a:r>
              <a:rPr lang="en-US" sz="1400" b="1" dirty="0">
                <a:solidFill>
                  <a:srgbClr val="0F4A39"/>
                </a:solidFill>
                <a:latin typeface="Inter" pitchFamily="34" charset="0"/>
                <a:ea typeface="Inter" pitchFamily="34" charset="-122"/>
                <a:cs typeface="Inter" pitchFamily="34" charset="-120"/>
              </a:rPr>
              <a:t>Short wires: clean clock, strong power filtering</a:t>
            </a:r>
            <a:endParaRPr lang="en-US" sz="1400" dirty="0"/>
          </a:p>
        </p:txBody>
      </p:sp>
      <p:sp>
        <p:nvSpPr>
          <p:cNvPr id="28" name="Text 17"/>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B64"/>
                </a:solidFill>
                <a:latin typeface="Inter" pitchFamily="34" charset="0"/>
                <a:ea typeface="Inter" pitchFamily="34" charset="-122"/>
                <a:cs typeface="Inter" pitchFamily="34" charset="-120"/>
              </a:rPr>
              <a:t>PCB placement with AlphaEvolve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C9772B"/>
        </a:solidFill>
      </p:bgPr>
    </p:bg>
    <p:spTree>
      <p:nvGrpSpPr>
        <p:cNvPr id="1" name=""/>
        <p:cNvGrpSpPr/>
        <p:nvPr/>
      </p:nvGrpSpPr>
      <p:grpSpPr>
        <a:xfrm>
          <a:off x="0" y="0"/>
          <a:ext cx="0" cy="0"/>
          <a:chOff x="0" y="0"/>
          <a:chExt cx="0" cy="0"/>
        </a:xfrm>
      </p:grpSpPr>
      <p:sp>
        <p:nvSpPr>
          <p:cNvPr id="2" name="Text 0"/>
          <p:cNvSpPr/>
          <p:nvPr/>
        </p:nvSpPr>
        <p:spPr>
          <a:xfrm>
            <a:off x="812800" y="207397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1B120A"/>
                </a:solidFill>
                <a:latin typeface="Inter" pitchFamily="34" charset="0"/>
                <a:ea typeface="Inter" pitchFamily="34" charset="-122"/>
                <a:cs typeface="Inter" pitchFamily="34" charset="-120"/>
              </a:rPr>
              <a:t>THE END GOAL</a:t>
            </a:r>
            <a:endParaRPr lang="en-US" sz="1400" dirty="0"/>
          </a:p>
        </p:txBody>
      </p:sp>
      <p:sp>
        <p:nvSpPr>
          <p:cNvPr id="3" name="Text 1"/>
          <p:cNvSpPr/>
          <p:nvPr>
            <p:ph type="title"/>
          </p:nvPr>
        </p:nvSpPr>
        <p:spPr>
          <a:xfrm>
            <a:off x="812800" y="2602260"/>
            <a:ext cx="9810750" cy="1589980"/>
          </a:xfrm>
          <a:prstGeom prst="rect">
            <a:avLst/>
          </a:prstGeom>
          <a:noFill/>
          <a:ln/>
        </p:spPr>
        <p:txBody>
          <a:bodyPr wrap="square" lIns="0" tIns="0" rIns="0" bIns="0" rtlCol="0" anchor="t">
            <a:normAutofit/>
          </a:bodyPr>
          <a:lstStyle/>
          <a:p>
            <a:pPr algn="l" indent="0" marL="0">
              <a:lnSpc>
                <a:spcPts val="6160"/>
              </a:lnSpc>
              <a:buNone/>
            </a:pPr>
            <a:r>
              <a:rPr lang="en-US" sz="5600" b="1" i="0" dirty="0">
                <a:solidFill>
                  <a:srgbClr val="1B120A"/>
                </a:solidFill>
                <a:latin typeface="Space Grotesk" pitchFamily="34" charset="0"/>
                <a:ea typeface="Space Grotesk" pitchFamily="34" charset="-122"/>
                <a:cs typeface="Space Grotesk" pitchFamily="34" charset="-120"/>
              </a:rPr>
              <a:t>Find the best part placement automatically</a:t>
            </a:r>
            <a:endParaRPr lang="en-US" sz="5600" dirty="0"/>
          </a:p>
        </p:txBody>
      </p:sp>
      <p:sp>
        <p:nvSpPr>
          <p:cNvPr id="4" name="Text 2"/>
          <p:cNvSpPr/>
          <p:nvPr/>
        </p:nvSpPr>
        <p:spPr>
          <a:xfrm>
            <a:off x="812800" y="4446240"/>
            <a:ext cx="8502650" cy="363190"/>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1B120A"/>
                </a:solidFill>
                <a:latin typeface="Inter" pitchFamily="34" charset="0"/>
                <a:ea typeface="Inter" pitchFamily="34" charset="-122"/>
                <a:cs typeface="Inter" pitchFamily="34" charset="-120"/>
              </a:rPr>
              <a:t>Short wires, clean signals, no overlaps, everything inside the board.</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EFE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2A24"/>
                </a:solidFill>
                <a:latin typeface="Space Grotesk" pitchFamily="34" charset="0"/>
                <a:ea typeface="Space Grotesk" pitchFamily="34" charset="-122"/>
                <a:cs typeface="Space Grotesk" pitchFamily="34" charset="-120"/>
              </a:rPr>
              <a:t>The toy board</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77330"/>
          <a:ext cx="6083300" cy="3088084"/>
        </p:xfrm>
        <a:graphic>
          <a:graphicData uri="http://schemas.openxmlformats.org/drawingml/2006/table">
            <a:tbl>
              <a:tblPr/>
              <a:tblGrid>
                <a:gridCol w="1216660"/>
                <a:gridCol w="3041650"/>
                <a:gridCol w="1824990"/>
              </a:tblGrid>
              <a:tr h="386011">
                <a:tc>
                  <a:txBody>
                    <a:bodyPr/>
                    <a:lstStyle/>
                    <a:p>
                      <a:pPr indent="0" marL="0">
                        <a:lnSpc>
                          <a:spcPts val="1960"/>
                        </a:lnSpc>
                        <a:buNone/>
                      </a:pPr>
                      <a:r>
                        <a:rPr lang="en-US" sz="1400" b="1" dirty="0">
                          <a:solidFill>
                            <a:srgbClr val="16241F"/>
                          </a:solidFill>
                          <a:latin typeface="Inter" pitchFamily="34" charset="0"/>
                          <a:ea typeface="Inter" pitchFamily="34" charset="-122"/>
                          <a:cs typeface="Inter" pitchFamily="34" charset="-120"/>
                        </a:rPr>
                        <a:t>Part</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B4B1A9"/>
                      </a:solidFill>
                      <a:prstDash val="solid"/>
                      <a:round/>
                      <a:headEnd type="none" w="med" len="med"/>
                      <a:tailEnd type="none" w="med" len="med"/>
                    </a:lnR>
                    <a:lnT w="12700" cap="flat" cmpd="sng" algn="ctr">
                      <a:solidFill>
                        <a:srgbClr val="C2BFB6"/>
                      </a:solidFill>
                      <a:prstDash val="solid"/>
                      <a:round/>
                      <a:headEnd type="none" w="med" len="med"/>
                      <a:tailEnd type="none" w="med" len="med"/>
                    </a:lnT>
                    <a:lnB w="12700" cap="flat" cmpd="sng" algn="ctr">
                      <a:solidFill>
                        <a:srgbClr val="B4B1A9"/>
                      </a:solidFill>
                      <a:prstDash val="solid"/>
                      <a:round/>
                      <a:headEnd type="none" w="med" len="med"/>
                      <a:tailEnd type="none" w="med" len="med"/>
                    </a:lnB>
                    <a:solidFill>
                      <a:srgbClr val="E1DDD3"/>
                    </a:solidFill>
                  </a:tcPr>
                </a:tc>
                <a:tc>
                  <a:txBody>
                    <a:bodyPr/>
                    <a:lstStyle/>
                    <a:p>
                      <a:pPr indent="0" marL="0">
                        <a:lnSpc>
                          <a:spcPts val="1960"/>
                        </a:lnSpc>
                        <a:buNone/>
                      </a:pPr>
                      <a:r>
                        <a:rPr lang="en-US" sz="1400" b="1" dirty="0">
                          <a:solidFill>
                            <a:srgbClr val="16241F"/>
                          </a:solidFill>
                          <a:latin typeface="Inter" pitchFamily="34" charset="0"/>
                          <a:ea typeface="Inter" pitchFamily="34" charset="-122"/>
                          <a:cs typeface="Inter" pitchFamily="34" charset="-120"/>
                        </a:rPr>
                        <a:t>Role</a:t>
                      </a:r>
                      <a:endParaRPr lang="en-US" sz="1400" dirty="0">
                        <a:latin typeface="Inter" charset="0"/>
                        <a:ea typeface="Inter" charset="0"/>
                        <a:cs typeface="Inter" charset="0"/>
                      </a:endParaRPr>
                    </a:p>
                  </a:txBody>
                  <a:tcPr marL="62230" marR="62230" marT="62230" marB="62230" anchor="t">
                    <a:lnL w="12700" cap="flat" cmpd="sng" algn="ctr">
                      <a:solidFill>
                        <a:srgbClr val="B4B1A9"/>
                      </a:solidFill>
                      <a:prstDash val="solid"/>
                      <a:round/>
                      <a:headEnd type="none" w="med" len="med"/>
                      <a:tailEnd type="none" w="med" len="med"/>
                    </a:lnL>
                    <a:lnR w="12700" cap="flat" cmpd="sng" algn="ctr">
                      <a:solidFill>
                        <a:srgbClr val="B4B1A9"/>
                      </a:solidFill>
                      <a:prstDash val="solid"/>
                      <a:round/>
                      <a:headEnd type="none" w="med" len="med"/>
                      <a:tailEnd type="none" w="med" len="med"/>
                    </a:lnR>
                    <a:lnT w="12700" cap="flat" cmpd="sng" algn="ctr">
                      <a:solidFill>
                        <a:srgbClr val="C2BFB6"/>
                      </a:solidFill>
                      <a:prstDash val="solid"/>
                      <a:round/>
                      <a:headEnd type="none" w="med" len="med"/>
                      <a:tailEnd type="none" w="med" len="med"/>
                    </a:lnT>
                    <a:lnB w="12700" cap="flat" cmpd="sng" algn="ctr">
                      <a:solidFill>
                        <a:srgbClr val="B4B1A9"/>
                      </a:solidFill>
                      <a:prstDash val="solid"/>
                      <a:round/>
                      <a:headEnd type="none" w="med" len="med"/>
                      <a:tailEnd type="none" w="med" len="med"/>
                    </a:lnB>
                    <a:solidFill>
                      <a:srgbClr val="E1DDD3"/>
                    </a:solidFill>
                  </a:tcPr>
                </a:tc>
                <a:tc>
                  <a:txBody>
                    <a:bodyPr/>
                    <a:lstStyle/>
                    <a:p>
                      <a:pPr indent="0" marL="0">
                        <a:lnSpc>
                          <a:spcPts val="1960"/>
                        </a:lnSpc>
                        <a:buNone/>
                      </a:pPr>
                      <a:r>
                        <a:rPr lang="en-US" sz="1400" b="1" dirty="0">
                          <a:solidFill>
                            <a:srgbClr val="16241F"/>
                          </a:solidFill>
                          <a:latin typeface="Inter" pitchFamily="34" charset="0"/>
                          <a:ea typeface="Inter" pitchFamily="34" charset="-122"/>
                          <a:cs typeface="Inter" pitchFamily="34" charset="-120"/>
                        </a:rPr>
                        <a:t>Size (mm)</a:t>
                      </a:r>
                      <a:endParaRPr lang="en-US" sz="1400" dirty="0">
                        <a:latin typeface="Inter" charset="0"/>
                        <a:ea typeface="Inter" charset="0"/>
                        <a:cs typeface="Inter" charset="0"/>
                      </a:endParaRPr>
                    </a:p>
                  </a:txBody>
                  <a:tcPr marL="62230" marR="62230" marT="62230" marB="62230" anchor="t">
                    <a:lnL w="12700" cap="flat" cmpd="sng" algn="ctr">
                      <a:solidFill>
                        <a:srgbClr val="B4B1A9"/>
                      </a:solidFill>
                      <a:prstDash val="solid"/>
                      <a:round/>
                      <a:headEnd type="none" w="med" len="med"/>
                      <a:tailEnd type="none" w="med" len="med"/>
                    </a:lnL>
                    <a:lnR w="12700" cap="flat" cmpd="sng" algn="ctr">
                      <a:solidFill>
                        <a:srgbClr val="B4B1A9"/>
                      </a:solidFill>
                      <a:prstDash val="solid"/>
                      <a:round/>
                      <a:headEnd type="none" w="med" len="med"/>
                      <a:tailEnd type="none" w="med" len="med"/>
                    </a:lnR>
                    <a:lnT w="12700" cap="flat" cmpd="sng" algn="ctr">
                      <a:solidFill>
                        <a:srgbClr val="C2BFB6"/>
                      </a:solidFill>
                      <a:prstDash val="solid"/>
                      <a:round/>
                      <a:headEnd type="none" w="med" len="med"/>
                      <a:tailEnd type="none" w="med" len="med"/>
                    </a:lnT>
                    <a:lnB w="12700" cap="flat" cmpd="sng" algn="ctr">
                      <a:solidFill>
                        <a:srgbClr val="B4B1A9"/>
                      </a:solidFill>
                      <a:prstDash val="solid"/>
                      <a:round/>
                      <a:headEnd type="none" w="med" len="med"/>
                      <a:tailEnd type="none" w="med" len="med"/>
                    </a:lnB>
                    <a:solidFill>
                      <a:srgbClr val="E1DDD3"/>
                    </a:solidFill>
                  </a:tcPr>
                </a:tc>
              </a:tr>
              <a:tr h="386011">
                <a:tc>
                  <a:txBody>
                    <a:bodyPr/>
                    <a:lstStyle/>
                    <a:p>
                      <a:pPr indent="0" marL="0">
                        <a:lnSpc>
                          <a:spcPts val="1960"/>
                        </a:lnSpc>
                        <a:buNone/>
                      </a:pPr>
                      <a:r>
                        <a:rPr lang="en-US" sz="1400" dirty="0">
                          <a:solidFill>
                            <a:srgbClr val="16241F"/>
                          </a:solidFill>
                          <a:latin typeface="Inter" pitchFamily="34" charset="0"/>
                          <a:ea typeface="Inter" pitchFamily="34" charset="-122"/>
                          <a:cs typeface="Inter" pitchFamily="34" charset="-120"/>
                        </a:rPr>
                        <a:t>MCU</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C2BFB6"/>
                      </a:solidFill>
                      <a:prstDash val="solid"/>
                      <a:round/>
                      <a:headEnd type="none" w="med" len="med"/>
                      <a:tailEnd type="none" w="med" len="med"/>
                    </a:lnR>
                    <a:lnT w="12700" cap="flat" cmpd="sng" algn="ctr">
                      <a:solidFill>
                        <a:srgbClr val="B4B1A9"/>
                      </a:solidFill>
                      <a:prstDash val="solid"/>
                      <a:round/>
                      <a:headEnd type="none" w="med" len="med"/>
                      <a:tailEnd type="none" w="med" len="med"/>
                    </a:lnT>
                    <a:lnB w="12700" cap="flat" cmpd="sng" algn="ctr">
                      <a:solidFill>
                        <a:srgbClr val="C2BFB6"/>
                      </a:solidFill>
                      <a:prstDash val="solid"/>
                      <a:round/>
                      <a:headEnd type="none" w="med" len="med"/>
                      <a:tailEnd type="none" w="med" len="med"/>
                    </a:lnB>
                  </a:tcPr>
                </a:tc>
                <a:tc>
                  <a:txBody>
                    <a:bodyPr/>
                    <a:lstStyle/>
                    <a:p>
                      <a:pPr indent="0" marL="0">
                        <a:lnSpc>
                          <a:spcPts val="1960"/>
                        </a:lnSpc>
                        <a:buNone/>
                      </a:pPr>
                      <a:r>
                        <a:rPr lang="en-US" sz="1400" dirty="0">
                          <a:solidFill>
                            <a:srgbClr val="16241F"/>
                          </a:solidFill>
                          <a:latin typeface="Inter" pitchFamily="34" charset="0"/>
                          <a:ea typeface="Inter" pitchFamily="34" charset="-122"/>
                          <a:cs typeface="Inter" pitchFamily="34" charset="-120"/>
                        </a:rPr>
                        <a:t>Microcontroller chip</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C2BFB6"/>
                      </a:solidFill>
                      <a:prstDash val="solid"/>
                      <a:round/>
                      <a:headEnd type="none" w="med" len="med"/>
                      <a:tailEnd type="none" w="med" len="med"/>
                    </a:lnR>
                    <a:lnT w="12700" cap="flat" cmpd="sng" algn="ctr">
                      <a:solidFill>
                        <a:srgbClr val="B4B1A9"/>
                      </a:solidFill>
                      <a:prstDash val="solid"/>
                      <a:round/>
                      <a:headEnd type="none" w="med" len="med"/>
                      <a:tailEnd type="none" w="med" len="med"/>
                    </a:lnT>
                    <a:lnB w="12700" cap="flat" cmpd="sng" algn="ctr">
                      <a:solidFill>
                        <a:srgbClr val="C2BFB6"/>
                      </a:solidFill>
                      <a:prstDash val="solid"/>
                      <a:round/>
                      <a:headEnd type="none" w="med" len="med"/>
                      <a:tailEnd type="none" w="med" len="med"/>
                    </a:lnB>
                  </a:tcPr>
                </a:tc>
                <a:tc>
                  <a:txBody>
                    <a:bodyPr/>
                    <a:lstStyle/>
                    <a:p>
                      <a:pPr indent="0" marL="0">
                        <a:lnSpc>
                          <a:spcPts val="1960"/>
                        </a:lnSpc>
                        <a:buNone/>
                      </a:pPr>
                      <a:r>
                        <a:rPr lang="en-US" sz="1400" dirty="0">
                          <a:solidFill>
                            <a:srgbClr val="16241F"/>
                          </a:solidFill>
                          <a:latin typeface="Inter" pitchFamily="34" charset="0"/>
                          <a:ea typeface="Inter" pitchFamily="34" charset="-122"/>
                          <a:cs typeface="Inter" pitchFamily="34" charset="-120"/>
                        </a:rPr>
                        <a:t>7 × 7</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C2BFB6"/>
                      </a:solidFill>
                      <a:prstDash val="solid"/>
                      <a:round/>
                      <a:headEnd type="none" w="med" len="med"/>
                      <a:tailEnd type="none" w="med" len="med"/>
                    </a:lnR>
                    <a:lnT w="12700" cap="flat" cmpd="sng" algn="ctr">
                      <a:solidFill>
                        <a:srgbClr val="B4B1A9"/>
                      </a:solidFill>
                      <a:prstDash val="solid"/>
                      <a:round/>
                      <a:headEnd type="none" w="med" len="med"/>
                      <a:tailEnd type="none" w="med" len="med"/>
                    </a:lnT>
                    <a:lnB w="12700" cap="flat" cmpd="sng" algn="ctr">
                      <a:solidFill>
                        <a:srgbClr val="C2BFB6"/>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41F"/>
                          </a:solidFill>
                          <a:latin typeface="Inter" pitchFamily="34" charset="0"/>
                          <a:ea typeface="Inter" pitchFamily="34" charset="-122"/>
                          <a:cs typeface="Inter" pitchFamily="34" charset="-120"/>
                        </a:rPr>
                        <a:t>XTAL</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C2BFB6"/>
                      </a:solidFill>
                      <a:prstDash val="solid"/>
                      <a:round/>
                      <a:headEnd type="none" w="med" len="med"/>
                      <a:tailEnd type="none" w="med" len="med"/>
                    </a:lnR>
                    <a:lnT w="12700" cap="flat" cmpd="sng" algn="ctr">
                      <a:solidFill>
                        <a:srgbClr val="C2BFB6"/>
                      </a:solidFill>
                      <a:prstDash val="solid"/>
                      <a:round/>
                      <a:headEnd type="none" w="med" len="med"/>
                      <a:tailEnd type="none" w="med" len="med"/>
                    </a:lnT>
                    <a:lnB w="12700" cap="flat" cmpd="sng" algn="ctr">
                      <a:solidFill>
                        <a:srgbClr val="C2BFB6"/>
                      </a:solidFill>
                      <a:prstDash val="solid"/>
                      <a:round/>
                      <a:headEnd type="none" w="med" len="med"/>
                      <a:tailEnd type="none" w="med" len="med"/>
                    </a:lnB>
                  </a:tcPr>
                </a:tc>
                <a:tc>
                  <a:txBody>
                    <a:bodyPr/>
                    <a:lstStyle/>
                    <a:p>
                      <a:pPr indent="0" marL="0">
                        <a:lnSpc>
                          <a:spcPts val="1960"/>
                        </a:lnSpc>
                        <a:buNone/>
                      </a:pPr>
                      <a:r>
                        <a:rPr lang="en-US" sz="1400" dirty="0">
                          <a:solidFill>
                            <a:srgbClr val="16241F"/>
                          </a:solidFill>
                          <a:latin typeface="Inter" pitchFamily="34" charset="0"/>
                          <a:ea typeface="Inter" pitchFamily="34" charset="-122"/>
                          <a:cs typeface="Inter" pitchFamily="34" charset="-120"/>
                        </a:rPr>
                        <a:t>Crystal (clock)</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C2BFB6"/>
                      </a:solidFill>
                      <a:prstDash val="solid"/>
                      <a:round/>
                      <a:headEnd type="none" w="med" len="med"/>
                      <a:tailEnd type="none" w="med" len="med"/>
                    </a:lnR>
                    <a:lnT w="12700" cap="flat" cmpd="sng" algn="ctr">
                      <a:solidFill>
                        <a:srgbClr val="C2BFB6"/>
                      </a:solidFill>
                      <a:prstDash val="solid"/>
                      <a:round/>
                      <a:headEnd type="none" w="med" len="med"/>
                      <a:tailEnd type="none" w="med" len="med"/>
                    </a:lnT>
                    <a:lnB w="12700" cap="flat" cmpd="sng" algn="ctr">
                      <a:solidFill>
                        <a:srgbClr val="C2BFB6"/>
                      </a:solidFill>
                      <a:prstDash val="solid"/>
                      <a:round/>
                      <a:headEnd type="none" w="med" len="med"/>
                      <a:tailEnd type="none" w="med" len="med"/>
                    </a:lnB>
                  </a:tcPr>
                </a:tc>
                <a:tc>
                  <a:txBody>
                    <a:bodyPr/>
                    <a:lstStyle/>
                    <a:p>
                      <a:pPr indent="0" marL="0">
                        <a:lnSpc>
                          <a:spcPts val="1960"/>
                        </a:lnSpc>
                        <a:buNone/>
                      </a:pPr>
                      <a:r>
                        <a:rPr lang="en-US" sz="1400" dirty="0">
                          <a:solidFill>
                            <a:srgbClr val="16241F"/>
                          </a:solidFill>
                          <a:latin typeface="Inter" pitchFamily="34" charset="0"/>
                          <a:ea typeface="Inter" pitchFamily="34" charset="-122"/>
                          <a:cs typeface="Inter" pitchFamily="34" charset="-120"/>
                        </a:rPr>
                        <a:t>3 × 2.5</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C2BFB6"/>
                      </a:solidFill>
                      <a:prstDash val="solid"/>
                      <a:round/>
                      <a:headEnd type="none" w="med" len="med"/>
                      <a:tailEnd type="none" w="med" len="med"/>
                    </a:lnR>
                    <a:lnT w="12700" cap="flat" cmpd="sng" algn="ctr">
                      <a:solidFill>
                        <a:srgbClr val="C2BFB6"/>
                      </a:solidFill>
                      <a:prstDash val="solid"/>
                      <a:round/>
                      <a:headEnd type="none" w="med" len="med"/>
                      <a:tailEnd type="none" w="med" len="med"/>
                    </a:lnT>
                    <a:lnB w="12700" cap="flat" cmpd="sng" algn="ctr">
                      <a:solidFill>
                        <a:srgbClr val="C2BFB6"/>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41F"/>
                          </a:solidFill>
                          <a:latin typeface="Inter" pitchFamily="34" charset="0"/>
                          <a:ea typeface="Inter" pitchFamily="34" charset="-122"/>
                          <a:cs typeface="Inter" pitchFamily="34" charset="-120"/>
                        </a:rPr>
                        <a:t>C1, C2</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C2BFB6"/>
                      </a:solidFill>
                      <a:prstDash val="solid"/>
                      <a:round/>
                      <a:headEnd type="none" w="med" len="med"/>
                      <a:tailEnd type="none" w="med" len="med"/>
                    </a:lnR>
                    <a:lnT w="12700" cap="flat" cmpd="sng" algn="ctr">
                      <a:solidFill>
                        <a:srgbClr val="C2BFB6"/>
                      </a:solidFill>
                      <a:prstDash val="solid"/>
                      <a:round/>
                      <a:headEnd type="none" w="med" len="med"/>
                      <a:tailEnd type="none" w="med" len="med"/>
                    </a:lnT>
                    <a:lnB w="12700" cap="flat" cmpd="sng" algn="ctr">
                      <a:solidFill>
                        <a:srgbClr val="C2BFB6"/>
                      </a:solidFill>
                      <a:prstDash val="solid"/>
                      <a:round/>
                      <a:headEnd type="none" w="med" len="med"/>
                      <a:tailEnd type="none" w="med" len="med"/>
                    </a:lnB>
                  </a:tcPr>
                </a:tc>
                <a:tc>
                  <a:txBody>
                    <a:bodyPr/>
                    <a:lstStyle/>
                    <a:p>
                      <a:pPr indent="0" marL="0">
                        <a:lnSpc>
                          <a:spcPts val="1960"/>
                        </a:lnSpc>
                        <a:buNone/>
                      </a:pPr>
                      <a:r>
                        <a:rPr lang="en-US" sz="1400" dirty="0">
                          <a:solidFill>
                            <a:srgbClr val="16241F"/>
                          </a:solidFill>
                          <a:latin typeface="Inter" pitchFamily="34" charset="0"/>
                          <a:ea typeface="Inter" pitchFamily="34" charset="-122"/>
                          <a:cs typeface="Inter" pitchFamily="34" charset="-120"/>
                        </a:rPr>
                        <a:t>Decoupling capacitors</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C2BFB6"/>
                      </a:solidFill>
                      <a:prstDash val="solid"/>
                      <a:round/>
                      <a:headEnd type="none" w="med" len="med"/>
                      <a:tailEnd type="none" w="med" len="med"/>
                    </a:lnR>
                    <a:lnT w="12700" cap="flat" cmpd="sng" algn="ctr">
                      <a:solidFill>
                        <a:srgbClr val="C2BFB6"/>
                      </a:solidFill>
                      <a:prstDash val="solid"/>
                      <a:round/>
                      <a:headEnd type="none" w="med" len="med"/>
                      <a:tailEnd type="none" w="med" len="med"/>
                    </a:lnT>
                    <a:lnB w="12700" cap="flat" cmpd="sng" algn="ctr">
                      <a:solidFill>
                        <a:srgbClr val="C2BFB6"/>
                      </a:solidFill>
                      <a:prstDash val="solid"/>
                      <a:round/>
                      <a:headEnd type="none" w="med" len="med"/>
                      <a:tailEnd type="none" w="med" len="med"/>
                    </a:lnB>
                  </a:tcPr>
                </a:tc>
                <a:tc>
                  <a:txBody>
                    <a:bodyPr/>
                    <a:lstStyle/>
                    <a:p>
                      <a:pPr indent="0" marL="0">
                        <a:lnSpc>
                          <a:spcPts val="1960"/>
                        </a:lnSpc>
                        <a:buNone/>
                      </a:pPr>
                      <a:r>
                        <a:rPr lang="en-US" sz="1400" dirty="0">
                          <a:solidFill>
                            <a:srgbClr val="16241F"/>
                          </a:solidFill>
                          <a:latin typeface="Inter" pitchFamily="34" charset="0"/>
                          <a:ea typeface="Inter" pitchFamily="34" charset="-122"/>
                          <a:cs typeface="Inter" pitchFamily="34" charset="-120"/>
                        </a:rPr>
                        <a:t>1.6 × 0.8</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C2BFB6"/>
                      </a:solidFill>
                      <a:prstDash val="solid"/>
                      <a:round/>
                      <a:headEnd type="none" w="med" len="med"/>
                      <a:tailEnd type="none" w="med" len="med"/>
                    </a:lnR>
                    <a:lnT w="12700" cap="flat" cmpd="sng" algn="ctr">
                      <a:solidFill>
                        <a:srgbClr val="C2BFB6"/>
                      </a:solidFill>
                      <a:prstDash val="solid"/>
                      <a:round/>
                      <a:headEnd type="none" w="med" len="med"/>
                      <a:tailEnd type="none" w="med" len="med"/>
                    </a:lnT>
                    <a:lnB w="12700" cap="flat" cmpd="sng" algn="ctr">
                      <a:solidFill>
                        <a:srgbClr val="C2BFB6"/>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41F"/>
                          </a:solidFill>
                          <a:latin typeface="Inter" pitchFamily="34" charset="0"/>
                          <a:ea typeface="Inter" pitchFamily="34" charset="-122"/>
                          <a:cs typeface="Inter" pitchFamily="34" charset="-120"/>
                        </a:rPr>
                        <a:t>LDO</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C2BFB6"/>
                      </a:solidFill>
                      <a:prstDash val="solid"/>
                      <a:round/>
                      <a:headEnd type="none" w="med" len="med"/>
                      <a:tailEnd type="none" w="med" len="med"/>
                    </a:lnR>
                    <a:lnT w="12700" cap="flat" cmpd="sng" algn="ctr">
                      <a:solidFill>
                        <a:srgbClr val="C2BFB6"/>
                      </a:solidFill>
                      <a:prstDash val="solid"/>
                      <a:round/>
                      <a:headEnd type="none" w="med" len="med"/>
                      <a:tailEnd type="none" w="med" len="med"/>
                    </a:lnT>
                    <a:lnB w="12700" cap="flat" cmpd="sng" algn="ctr">
                      <a:solidFill>
                        <a:srgbClr val="C2BFB6"/>
                      </a:solidFill>
                      <a:prstDash val="solid"/>
                      <a:round/>
                      <a:headEnd type="none" w="med" len="med"/>
                      <a:tailEnd type="none" w="med" len="med"/>
                    </a:lnB>
                  </a:tcPr>
                </a:tc>
                <a:tc>
                  <a:txBody>
                    <a:bodyPr/>
                    <a:lstStyle/>
                    <a:p>
                      <a:pPr indent="0" marL="0">
                        <a:lnSpc>
                          <a:spcPts val="1960"/>
                        </a:lnSpc>
                        <a:buNone/>
                      </a:pPr>
                      <a:r>
                        <a:rPr lang="en-US" sz="1400" dirty="0">
                          <a:solidFill>
                            <a:srgbClr val="16241F"/>
                          </a:solidFill>
                          <a:latin typeface="Inter" pitchFamily="34" charset="0"/>
                          <a:ea typeface="Inter" pitchFamily="34" charset="-122"/>
                          <a:cs typeface="Inter" pitchFamily="34" charset="-120"/>
                        </a:rPr>
                        <a:t>Voltage regulator</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C2BFB6"/>
                      </a:solidFill>
                      <a:prstDash val="solid"/>
                      <a:round/>
                      <a:headEnd type="none" w="med" len="med"/>
                      <a:tailEnd type="none" w="med" len="med"/>
                    </a:lnR>
                    <a:lnT w="12700" cap="flat" cmpd="sng" algn="ctr">
                      <a:solidFill>
                        <a:srgbClr val="C2BFB6"/>
                      </a:solidFill>
                      <a:prstDash val="solid"/>
                      <a:round/>
                      <a:headEnd type="none" w="med" len="med"/>
                      <a:tailEnd type="none" w="med" len="med"/>
                    </a:lnT>
                    <a:lnB w="12700" cap="flat" cmpd="sng" algn="ctr">
                      <a:solidFill>
                        <a:srgbClr val="C2BFB6"/>
                      </a:solidFill>
                      <a:prstDash val="solid"/>
                      <a:round/>
                      <a:headEnd type="none" w="med" len="med"/>
                      <a:tailEnd type="none" w="med" len="med"/>
                    </a:lnB>
                  </a:tcPr>
                </a:tc>
                <a:tc>
                  <a:txBody>
                    <a:bodyPr/>
                    <a:lstStyle/>
                    <a:p>
                      <a:pPr indent="0" marL="0">
                        <a:lnSpc>
                          <a:spcPts val="1960"/>
                        </a:lnSpc>
                        <a:buNone/>
                      </a:pPr>
                      <a:r>
                        <a:rPr lang="en-US" sz="1400" dirty="0">
                          <a:solidFill>
                            <a:srgbClr val="16241F"/>
                          </a:solidFill>
                          <a:latin typeface="Inter" pitchFamily="34" charset="0"/>
                          <a:ea typeface="Inter" pitchFamily="34" charset="-122"/>
                          <a:cs typeface="Inter" pitchFamily="34" charset="-120"/>
                        </a:rPr>
                        <a:t>3 × 3</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C2BFB6"/>
                      </a:solidFill>
                      <a:prstDash val="solid"/>
                      <a:round/>
                      <a:headEnd type="none" w="med" len="med"/>
                      <a:tailEnd type="none" w="med" len="med"/>
                    </a:lnR>
                    <a:lnT w="12700" cap="flat" cmpd="sng" algn="ctr">
                      <a:solidFill>
                        <a:srgbClr val="C2BFB6"/>
                      </a:solidFill>
                      <a:prstDash val="solid"/>
                      <a:round/>
                      <a:headEnd type="none" w="med" len="med"/>
                      <a:tailEnd type="none" w="med" len="med"/>
                    </a:lnT>
                    <a:lnB w="12700" cap="flat" cmpd="sng" algn="ctr">
                      <a:solidFill>
                        <a:srgbClr val="C2BFB6"/>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41F"/>
                          </a:solidFill>
                          <a:latin typeface="Inter" pitchFamily="34" charset="0"/>
                          <a:ea typeface="Inter" pitchFamily="34" charset="-122"/>
                          <a:cs typeface="Inter" pitchFamily="34" charset="-120"/>
                        </a:rPr>
                        <a:t>USB</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C2BFB6"/>
                      </a:solidFill>
                      <a:prstDash val="solid"/>
                      <a:round/>
                      <a:headEnd type="none" w="med" len="med"/>
                      <a:tailEnd type="none" w="med" len="med"/>
                    </a:lnR>
                    <a:lnT w="12700" cap="flat" cmpd="sng" algn="ctr">
                      <a:solidFill>
                        <a:srgbClr val="C2BFB6"/>
                      </a:solidFill>
                      <a:prstDash val="solid"/>
                      <a:round/>
                      <a:headEnd type="none" w="med" len="med"/>
                      <a:tailEnd type="none" w="med" len="med"/>
                    </a:lnT>
                    <a:lnB w="12700" cap="flat" cmpd="sng" algn="ctr">
                      <a:solidFill>
                        <a:srgbClr val="C2BFB6"/>
                      </a:solidFill>
                      <a:prstDash val="solid"/>
                      <a:round/>
                      <a:headEnd type="none" w="med" len="med"/>
                      <a:tailEnd type="none" w="med" len="med"/>
                    </a:lnB>
                  </a:tcPr>
                </a:tc>
                <a:tc>
                  <a:txBody>
                    <a:bodyPr/>
                    <a:lstStyle/>
                    <a:p>
                      <a:pPr indent="0" marL="0">
                        <a:lnSpc>
                          <a:spcPts val="1960"/>
                        </a:lnSpc>
                        <a:buNone/>
                      </a:pPr>
                      <a:r>
                        <a:rPr lang="en-US" sz="1400" dirty="0">
                          <a:solidFill>
                            <a:srgbClr val="16241F"/>
                          </a:solidFill>
                          <a:latin typeface="Inter" pitchFamily="34" charset="0"/>
                          <a:ea typeface="Inter" pitchFamily="34" charset="-122"/>
                          <a:cs typeface="Inter" pitchFamily="34" charset="-120"/>
                        </a:rPr>
                        <a:t>Power connector</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C2BFB6"/>
                      </a:solidFill>
                      <a:prstDash val="solid"/>
                      <a:round/>
                      <a:headEnd type="none" w="med" len="med"/>
                      <a:tailEnd type="none" w="med" len="med"/>
                    </a:lnR>
                    <a:lnT w="12700" cap="flat" cmpd="sng" algn="ctr">
                      <a:solidFill>
                        <a:srgbClr val="C2BFB6"/>
                      </a:solidFill>
                      <a:prstDash val="solid"/>
                      <a:round/>
                      <a:headEnd type="none" w="med" len="med"/>
                      <a:tailEnd type="none" w="med" len="med"/>
                    </a:lnT>
                    <a:lnB w="12700" cap="flat" cmpd="sng" algn="ctr">
                      <a:solidFill>
                        <a:srgbClr val="C2BFB6"/>
                      </a:solidFill>
                      <a:prstDash val="solid"/>
                      <a:round/>
                      <a:headEnd type="none" w="med" len="med"/>
                      <a:tailEnd type="none" w="med" len="med"/>
                    </a:lnB>
                  </a:tcPr>
                </a:tc>
                <a:tc>
                  <a:txBody>
                    <a:bodyPr/>
                    <a:lstStyle/>
                    <a:p>
                      <a:pPr indent="0" marL="0">
                        <a:lnSpc>
                          <a:spcPts val="1960"/>
                        </a:lnSpc>
                        <a:buNone/>
                      </a:pPr>
                      <a:r>
                        <a:rPr lang="en-US" sz="1400" dirty="0">
                          <a:solidFill>
                            <a:srgbClr val="16241F"/>
                          </a:solidFill>
                          <a:latin typeface="Inter" pitchFamily="34" charset="0"/>
                          <a:ea typeface="Inter" pitchFamily="34" charset="-122"/>
                          <a:cs typeface="Inter" pitchFamily="34" charset="-120"/>
                        </a:rPr>
                        <a:t>8 × 6</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C2BFB6"/>
                      </a:solidFill>
                      <a:prstDash val="solid"/>
                      <a:round/>
                      <a:headEnd type="none" w="med" len="med"/>
                      <a:tailEnd type="none" w="med" len="med"/>
                    </a:lnR>
                    <a:lnT w="12700" cap="flat" cmpd="sng" algn="ctr">
                      <a:solidFill>
                        <a:srgbClr val="C2BFB6"/>
                      </a:solidFill>
                      <a:prstDash val="solid"/>
                      <a:round/>
                      <a:headEnd type="none" w="med" len="med"/>
                      <a:tailEnd type="none" w="med" len="med"/>
                    </a:lnT>
                    <a:lnB w="12700" cap="flat" cmpd="sng" algn="ctr">
                      <a:solidFill>
                        <a:srgbClr val="C2BFB6"/>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41F"/>
                          </a:solidFill>
                          <a:latin typeface="Inter" pitchFamily="34" charset="0"/>
                          <a:ea typeface="Inter" pitchFamily="34" charset="-122"/>
                          <a:cs typeface="Inter" pitchFamily="34" charset="-120"/>
                        </a:rPr>
                        <a:t>HDR</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C2BFB6"/>
                      </a:solidFill>
                      <a:prstDash val="solid"/>
                      <a:round/>
                      <a:headEnd type="none" w="med" len="med"/>
                      <a:tailEnd type="none" w="med" len="med"/>
                    </a:lnR>
                    <a:lnT w="12700" cap="flat" cmpd="sng" algn="ctr">
                      <a:solidFill>
                        <a:srgbClr val="C2BFB6"/>
                      </a:solidFill>
                      <a:prstDash val="solid"/>
                      <a:round/>
                      <a:headEnd type="none" w="med" len="med"/>
                      <a:tailEnd type="none" w="med" len="med"/>
                    </a:lnT>
                    <a:lnB w="12700" cap="flat" cmpd="sng" algn="ctr">
                      <a:solidFill>
                        <a:srgbClr val="C2BFB6"/>
                      </a:solidFill>
                      <a:prstDash val="solid"/>
                      <a:round/>
                      <a:headEnd type="none" w="med" len="med"/>
                      <a:tailEnd type="none" w="med" len="med"/>
                    </a:lnB>
                  </a:tcPr>
                </a:tc>
                <a:tc>
                  <a:txBody>
                    <a:bodyPr/>
                    <a:lstStyle/>
                    <a:p>
                      <a:pPr indent="0" marL="0">
                        <a:lnSpc>
                          <a:spcPts val="1960"/>
                        </a:lnSpc>
                        <a:buNone/>
                      </a:pPr>
                      <a:r>
                        <a:rPr lang="en-US" sz="1400" dirty="0">
                          <a:solidFill>
                            <a:srgbClr val="16241F"/>
                          </a:solidFill>
                          <a:latin typeface="Inter" pitchFamily="34" charset="0"/>
                          <a:ea typeface="Inter" pitchFamily="34" charset="-122"/>
                          <a:cs typeface="Inter" pitchFamily="34" charset="-120"/>
                        </a:rPr>
                        <a:t>Pin header</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C2BFB6"/>
                      </a:solidFill>
                      <a:prstDash val="solid"/>
                      <a:round/>
                      <a:headEnd type="none" w="med" len="med"/>
                      <a:tailEnd type="none" w="med" len="med"/>
                    </a:lnR>
                    <a:lnT w="12700" cap="flat" cmpd="sng" algn="ctr">
                      <a:solidFill>
                        <a:srgbClr val="C2BFB6"/>
                      </a:solidFill>
                      <a:prstDash val="solid"/>
                      <a:round/>
                      <a:headEnd type="none" w="med" len="med"/>
                      <a:tailEnd type="none" w="med" len="med"/>
                    </a:lnT>
                    <a:lnB w="12700" cap="flat" cmpd="sng" algn="ctr">
                      <a:solidFill>
                        <a:srgbClr val="C2BFB6"/>
                      </a:solidFill>
                      <a:prstDash val="solid"/>
                      <a:round/>
                      <a:headEnd type="none" w="med" len="med"/>
                      <a:tailEnd type="none" w="med" len="med"/>
                    </a:lnB>
                  </a:tcPr>
                </a:tc>
                <a:tc>
                  <a:txBody>
                    <a:bodyPr/>
                    <a:lstStyle/>
                    <a:p>
                      <a:pPr indent="0" marL="0">
                        <a:lnSpc>
                          <a:spcPts val="1960"/>
                        </a:lnSpc>
                        <a:buNone/>
                      </a:pPr>
                      <a:r>
                        <a:rPr lang="en-US" sz="1400" dirty="0">
                          <a:solidFill>
                            <a:srgbClr val="16241F"/>
                          </a:solidFill>
                          <a:latin typeface="Inter" pitchFamily="34" charset="0"/>
                          <a:ea typeface="Inter" pitchFamily="34" charset="-122"/>
                          <a:cs typeface="Inter" pitchFamily="34" charset="-120"/>
                        </a:rPr>
                        <a:t>10 × 3</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C2BFB6"/>
                      </a:solidFill>
                      <a:prstDash val="solid"/>
                      <a:round/>
                      <a:headEnd type="none" w="med" len="med"/>
                      <a:tailEnd type="none" w="med" len="med"/>
                    </a:lnR>
                    <a:lnT w="12700" cap="flat" cmpd="sng" algn="ctr">
                      <a:solidFill>
                        <a:srgbClr val="C2BFB6"/>
                      </a:solidFill>
                      <a:prstDash val="solid"/>
                      <a:round/>
                      <a:headEnd type="none" w="med" len="med"/>
                      <a:tailEnd type="none" w="med" len="med"/>
                    </a:lnT>
                    <a:lnB w="12700" cap="flat" cmpd="sng" algn="ctr">
                      <a:solidFill>
                        <a:srgbClr val="C2BFB6"/>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41F"/>
                          </a:solidFill>
                          <a:latin typeface="Inter" pitchFamily="34" charset="0"/>
                          <a:ea typeface="Inter" pitchFamily="34" charset="-122"/>
                          <a:cs typeface="Inter" pitchFamily="34" charset="-120"/>
                        </a:rPr>
                        <a:t>LED</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C2BFB6"/>
                      </a:solidFill>
                      <a:prstDash val="solid"/>
                      <a:round/>
                      <a:headEnd type="none" w="med" len="med"/>
                      <a:tailEnd type="none" w="med" len="med"/>
                    </a:lnR>
                    <a:lnT w="12700" cap="flat" cmpd="sng" algn="ctr">
                      <a:solidFill>
                        <a:srgbClr val="C2BFB6"/>
                      </a:solidFill>
                      <a:prstDash val="solid"/>
                      <a:round/>
                      <a:headEnd type="none" w="med" len="med"/>
                      <a:tailEnd type="none" w="med" len="med"/>
                    </a:lnT>
                    <a:lnB w="12700" cap="flat" cmpd="sng" algn="ctr">
                      <a:solidFill>
                        <a:srgbClr val="C2BFB6"/>
                      </a:solidFill>
                      <a:prstDash val="solid"/>
                      <a:round/>
                      <a:headEnd type="none" w="med" len="med"/>
                      <a:tailEnd type="none" w="med" len="med"/>
                    </a:lnB>
                  </a:tcPr>
                </a:tc>
                <a:tc>
                  <a:txBody>
                    <a:bodyPr/>
                    <a:lstStyle/>
                    <a:p>
                      <a:pPr indent="0" marL="0">
                        <a:lnSpc>
                          <a:spcPts val="1960"/>
                        </a:lnSpc>
                        <a:buNone/>
                      </a:pPr>
                      <a:r>
                        <a:rPr lang="en-US" sz="1400" dirty="0">
                          <a:solidFill>
                            <a:srgbClr val="16241F"/>
                          </a:solidFill>
                          <a:latin typeface="Inter" pitchFamily="34" charset="0"/>
                          <a:ea typeface="Inter" pitchFamily="34" charset="-122"/>
                          <a:cs typeface="Inter" pitchFamily="34" charset="-120"/>
                        </a:rPr>
                        <a:t>Indicator light</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C2BFB6"/>
                      </a:solidFill>
                      <a:prstDash val="solid"/>
                      <a:round/>
                      <a:headEnd type="none" w="med" len="med"/>
                      <a:tailEnd type="none" w="med" len="med"/>
                    </a:lnR>
                    <a:lnT w="12700" cap="flat" cmpd="sng" algn="ctr">
                      <a:solidFill>
                        <a:srgbClr val="C2BFB6"/>
                      </a:solidFill>
                      <a:prstDash val="solid"/>
                      <a:round/>
                      <a:headEnd type="none" w="med" len="med"/>
                      <a:tailEnd type="none" w="med" len="med"/>
                    </a:lnT>
                    <a:lnB w="12700" cap="flat" cmpd="sng" algn="ctr">
                      <a:solidFill>
                        <a:srgbClr val="C2BFB6"/>
                      </a:solidFill>
                      <a:prstDash val="solid"/>
                      <a:round/>
                      <a:headEnd type="none" w="med" len="med"/>
                      <a:tailEnd type="none" w="med" len="med"/>
                    </a:lnB>
                  </a:tcPr>
                </a:tc>
                <a:tc>
                  <a:txBody>
                    <a:bodyPr/>
                    <a:lstStyle/>
                    <a:p>
                      <a:pPr indent="0" marL="0">
                        <a:lnSpc>
                          <a:spcPts val="1960"/>
                        </a:lnSpc>
                        <a:buNone/>
                      </a:pPr>
                      <a:r>
                        <a:rPr lang="en-US" sz="1400" dirty="0">
                          <a:solidFill>
                            <a:srgbClr val="16241F"/>
                          </a:solidFill>
                          <a:latin typeface="Inter" pitchFamily="34" charset="0"/>
                          <a:ea typeface="Inter" pitchFamily="34" charset="-122"/>
                          <a:cs typeface="Inter" pitchFamily="34" charset="-120"/>
                        </a:rPr>
                        <a:t>1.6 × 0.8</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C2BFB6"/>
                      </a:solidFill>
                      <a:prstDash val="solid"/>
                      <a:round/>
                      <a:headEnd type="none" w="med" len="med"/>
                      <a:tailEnd type="none" w="med" len="med"/>
                    </a:lnR>
                    <a:lnT w="12700" cap="flat" cmpd="sng" algn="ctr">
                      <a:solidFill>
                        <a:srgbClr val="C2BFB6"/>
                      </a:solidFill>
                      <a:prstDash val="solid"/>
                      <a:round/>
                      <a:headEnd type="none" w="med" len="med"/>
                      <a:tailEnd type="none" w="med" len="med"/>
                    </a:lnT>
                    <a:lnB w="12700" cap="flat" cmpd="sng" algn="ctr">
                      <a:solidFill>
                        <a:srgbClr val="C2BFB6"/>
                      </a:solidFill>
                      <a:prstDash val="solid"/>
                      <a:round/>
                      <a:headEnd type="none" w="med" len="med"/>
                      <a:tailEnd type="none" w="med" len="med"/>
                    </a:lnB>
                  </a:tcPr>
                </a:tc>
              </a:tr>
            </a:tbl>
          </a:graphicData>
        </a:graphic>
      </p:graphicFrame>
      <p:sp>
        <p:nvSpPr>
          <p:cNvPr id="4" name="Shape 1"/>
          <p:cNvSpPr/>
          <p:nvPr/>
        </p:nvSpPr>
        <p:spPr>
          <a:xfrm>
            <a:off x="7315200" y="1564630"/>
            <a:ext cx="4064000" cy="1242020"/>
          </a:xfrm>
          <a:prstGeom prst="roundRect">
            <a:avLst>
              <a:gd name="adj" fmla="val 10225"/>
            </a:avLst>
          </a:prstGeom>
          <a:solidFill>
            <a:srgbClr val="0E2A24"/>
          </a:solidFill>
          <a:ln/>
        </p:spPr>
      </p:sp>
      <p:sp>
        <p:nvSpPr>
          <p:cNvPr id="5" name="Text 2"/>
          <p:cNvSpPr/>
          <p:nvPr/>
        </p:nvSpPr>
        <p:spPr>
          <a:xfrm>
            <a:off x="7543800" y="1793230"/>
            <a:ext cx="3715004"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8A25C"/>
                </a:solidFill>
                <a:latin typeface="Inter" pitchFamily="34" charset="0"/>
                <a:ea typeface="Inter" pitchFamily="34" charset="-122"/>
                <a:cs typeface="Inter" pitchFamily="34" charset="-120"/>
              </a:rPr>
              <a:t>THE BOARD</a:t>
            </a:r>
            <a:endParaRPr lang="en-US" sz="1300" dirty="0"/>
          </a:p>
        </p:txBody>
      </p:sp>
      <p:sp>
        <p:nvSpPr>
          <p:cNvPr id="6" name="Text 3"/>
          <p:cNvSpPr/>
          <p:nvPr/>
        </p:nvSpPr>
        <p:spPr>
          <a:xfrm>
            <a:off x="7543800" y="2075160"/>
            <a:ext cx="3715004"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EFE9DA"/>
                </a:solidFill>
                <a:latin typeface="Space Grotesk" pitchFamily="34" charset="0"/>
                <a:ea typeface="Space Grotesk" pitchFamily="34" charset="-122"/>
                <a:cs typeface="Space Grotesk" pitchFamily="34" charset="-120"/>
              </a:rPr>
              <a:t>50 × 50 mm</a:t>
            </a:r>
            <a:endParaRPr lang="en-US" sz="3600" dirty="0"/>
          </a:p>
        </p:txBody>
      </p:sp>
      <p:sp>
        <p:nvSpPr>
          <p:cNvPr id="7" name="Shape 4"/>
          <p:cNvSpPr/>
          <p:nvPr/>
        </p:nvSpPr>
        <p:spPr>
          <a:xfrm>
            <a:off x="7318375" y="3013025"/>
            <a:ext cx="4057650" cy="1850380"/>
          </a:xfrm>
          <a:prstGeom prst="roundRect">
            <a:avLst>
              <a:gd name="adj" fmla="val 6692"/>
            </a:avLst>
          </a:prstGeom>
          <a:solidFill>
            <a:srgbClr val="FBF9F2"/>
          </a:solidFill>
          <a:ln w="6350">
            <a:solidFill>
              <a:srgbClr val="D9D3C1"/>
            </a:solidFill>
            <a:prstDash val="solid"/>
          </a:ln>
        </p:spPr>
      </p:sp>
      <p:sp>
        <p:nvSpPr>
          <p:cNvPr id="8" name="Text 5"/>
          <p:cNvSpPr/>
          <p:nvPr/>
        </p:nvSpPr>
        <p:spPr>
          <a:xfrm>
            <a:off x="7550150" y="3244800"/>
            <a:ext cx="3701923"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5A14"/>
                </a:solidFill>
                <a:latin typeface="Inter" pitchFamily="34" charset="0"/>
                <a:ea typeface="Inter" pitchFamily="34" charset="-122"/>
                <a:cs typeface="Inter" pitchFamily="34" charset="-120"/>
              </a:rPr>
              <a:t>THE WIRING: 8 CONNECTIONS</a:t>
            </a:r>
            <a:endParaRPr lang="en-US" sz="1300" dirty="0"/>
          </a:p>
        </p:txBody>
      </p:sp>
      <p:sp>
        <p:nvSpPr>
          <p:cNvPr id="9" name="Text 6"/>
          <p:cNvSpPr/>
          <p:nvPr/>
        </p:nvSpPr>
        <p:spPr>
          <a:xfrm>
            <a:off x="7634732" y="3564830"/>
            <a:ext cx="3609721" cy="10922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16241F"/>
                </a:solidFill>
                <a:latin typeface="Inter" pitchFamily="34" charset="0"/>
                <a:ea typeface="Inter" pitchFamily="34" charset="-122"/>
                <a:cs typeface="Inter" pitchFamily="34" charset="-120"/>
              </a:rPr>
              <a:t>MCU to XTAL (clock)</a:t>
            </a:r>
            <a:endParaRPr lang="en-US" sz="1400" dirty="0"/>
          </a:p>
          <a:p>
            <a:pPr algn="l" marL="169418" indent="-169418">
              <a:lnSpc>
                <a:spcPts val="2100"/>
              </a:lnSpc>
              <a:buSzPct val="100000"/>
              <a:buChar char="•"/>
            </a:pPr>
            <a:r>
              <a:rPr lang="en-US" sz="1400" dirty="0">
                <a:solidFill>
                  <a:srgbClr val="16241F"/>
                </a:solidFill>
                <a:latin typeface="Inter" pitchFamily="34" charset="0"/>
                <a:ea typeface="Inter" pitchFamily="34" charset="-122"/>
                <a:cs typeface="Inter" pitchFamily="34" charset="-120"/>
              </a:rPr>
              <a:t>MCU to C1 and C2 (power filtering)</a:t>
            </a:r>
            <a:endParaRPr lang="en-US" sz="1400" dirty="0"/>
          </a:p>
          <a:p>
            <a:pPr algn="l" marL="169418" indent="-169418">
              <a:lnSpc>
                <a:spcPts val="2100"/>
              </a:lnSpc>
              <a:buSzPct val="100000"/>
              <a:buChar char="•"/>
            </a:pPr>
            <a:r>
              <a:rPr lang="en-US" sz="1400" dirty="0">
                <a:solidFill>
                  <a:srgbClr val="16241F"/>
                </a:solidFill>
                <a:latin typeface="Inter" pitchFamily="34" charset="0"/>
                <a:ea typeface="Inter" pitchFamily="34" charset="-122"/>
                <a:cs typeface="Inter" pitchFamily="34" charset="-120"/>
              </a:rPr>
              <a:t>USB to LDO, LDO to C1 and C2 (power)</a:t>
            </a:r>
            <a:endParaRPr lang="en-US" sz="1400" dirty="0"/>
          </a:p>
          <a:p>
            <a:pPr algn="l" marL="169418" indent="-169418">
              <a:lnSpc>
                <a:spcPts val="2100"/>
              </a:lnSpc>
              <a:buSzPct val="100000"/>
              <a:buChar char="•"/>
            </a:pPr>
            <a:r>
              <a:rPr lang="en-US" sz="1400" dirty="0">
                <a:solidFill>
                  <a:srgbClr val="16241F"/>
                </a:solidFill>
                <a:latin typeface="Inter" pitchFamily="34" charset="0"/>
                <a:ea typeface="Inter" pitchFamily="34" charset="-122"/>
                <a:cs typeface="Inter" pitchFamily="34" charset="-120"/>
              </a:rPr>
              <a:t>MCU to HDR and LED (signals)</a:t>
            </a:r>
            <a:endParaRPr lang="en-US" sz="1400" dirty="0"/>
          </a:p>
        </p:txBody>
      </p:sp>
      <p:sp>
        <p:nvSpPr>
          <p:cNvPr id="10" name="Text 7"/>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B64"/>
                </a:solidFill>
                <a:latin typeface="Inter" pitchFamily="34" charset="0"/>
                <a:ea typeface="Inter" pitchFamily="34" charset="-122"/>
                <a:cs typeface="Inter" pitchFamily="34" charset="-120"/>
              </a:rPr>
              <a:t>PCB placement with AlphaEvolve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FE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2A24"/>
                </a:solidFill>
                <a:latin typeface="Space Grotesk" pitchFamily="34" charset="0"/>
                <a:ea typeface="Space Grotesk" pitchFamily="34" charset="-122"/>
                <a:cs typeface="Space Grotesk" pitchFamily="34" charset="-120"/>
              </a:rPr>
              <a:t>Rules and goals</a:t>
            </a:r>
            <a:endParaRPr lang="en-US" sz="3200" dirty="0"/>
          </a:p>
        </p:txBody>
      </p:sp>
      <p:sp>
        <p:nvSpPr>
          <p:cNvPr id="3" name="Shape 1"/>
          <p:cNvSpPr/>
          <p:nvPr/>
        </p:nvSpPr>
        <p:spPr>
          <a:xfrm>
            <a:off x="812800" y="1564630"/>
            <a:ext cx="3429000" cy="2608511"/>
          </a:xfrm>
          <a:prstGeom prst="roundRect">
            <a:avLst>
              <a:gd name="adj" fmla="val 4869"/>
            </a:avLst>
          </a:prstGeom>
          <a:solidFill>
            <a:srgbClr val="0E2A24"/>
          </a:solidFill>
          <a:ln/>
        </p:spPr>
      </p:sp>
      <p:sp>
        <p:nvSpPr>
          <p:cNvPr id="4" name="Text 2"/>
          <p:cNvSpPr/>
          <p:nvPr/>
        </p:nvSpPr>
        <p:spPr>
          <a:xfrm>
            <a:off x="1066800" y="1818630"/>
            <a:ext cx="3008630"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8A25C"/>
                </a:solidFill>
                <a:latin typeface="Inter" pitchFamily="34" charset="0"/>
                <a:ea typeface="Inter" pitchFamily="34" charset="-122"/>
                <a:cs typeface="Inter" pitchFamily="34" charset="-120"/>
              </a:rPr>
              <a:t>HARD RULES</a:t>
            </a:r>
            <a:endParaRPr lang="en-US" sz="1300" dirty="0"/>
          </a:p>
        </p:txBody>
      </p:sp>
      <p:sp>
        <p:nvSpPr>
          <p:cNvPr id="5" name="Text 3"/>
          <p:cNvSpPr/>
          <p:nvPr/>
        </p:nvSpPr>
        <p:spPr>
          <a:xfrm>
            <a:off x="1066800" y="2176760"/>
            <a:ext cx="3008630" cy="5739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FE9DA"/>
                </a:solidFill>
                <a:latin typeface="Space Grotesk" pitchFamily="34" charset="0"/>
                <a:ea typeface="Space Grotesk" pitchFamily="34" charset="-122"/>
                <a:cs typeface="Space Grotesk" pitchFamily="34" charset="-120"/>
              </a:rPr>
              <a:t>Break one and the layout is invalid</a:t>
            </a:r>
            <a:endParaRPr lang="en-US" sz="1800" dirty="0"/>
          </a:p>
        </p:txBody>
      </p:sp>
      <p:sp>
        <p:nvSpPr>
          <p:cNvPr id="6" name="Text 4"/>
          <p:cNvSpPr/>
          <p:nvPr/>
        </p:nvSpPr>
        <p:spPr>
          <a:xfrm>
            <a:off x="1151382" y="2852341"/>
            <a:ext cx="2916428" cy="10922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EFE9DA"/>
                </a:solidFill>
                <a:latin typeface="Inter" pitchFamily="34" charset="0"/>
                <a:ea typeface="Inter" pitchFamily="34" charset="-122"/>
                <a:cs typeface="Inter" pitchFamily="34" charset="-120"/>
              </a:rPr>
              <a:t>Every part stays inside the board</a:t>
            </a:r>
            <a:endParaRPr lang="en-US" sz="1400" dirty="0"/>
          </a:p>
          <a:p>
            <a:pPr algn="l" marL="169418" indent="-169418">
              <a:lnSpc>
                <a:spcPts val="2100"/>
              </a:lnSpc>
              <a:buSzPct val="100000"/>
              <a:buChar char="•"/>
            </a:pPr>
            <a:r>
              <a:rPr lang="en-US" sz="1400" dirty="0">
                <a:solidFill>
                  <a:srgbClr val="EFE9DA"/>
                </a:solidFill>
                <a:latin typeface="Inter" pitchFamily="34" charset="0"/>
                <a:ea typeface="Inter" pitchFamily="34" charset="-122"/>
                <a:cs typeface="Inter" pitchFamily="34" charset="-120"/>
              </a:rPr>
              <a:t>No two parts overlap (0.3 mm gap)</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660900" y="1577330"/>
          <a:ext cx="6718300" cy="1930053"/>
        </p:xfrm>
        <a:graphic>
          <a:graphicData uri="http://schemas.openxmlformats.org/drawingml/2006/table">
            <a:tbl>
              <a:tblPr/>
              <a:tblGrid>
                <a:gridCol w="2956052"/>
                <a:gridCol w="940562"/>
                <a:gridCol w="2821686"/>
              </a:tblGrid>
              <a:tr h="386011">
                <a:tc>
                  <a:txBody>
                    <a:bodyPr/>
                    <a:lstStyle/>
                    <a:p>
                      <a:pPr indent="0" marL="0">
                        <a:lnSpc>
                          <a:spcPts val="1960"/>
                        </a:lnSpc>
                        <a:buNone/>
                      </a:pPr>
                      <a:r>
                        <a:rPr lang="en-US" sz="1400" b="1" dirty="0">
                          <a:solidFill>
                            <a:srgbClr val="16241F"/>
                          </a:solidFill>
                          <a:latin typeface="Inter" pitchFamily="34" charset="0"/>
                          <a:ea typeface="Inter" pitchFamily="34" charset="-122"/>
                          <a:cs typeface="Inter" pitchFamily="34" charset="-120"/>
                        </a:rPr>
                        <a:t>Goal</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B4B1A9"/>
                      </a:solidFill>
                      <a:prstDash val="solid"/>
                      <a:round/>
                      <a:headEnd type="none" w="med" len="med"/>
                      <a:tailEnd type="none" w="med" len="med"/>
                    </a:lnR>
                    <a:lnT w="12700" cap="flat" cmpd="sng" algn="ctr">
                      <a:solidFill>
                        <a:srgbClr val="C2BFB6"/>
                      </a:solidFill>
                      <a:prstDash val="solid"/>
                      <a:round/>
                      <a:headEnd type="none" w="med" len="med"/>
                      <a:tailEnd type="none" w="med" len="med"/>
                    </a:lnT>
                    <a:lnB w="12700" cap="flat" cmpd="sng" algn="ctr">
                      <a:solidFill>
                        <a:srgbClr val="B4B1A9"/>
                      </a:solidFill>
                      <a:prstDash val="solid"/>
                      <a:round/>
                      <a:headEnd type="none" w="med" len="med"/>
                      <a:tailEnd type="none" w="med" len="med"/>
                    </a:lnB>
                    <a:solidFill>
                      <a:srgbClr val="E1DDD3"/>
                    </a:solidFill>
                  </a:tcPr>
                </a:tc>
                <a:tc>
                  <a:txBody>
                    <a:bodyPr/>
                    <a:lstStyle/>
                    <a:p>
                      <a:pPr indent="0" marL="0">
                        <a:lnSpc>
                          <a:spcPts val="1960"/>
                        </a:lnSpc>
                        <a:buNone/>
                      </a:pPr>
                      <a:r>
                        <a:rPr lang="en-US" sz="1400" b="1" dirty="0">
                          <a:solidFill>
                            <a:srgbClr val="16241F"/>
                          </a:solidFill>
                          <a:latin typeface="Inter" pitchFamily="34" charset="0"/>
                          <a:ea typeface="Inter" pitchFamily="34" charset="-122"/>
                          <a:cs typeface="Inter" pitchFamily="34" charset="-120"/>
                        </a:rPr>
                        <a:t>Weight</a:t>
                      </a:r>
                      <a:endParaRPr lang="en-US" sz="1400" dirty="0">
                        <a:latin typeface="Inter" charset="0"/>
                        <a:ea typeface="Inter" charset="0"/>
                        <a:cs typeface="Inter" charset="0"/>
                      </a:endParaRPr>
                    </a:p>
                  </a:txBody>
                  <a:tcPr marL="62230" marR="62230" marT="62230" marB="62230" anchor="t">
                    <a:lnL w="12700" cap="flat" cmpd="sng" algn="ctr">
                      <a:solidFill>
                        <a:srgbClr val="B4B1A9"/>
                      </a:solidFill>
                      <a:prstDash val="solid"/>
                      <a:round/>
                      <a:headEnd type="none" w="med" len="med"/>
                      <a:tailEnd type="none" w="med" len="med"/>
                    </a:lnL>
                    <a:lnR w="12700" cap="flat" cmpd="sng" algn="ctr">
                      <a:solidFill>
                        <a:srgbClr val="B4B1A9"/>
                      </a:solidFill>
                      <a:prstDash val="solid"/>
                      <a:round/>
                      <a:headEnd type="none" w="med" len="med"/>
                      <a:tailEnd type="none" w="med" len="med"/>
                    </a:lnR>
                    <a:lnT w="12700" cap="flat" cmpd="sng" algn="ctr">
                      <a:solidFill>
                        <a:srgbClr val="C2BFB6"/>
                      </a:solidFill>
                      <a:prstDash val="solid"/>
                      <a:round/>
                      <a:headEnd type="none" w="med" len="med"/>
                      <a:tailEnd type="none" w="med" len="med"/>
                    </a:lnT>
                    <a:lnB w="12700" cap="flat" cmpd="sng" algn="ctr">
                      <a:solidFill>
                        <a:srgbClr val="B4B1A9"/>
                      </a:solidFill>
                      <a:prstDash val="solid"/>
                      <a:round/>
                      <a:headEnd type="none" w="med" len="med"/>
                      <a:tailEnd type="none" w="med" len="med"/>
                    </a:lnB>
                    <a:solidFill>
                      <a:srgbClr val="E1DDD3"/>
                    </a:solidFill>
                  </a:tcPr>
                </a:tc>
                <a:tc>
                  <a:txBody>
                    <a:bodyPr/>
                    <a:lstStyle/>
                    <a:p>
                      <a:pPr indent="0" marL="0">
                        <a:lnSpc>
                          <a:spcPts val="1960"/>
                        </a:lnSpc>
                        <a:buNone/>
                      </a:pPr>
                      <a:r>
                        <a:rPr lang="en-US" sz="1400" b="1" dirty="0">
                          <a:solidFill>
                            <a:srgbClr val="16241F"/>
                          </a:solidFill>
                          <a:latin typeface="Inter" pitchFamily="34" charset="0"/>
                          <a:ea typeface="Inter" pitchFamily="34" charset="-122"/>
                          <a:cs typeface="Inter" pitchFamily="34" charset="-120"/>
                        </a:rPr>
                        <a:t>Why it matters</a:t>
                      </a:r>
                      <a:endParaRPr lang="en-US" sz="1400" dirty="0">
                        <a:latin typeface="Inter" charset="0"/>
                        <a:ea typeface="Inter" charset="0"/>
                        <a:cs typeface="Inter" charset="0"/>
                      </a:endParaRPr>
                    </a:p>
                  </a:txBody>
                  <a:tcPr marL="62230" marR="62230" marT="62230" marB="62230" anchor="t">
                    <a:lnL w="12700" cap="flat" cmpd="sng" algn="ctr">
                      <a:solidFill>
                        <a:srgbClr val="B4B1A9"/>
                      </a:solidFill>
                      <a:prstDash val="solid"/>
                      <a:round/>
                      <a:headEnd type="none" w="med" len="med"/>
                      <a:tailEnd type="none" w="med" len="med"/>
                    </a:lnL>
                    <a:lnR w="12700" cap="flat" cmpd="sng" algn="ctr">
                      <a:solidFill>
                        <a:srgbClr val="B4B1A9"/>
                      </a:solidFill>
                      <a:prstDash val="solid"/>
                      <a:round/>
                      <a:headEnd type="none" w="med" len="med"/>
                      <a:tailEnd type="none" w="med" len="med"/>
                    </a:lnR>
                    <a:lnT w="12700" cap="flat" cmpd="sng" algn="ctr">
                      <a:solidFill>
                        <a:srgbClr val="C2BFB6"/>
                      </a:solidFill>
                      <a:prstDash val="solid"/>
                      <a:round/>
                      <a:headEnd type="none" w="med" len="med"/>
                      <a:tailEnd type="none" w="med" len="med"/>
                    </a:lnT>
                    <a:lnB w="12700" cap="flat" cmpd="sng" algn="ctr">
                      <a:solidFill>
                        <a:srgbClr val="B4B1A9"/>
                      </a:solidFill>
                      <a:prstDash val="solid"/>
                      <a:round/>
                      <a:headEnd type="none" w="med" len="med"/>
                      <a:tailEnd type="none" w="med" len="med"/>
                    </a:lnB>
                    <a:solidFill>
                      <a:srgbClr val="E1DDD3"/>
                    </a:solidFill>
                  </a:tcPr>
                </a:tc>
              </a:tr>
              <a:tr h="386011">
                <a:tc>
                  <a:txBody>
                    <a:bodyPr/>
                    <a:lstStyle/>
                    <a:p>
                      <a:pPr indent="0" marL="0">
                        <a:lnSpc>
                          <a:spcPts val="1960"/>
                        </a:lnSpc>
                        <a:buNone/>
                      </a:pPr>
                      <a:r>
                        <a:rPr lang="en-US" sz="1400" dirty="0">
                          <a:solidFill>
                            <a:srgbClr val="16241F"/>
                          </a:solidFill>
                          <a:latin typeface="Inter" pitchFamily="34" charset="0"/>
                          <a:ea typeface="Inter" pitchFamily="34" charset="-122"/>
                          <a:cs typeface="Inter" pitchFamily="34" charset="-120"/>
                        </a:rPr>
                        <a:t>Short total wire length</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C2BFB6"/>
                      </a:solidFill>
                      <a:prstDash val="solid"/>
                      <a:round/>
                      <a:headEnd type="none" w="med" len="med"/>
                      <a:tailEnd type="none" w="med" len="med"/>
                    </a:lnR>
                    <a:lnT w="12700" cap="flat" cmpd="sng" algn="ctr">
                      <a:solidFill>
                        <a:srgbClr val="B4B1A9"/>
                      </a:solidFill>
                      <a:prstDash val="solid"/>
                      <a:round/>
                      <a:headEnd type="none" w="med" len="med"/>
                      <a:tailEnd type="none" w="med" len="med"/>
                    </a:lnT>
                    <a:lnB w="12700" cap="flat" cmpd="sng" algn="ctr">
                      <a:solidFill>
                        <a:srgbClr val="C2BFB6"/>
                      </a:solidFill>
                      <a:prstDash val="solid"/>
                      <a:round/>
                      <a:headEnd type="none" w="med" len="med"/>
                      <a:tailEnd type="none" w="med" len="med"/>
                    </a:lnB>
                  </a:tcPr>
                </a:tc>
                <a:tc>
                  <a:txBody>
                    <a:bodyPr/>
                    <a:lstStyle/>
                    <a:p>
                      <a:pPr indent="0" marL="0">
                        <a:lnSpc>
                          <a:spcPts val="1960"/>
                        </a:lnSpc>
                        <a:buNone/>
                      </a:pPr>
                      <a:r>
                        <a:rPr lang="en-US" sz="1400" dirty="0">
                          <a:solidFill>
                            <a:srgbClr val="16241F"/>
                          </a:solidFill>
                          <a:latin typeface="Inter" pitchFamily="34" charset="0"/>
                          <a:ea typeface="Inter" pitchFamily="34" charset="-122"/>
                          <a:cs typeface="Inter" pitchFamily="34" charset="-120"/>
                        </a:rPr>
                        <a:t>×1</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C2BFB6"/>
                      </a:solidFill>
                      <a:prstDash val="solid"/>
                      <a:round/>
                      <a:headEnd type="none" w="med" len="med"/>
                      <a:tailEnd type="none" w="med" len="med"/>
                    </a:lnR>
                    <a:lnT w="12700" cap="flat" cmpd="sng" algn="ctr">
                      <a:solidFill>
                        <a:srgbClr val="B4B1A9"/>
                      </a:solidFill>
                      <a:prstDash val="solid"/>
                      <a:round/>
                      <a:headEnd type="none" w="med" len="med"/>
                      <a:tailEnd type="none" w="med" len="med"/>
                    </a:lnT>
                    <a:lnB w="12700" cap="flat" cmpd="sng" algn="ctr">
                      <a:solidFill>
                        <a:srgbClr val="C2BFB6"/>
                      </a:solidFill>
                      <a:prstDash val="solid"/>
                      <a:round/>
                      <a:headEnd type="none" w="med" len="med"/>
                      <a:tailEnd type="none" w="med" len="med"/>
                    </a:lnB>
                  </a:tcPr>
                </a:tc>
                <a:tc>
                  <a:txBody>
                    <a:bodyPr/>
                    <a:lstStyle/>
                    <a:p>
                      <a:pPr indent="0" marL="0">
                        <a:lnSpc>
                          <a:spcPts val="1960"/>
                        </a:lnSpc>
                        <a:buNone/>
                      </a:pPr>
                      <a:r>
                        <a:rPr lang="en-US" sz="1400" dirty="0">
                          <a:solidFill>
                            <a:srgbClr val="16241F"/>
                          </a:solidFill>
                          <a:latin typeface="Inter" pitchFamily="34" charset="0"/>
                          <a:ea typeface="Inter" pitchFamily="34" charset="-122"/>
                          <a:cs typeface="Inter" pitchFamily="34" charset="-120"/>
                        </a:rPr>
                        <a:t>Less noise, lower cost</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C2BFB6"/>
                      </a:solidFill>
                      <a:prstDash val="solid"/>
                      <a:round/>
                      <a:headEnd type="none" w="med" len="med"/>
                      <a:tailEnd type="none" w="med" len="med"/>
                    </a:lnR>
                    <a:lnT w="12700" cap="flat" cmpd="sng" algn="ctr">
                      <a:solidFill>
                        <a:srgbClr val="B4B1A9"/>
                      </a:solidFill>
                      <a:prstDash val="solid"/>
                      <a:round/>
                      <a:headEnd type="none" w="med" len="med"/>
                      <a:tailEnd type="none" w="med" len="med"/>
                    </a:lnT>
                    <a:lnB w="12700" cap="flat" cmpd="sng" algn="ctr">
                      <a:solidFill>
                        <a:srgbClr val="C2BFB6"/>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41F"/>
                          </a:solidFill>
                          <a:latin typeface="Inter" pitchFamily="34" charset="0"/>
                          <a:ea typeface="Inter" pitchFamily="34" charset="-122"/>
                          <a:cs typeface="Inter" pitchFamily="34" charset="-120"/>
                        </a:rPr>
                        <a:t>Crystal near the MCU</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C2BFB6"/>
                      </a:solidFill>
                      <a:prstDash val="solid"/>
                      <a:round/>
                      <a:headEnd type="none" w="med" len="med"/>
                      <a:tailEnd type="none" w="med" len="med"/>
                    </a:lnR>
                    <a:lnT w="12700" cap="flat" cmpd="sng" algn="ctr">
                      <a:solidFill>
                        <a:srgbClr val="C2BFB6"/>
                      </a:solidFill>
                      <a:prstDash val="solid"/>
                      <a:round/>
                      <a:headEnd type="none" w="med" len="med"/>
                      <a:tailEnd type="none" w="med" len="med"/>
                    </a:lnT>
                    <a:lnB w="12700" cap="flat" cmpd="sng" algn="ctr">
                      <a:solidFill>
                        <a:srgbClr val="C2BFB6"/>
                      </a:solidFill>
                      <a:prstDash val="solid"/>
                      <a:round/>
                      <a:headEnd type="none" w="med" len="med"/>
                      <a:tailEnd type="none" w="med" len="med"/>
                    </a:lnB>
                  </a:tcPr>
                </a:tc>
                <a:tc>
                  <a:txBody>
                    <a:bodyPr/>
                    <a:lstStyle/>
                    <a:p>
                      <a:pPr indent="0" marL="0">
                        <a:lnSpc>
                          <a:spcPts val="1960"/>
                        </a:lnSpc>
                        <a:buNone/>
                      </a:pPr>
                      <a:r>
                        <a:rPr lang="en-US" sz="1400" dirty="0">
                          <a:solidFill>
                            <a:srgbClr val="16241F"/>
                          </a:solidFill>
                          <a:latin typeface="Inter" pitchFamily="34" charset="0"/>
                          <a:ea typeface="Inter" pitchFamily="34" charset="-122"/>
                          <a:cs typeface="Inter" pitchFamily="34" charset="-120"/>
                        </a:rPr>
                        <a:t>×3</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C2BFB6"/>
                      </a:solidFill>
                      <a:prstDash val="solid"/>
                      <a:round/>
                      <a:headEnd type="none" w="med" len="med"/>
                      <a:tailEnd type="none" w="med" len="med"/>
                    </a:lnR>
                    <a:lnT w="12700" cap="flat" cmpd="sng" algn="ctr">
                      <a:solidFill>
                        <a:srgbClr val="C2BFB6"/>
                      </a:solidFill>
                      <a:prstDash val="solid"/>
                      <a:round/>
                      <a:headEnd type="none" w="med" len="med"/>
                      <a:tailEnd type="none" w="med" len="med"/>
                    </a:lnT>
                    <a:lnB w="12700" cap="flat" cmpd="sng" algn="ctr">
                      <a:solidFill>
                        <a:srgbClr val="C2BFB6"/>
                      </a:solidFill>
                      <a:prstDash val="solid"/>
                      <a:round/>
                      <a:headEnd type="none" w="med" len="med"/>
                      <a:tailEnd type="none" w="med" len="med"/>
                    </a:lnB>
                  </a:tcPr>
                </a:tc>
                <a:tc>
                  <a:txBody>
                    <a:bodyPr/>
                    <a:lstStyle/>
                    <a:p>
                      <a:pPr indent="0" marL="0">
                        <a:lnSpc>
                          <a:spcPts val="1960"/>
                        </a:lnSpc>
                        <a:buNone/>
                      </a:pPr>
                      <a:r>
                        <a:rPr lang="en-US" sz="1400" dirty="0">
                          <a:solidFill>
                            <a:srgbClr val="16241F"/>
                          </a:solidFill>
                          <a:latin typeface="Inter" pitchFamily="34" charset="0"/>
                          <a:ea typeface="Inter" pitchFamily="34" charset="-122"/>
                          <a:cs typeface="Inter" pitchFamily="34" charset="-120"/>
                        </a:rPr>
                        <a:t>Clean clock signal</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C2BFB6"/>
                      </a:solidFill>
                      <a:prstDash val="solid"/>
                      <a:round/>
                      <a:headEnd type="none" w="med" len="med"/>
                      <a:tailEnd type="none" w="med" len="med"/>
                    </a:lnR>
                    <a:lnT w="12700" cap="flat" cmpd="sng" algn="ctr">
                      <a:solidFill>
                        <a:srgbClr val="C2BFB6"/>
                      </a:solidFill>
                      <a:prstDash val="solid"/>
                      <a:round/>
                      <a:headEnd type="none" w="med" len="med"/>
                      <a:tailEnd type="none" w="med" len="med"/>
                    </a:lnT>
                    <a:lnB w="12700" cap="flat" cmpd="sng" algn="ctr">
                      <a:solidFill>
                        <a:srgbClr val="C2BFB6"/>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41F"/>
                          </a:solidFill>
                          <a:latin typeface="Inter" pitchFamily="34" charset="0"/>
                          <a:ea typeface="Inter" pitchFamily="34" charset="-122"/>
                          <a:cs typeface="Inter" pitchFamily="34" charset="-120"/>
                        </a:rPr>
                        <a:t>Capacitors near the MCU</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C2BFB6"/>
                      </a:solidFill>
                      <a:prstDash val="solid"/>
                      <a:round/>
                      <a:headEnd type="none" w="med" len="med"/>
                      <a:tailEnd type="none" w="med" len="med"/>
                    </a:lnR>
                    <a:lnT w="12700" cap="flat" cmpd="sng" algn="ctr">
                      <a:solidFill>
                        <a:srgbClr val="C2BFB6"/>
                      </a:solidFill>
                      <a:prstDash val="solid"/>
                      <a:round/>
                      <a:headEnd type="none" w="med" len="med"/>
                      <a:tailEnd type="none" w="med" len="med"/>
                    </a:lnT>
                    <a:lnB w="12700" cap="flat" cmpd="sng" algn="ctr">
                      <a:solidFill>
                        <a:srgbClr val="C2BFB6"/>
                      </a:solidFill>
                      <a:prstDash val="solid"/>
                      <a:round/>
                      <a:headEnd type="none" w="med" len="med"/>
                      <a:tailEnd type="none" w="med" len="med"/>
                    </a:lnB>
                  </a:tcPr>
                </a:tc>
                <a:tc>
                  <a:txBody>
                    <a:bodyPr/>
                    <a:lstStyle/>
                    <a:p>
                      <a:pPr indent="0" marL="0">
                        <a:lnSpc>
                          <a:spcPts val="1960"/>
                        </a:lnSpc>
                        <a:buNone/>
                      </a:pPr>
                      <a:r>
                        <a:rPr lang="en-US" sz="1400" dirty="0">
                          <a:solidFill>
                            <a:srgbClr val="16241F"/>
                          </a:solidFill>
                          <a:latin typeface="Inter" pitchFamily="34" charset="0"/>
                          <a:ea typeface="Inter" pitchFamily="34" charset="-122"/>
                          <a:cs typeface="Inter" pitchFamily="34" charset="-120"/>
                        </a:rPr>
                        <a:t>×3</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C2BFB6"/>
                      </a:solidFill>
                      <a:prstDash val="solid"/>
                      <a:round/>
                      <a:headEnd type="none" w="med" len="med"/>
                      <a:tailEnd type="none" w="med" len="med"/>
                    </a:lnR>
                    <a:lnT w="12700" cap="flat" cmpd="sng" algn="ctr">
                      <a:solidFill>
                        <a:srgbClr val="C2BFB6"/>
                      </a:solidFill>
                      <a:prstDash val="solid"/>
                      <a:round/>
                      <a:headEnd type="none" w="med" len="med"/>
                      <a:tailEnd type="none" w="med" len="med"/>
                    </a:lnT>
                    <a:lnB w="12700" cap="flat" cmpd="sng" algn="ctr">
                      <a:solidFill>
                        <a:srgbClr val="C2BFB6"/>
                      </a:solidFill>
                      <a:prstDash val="solid"/>
                      <a:round/>
                      <a:headEnd type="none" w="med" len="med"/>
                      <a:tailEnd type="none" w="med" len="med"/>
                    </a:lnB>
                  </a:tcPr>
                </a:tc>
                <a:tc>
                  <a:txBody>
                    <a:bodyPr/>
                    <a:lstStyle/>
                    <a:p>
                      <a:pPr indent="0" marL="0">
                        <a:lnSpc>
                          <a:spcPts val="1960"/>
                        </a:lnSpc>
                        <a:buNone/>
                      </a:pPr>
                      <a:r>
                        <a:rPr lang="en-US" sz="1400" dirty="0">
                          <a:solidFill>
                            <a:srgbClr val="16241F"/>
                          </a:solidFill>
                          <a:latin typeface="Inter" pitchFamily="34" charset="0"/>
                          <a:ea typeface="Inter" pitchFamily="34" charset="-122"/>
                          <a:cs typeface="Inter" pitchFamily="34" charset="-120"/>
                        </a:rPr>
                        <a:t>Stable power</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C2BFB6"/>
                      </a:solidFill>
                      <a:prstDash val="solid"/>
                      <a:round/>
                      <a:headEnd type="none" w="med" len="med"/>
                      <a:tailEnd type="none" w="med" len="med"/>
                    </a:lnR>
                    <a:lnT w="12700" cap="flat" cmpd="sng" algn="ctr">
                      <a:solidFill>
                        <a:srgbClr val="C2BFB6"/>
                      </a:solidFill>
                      <a:prstDash val="solid"/>
                      <a:round/>
                      <a:headEnd type="none" w="med" len="med"/>
                      <a:tailEnd type="none" w="med" len="med"/>
                    </a:lnT>
                    <a:lnB w="12700" cap="flat" cmpd="sng" algn="ctr">
                      <a:solidFill>
                        <a:srgbClr val="C2BFB6"/>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41F"/>
                          </a:solidFill>
                          <a:latin typeface="Inter" pitchFamily="34" charset="0"/>
                          <a:ea typeface="Inter" pitchFamily="34" charset="-122"/>
                          <a:cs typeface="Inter" pitchFamily="34" charset="-120"/>
                        </a:rPr>
                        <a:t>Regulator far from crystal</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C2BFB6"/>
                      </a:solidFill>
                      <a:prstDash val="solid"/>
                      <a:round/>
                      <a:headEnd type="none" w="med" len="med"/>
                      <a:tailEnd type="none" w="med" len="med"/>
                    </a:lnR>
                    <a:lnT w="12700" cap="flat" cmpd="sng" algn="ctr">
                      <a:solidFill>
                        <a:srgbClr val="C2BFB6"/>
                      </a:solidFill>
                      <a:prstDash val="solid"/>
                      <a:round/>
                      <a:headEnd type="none" w="med" len="med"/>
                      <a:tailEnd type="none" w="med" len="med"/>
                    </a:lnT>
                    <a:lnB w="12700" cap="flat" cmpd="sng" algn="ctr">
                      <a:solidFill>
                        <a:srgbClr val="C2BFB6"/>
                      </a:solidFill>
                      <a:prstDash val="solid"/>
                      <a:round/>
                      <a:headEnd type="none" w="med" len="med"/>
                      <a:tailEnd type="none" w="med" len="med"/>
                    </a:lnB>
                  </a:tcPr>
                </a:tc>
                <a:tc>
                  <a:txBody>
                    <a:bodyPr/>
                    <a:lstStyle/>
                    <a:p>
                      <a:pPr indent="0" marL="0">
                        <a:lnSpc>
                          <a:spcPts val="1960"/>
                        </a:lnSpc>
                        <a:buNone/>
                      </a:pPr>
                      <a:r>
                        <a:rPr lang="en-US" sz="1400" dirty="0">
                          <a:solidFill>
                            <a:srgbClr val="16241F"/>
                          </a:solidFill>
                          <a:latin typeface="Inter" pitchFamily="34" charset="0"/>
                          <a:ea typeface="Inter" pitchFamily="34" charset="-122"/>
                          <a:cs typeface="Inter" pitchFamily="34" charset="-120"/>
                        </a:rPr>
                        <a:t>×0.5</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C2BFB6"/>
                      </a:solidFill>
                      <a:prstDash val="solid"/>
                      <a:round/>
                      <a:headEnd type="none" w="med" len="med"/>
                      <a:tailEnd type="none" w="med" len="med"/>
                    </a:lnR>
                    <a:lnT w="12700" cap="flat" cmpd="sng" algn="ctr">
                      <a:solidFill>
                        <a:srgbClr val="C2BFB6"/>
                      </a:solidFill>
                      <a:prstDash val="solid"/>
                      <a:round/>
                      <a:headEnd type="none" w="med" len="med"/>
                      <a:tailEnd type="none" w="med" len="med"/>
                    </a:lnT>
                    <a:lnB w="12700" cap="flat" cmpd="sng" algn="ctr">
                      <a:solidFill>
                        <a:srgbClr val="C2BFB6"/>
                      </a:solidFill>
                      <a:prstDash val="solid"/>
                      <a:round/>
                      <a:headEnd type="none" w="med" len="med"/>
                      <a:tailEnd type="none" w="med" len="med"/>
                    </a:lnB>
                  </a:tcPr>
                </a:tc>
                <a:tc>
                  <a:txBody>
                    <a:bodyPr/>
                    <a:lstStyle/>
                    <a:p>
                      <a:pPr indent="0" marL="0">
                        <a:lnSpc>
                          <a:spcPts val="1960"/>
                        </a:lnSpc>
                        <a:buNone/>
                      </a:pPr>
                      <a:r>
                        <a:rPr lang="en-US" sz="1400" dirty="0">
                          <a:solidFill>
                            <a:srgbClr val="16241F"/>
                          </a:solidFill>
                          <a:latin typeface="Inter" pitchFamily="34" charset="0"/>
                          <a:ea typeface="Inter" pitchFamily="34" charset="-122"/>
                          <a:cs typeface="Inter" pitchFamily="34" charset="-120"/>
                        </a:rPr>
                        <a:t>Heat and noise kept apart</a:t>
                      </a:r>
                      <a:endParaRPr lang="en-US" sz="1400" dirty="0">
                        <a:latin typeface="Inter" charset="0"/>
                        <a:ea typeface="Inter" charset="0"/>
                        <a:cs typeface="Inter" charset="0"/>
                      </a:endParaRPr>
                    </a:p>
                  </a:txBody>
                  <a:tcPr marL="62230" marR="62230" marT="62230" marB="62230" anchor="t">
                    <a:lnL w="12700" cap="flat" cmpd="sng" algn="ctr">
                      <a:solidFill>
                        <a:srgbClr val="C2BFB6"/>
                      </a:solidFill>
                      <a:prstDash val="solid"/>
                      <a:round/>
                      <a:headEnd type="none" w="med" len="med"/>
                      <a:tailEnd type="none" w="med" len="med"/>
                    </a:lnL>
                    <a:lnR w="12700" cap="flat" cmpd="sng" algn="ctr">
                      <a:solidFill>
                        <a:srgbClr val="C2BFB6"/>
                      </a:solidFill>
                      <a:prstDash val="solid"/>
                      <a:round/>
                      <a:headEnd type="none" w="med" len="med"/>
                      <a:tailEnd type="none" w="med" len="med"/>
                    </a:lnR>
                    <a:lnT w="12700" cap="flat" cmpd="sng" algn="ctr">
                      <a:solidFill>
                        <a:srgbClr val="C2BFB6"/>
                      </a:solidFill>
                      <a:prstDash val="solid"/>
                      <a:round/>
                      <a:headEnd type="none" w="med" len="med"/>
                      <a:tailEnd type="none" w="med" len="med"/>
                    </a:lnT>
                    <a:lnB w="12700" cap="flat" cmpd="sng" algn="ctr">
                      <a:solidFill>
                        <a:srgbClr val="C2BFB6"/>
                      </a:solidFill>
                      <a:prstDash val="solid"/>
                      <a:round/>
                      <a:headEnd type="none" w="med" len="med"/>
                      <a:tailEnd type="none" w="med" len="med"/>
                    </a:lnB>
                  </a:tcPr>
                </a:tc>
              </a:tr>
            </a:tbl>
          </a:graphicData>
        </a:graphic>
      </p:graphicFrame>
      <p:sp>
        <p:nvSpPr>
          <p:cNvPr id="8" name="Text 5"/>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B64"/>
                </a:solidFill>
                <a:latin typeface="Inter" pitchFamily="34" charset="0"/>
                <a:ea typeface="Inter" pitchFamily="34" charset="-122"/>
                <a:cs typeface="Inter" pitchFamily="34" charset="-120"/>
              </a:rPr>
              <a:t>PCB placement with AlphaEvolve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EFE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2A24"/>
                </a:solidFill>
                <a:latin typeface="Space Grotesk" pitchFamily="34" charset="0"/>
                <a:ea typeface="Space Grotesk" pitchFamily="34" charset="-122"/>
                <a:cs typeface="Space Grotesk" pitchFamily="34" charset="-120"/>
              </a:rPr>
              <a:t>The AlphaEvolve loop</a:t>
            </a:r>
            <a:endParaRPr lang="en-US" sz="3200" dirty="0"/>
          </a:p>
        </p:txBody>
      </p:sp>
      <p:sp>
        <p:nvSpPr>
          <p:cNvPr id="3" name="Shape 1"/>
          <p:cNvSpPr/>
          <p:nvPr/>
        </p:nvSpPr>
        <p:spPr>
          <a:xfrm>
            <a:off x="815975" y="1618605"/>
            <a:ext cx="2028825" cy="1911201"/>
          </a:xfrm>
          <a:prstGeom prst="roundRect">
            <a:avLst>
              <a:gd name="adj" fmla="val 6479"/>
            </a:avLst>
          </a:prstGeom>
          <a:solidFill>
            <a:srgbClr val="FBF9F2"/>
          </a:solidFill>
          <a:ln w="6350">
            <a:solidFill>
              <a:srgbClr val="D9D3C1"/>
            </a:solidFill>
            <a:prstDash val="solid"/>
          </a:ln>
        </p:spPr>
      </p:sp>
      <p:sp>
        <p:nvSpPr>
          <p:cNvPr id="4" name="Text 2"/>
          <p:cNvSpPr/>
          <p:nvPr/>
        </p:nvSpPr>
        <p:spPr>
          <a:xfrm>
            <a:off x="1047750" y="1850380"/>
            <a:ext cx="161607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85A14"/>
                </a:solidFill>
                <a:latin typeface="Inter" pitchFamily="34" charset="0"/>
                <a:ea typeface="Inter" pitchFamily="34" charset="-122"/>
                <a:cs typeface="Inter" pitchFamily="34" charset="-120"/>
              </a:rPr>
              <a:t>1</a:t>
            </a:r>
            <a:endParaRPr lang="en-US" sz="1400" dirty="0"/>
          </a:p>
        </p:txBody>
      </p:sp>
      <p:sp>
        <p:nvSpPr>
          <p:cNvPr id="5" name="Text 3"/>
          <p:cNvSpPr/>
          <p:nvPr/>
        </p:nvSpPr>
        <p:spPr>
          <a:xfrm>
            <a:off x="1047750" y="2188170"/>
            <a:ext cx="161607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2A24"/>
                </a:solidFill>
                <a:latin typeface="Space Grotesk" pitchFamily="34" charset="0"/>
                <a:ea typeface="Space Grotesk" pitchFamily="34" charset="-122"/>
                <a:cs typeface="Space Grotesk" pitchFamily="34" charset="-120"/>
              </a:rPr>
              <a:t>Program</a:t>
            </a:r>
            <a:endParaRPr lang="en-US" sz="1800" dirty="0"/>
          </a:p>
        </p:txBody>
      </p:sp>
      <p:sp>
        <p:nvSpPr>
          <p:cNvPr id="6" name="Text 4"/>
          <p:cNvSpPr/>
          <p:nvPr/>
        </p:nvSpPr>
        <p:spPr>
          <a:xfrm>
            <a:off x="1047750" y="2551361"/>
            <a:ext cx="1616075"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41F"/>
                </a:solidFill>
                <a:latin typeface="Inter" pitchFamily="34" charset="0"/>
                <a:ea typeface="Inter" pitchFamily="34" charset="-122"/>
                <a:cs typeface="Inter" pitchFamily="34" charset="-120"/>
              </a:rPr>
              <a:t>Code that decides where each part goes.</a:t>
            </a:r>
            <a:endParaRPr lang="en-US" sz="1400" dirty="0"/>
          </a:p>
        </p:txBody>
      </p:sp>
      <p:pic>
        <p:nvPicPr>
          <p:cNvPr id="7" name="Image 0" descr="arrow-right">    </p:cNvPr>
          <p:cNvPicPr>
            <a:picLocks noChangeAspect="1"/>
          </p:cNvPicPr>
          <p:nvPr/>
        </p:nvPicPr>
        <p:blipFill>
          <a:blip r:embed="rId1"/>
          <a:srcRect l="0" r="0" t="0" b="0"/>
          <a:stretch/>
        </p:blipFill>
        <p:spPr>
          <a:xfrm>
            <a:off x="3051175" y="2447181"/>
            <a:ext cx="406400" cy="254000"/>
          </a:xfrm>
          <a:prstGeom prst="rect">
            <a:avLst/>
          </a:prstGeom>
        </p:spPr>
      </p:pic>
      <p:sp>
        <p:nvSpPr>
          <p:cNvPr id="8" name="Shape 5"/>
          <p:cNvSpPr/>
          <p:nvPr/>
        </p:nvSpPr>
        <p:spPr>
          <a:xfrm>
            <a:off x="3663950" y="1618605"/>
            <a:ext cx="2028825" cy="1911201"/>
          </a:xfrm>
          <a:prstGeom prst="roundRect">
            <a:avLst>
              <a:gd name="adj" fmla="val 6479"/>
            </a:avLst>
          </a:prstGeom>
          <a:solidFill>
            <a:srgbClr val="FBF9F2"/>
          </a:solidFill>
          <a:ln w="6350">
            <a:solidFill>
              <a:srgbClr val="D9D3C1"/>
            </a:solidFill>
            <a:prstDash val="solid"/>
          </a:ln>
        </p:spPr>
      </p:sp>
      <p:sp>
        <p:nvSpPr>
          <p:cNvPr id="9" name="Text 6"/>
          <p:cNvSpPr/>
          <p:nvPr/>
        </p:nvSpPr>
        <p:spPr>
          <a:xfrm>
            <a:off x="3895725" y="1850380"/>
            <a:ext cx="161607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85A14"/>
                </a:solidFill>
                <a:latin typeface="Inter" pitchFamily="34" charset="0"/>
                <a:ea typeface="Inter" pitchFamily="34" charset="-122"/>
                <a:cs typeface="Inter" pitchFamily="34" charset="-120"/>
              </a:rPr>
              <a:t>2</a:t>
            </a:r>
            <a:endParaRPr lang="en-US" sz="1400" dirty="0"/>
          </a:p>
        </p:txBody>
      </p:sp>
      <p:sp>
        <p:nvSpPr>
          <p:cNvPr id="10" name="Text 7"/>
          <p:cNvSpPr/>
          <p:nvPr/>
        </p:nvSpPr>
        <p:spPr>
          <a:xfrm>
            <a:off x="3895725" y="2188170"/>
            <a:ext cx="161607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2A24"/>
                </a:solidFill>
                <a:latin typeface="Space Grotesk" pitchFamily="34" charset="0"/>
                <a:ea typeface="Space Grotesk" pitchFamily="34" charset="-122"/>
                <a:cs typeface="Space Grotesk" pitchFamily="34" charset="-120"/>
              </a:rPr>
              <a:t>LLM edits</a:t>
            </a:r>
            <a:endParaRPr lang="en-US" sz="1800" dirty="0"/>
          </a:p>
        </p:txBody>
      </p:sp>
      <p:sp>
        <p:nvSpPr>
          <p:cNvPr id="11" name="Text 8"/>
          <p:cNvSpPr/>
          <p:nvPr/>
        </p:nvSpPr>
        <p:spPr>
          <a:xfrm>
            <a:off x="3895725" y="2551361"/>
            <a:ext cx="1616075"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41F"/>
                </a:solidFill>
                <a:latin typeface="Inter" pitchFamily="34" charset="0"/>
                <a:ea typeface="Inter" pitchFamily="34" charset="-122"/>
                <a:cs typeface="Inter" pitchFamily="34" charset="-120"/>
              </a:rPr>
              <a:t>A language model proposes changes to the code.</a:t>
            </a:r>
            <a:endParaRPr lang="en-US" sz="1400" dirty="0"/>
          </a:p>
        </p:txBody>
      </p:sp>
      <p:pic>
        <p:nvPicPr>
          <p:cNvPr id="12" name="Image 1" descr="arrow-right">    </p:cNvPr>
          <p:cNvPicPr>
            <a:picLocks noChangeAspect="1"/>
          </p:cNvPicPr>
          <p:nvPr/>
        </p:nvPicPr>
        <p:blipFill>
          <a:blip r:embed="rId2"/>
          <a:srcRect l="0" r="0" t="0" b="0"/>
          <a:stretch/>
        </p:blipFill>
        <p:spPr>
          <a:xfrm>
            <a:off x="5899150" y="2447181"/>
            <a:ext cx="406400" cy="254000"/>
          </a:xfrm>
          <a:prstGeom prst="rect">
            <a:avLst/>
          </a:prstGeom>
        </p:spPr>
      </p:pic>
      <p:sp>
        <p:nvSpPr>
          <p:cNvPr id="13" name="Shape 9"/>
          <p:cNvSpPr/>
          <p:nvPr/>
        </p:nvSpPr>
        <p:spPr>
          <a:xfrm>
            <a:off x="6511925" y="1618605"/>
            <a:ext cx="2028825" cy="1911201"/>
          </a:xfrm>
          <a:prstGeom prst="roundRect">
            <a:avLst>
              <a:gd name="adj" fmla="val 6479"/>
            </a:avLst>
          </a:prstGeom>
          <a:solidFill>
            <a:srgbClr val="FBF9F2"/>
          </a:solidFill>
          <a:ln w="6350">
            <a:solidFill>
              <a:srgbClr val="D9D3C1"/>
            </a:solidFill>
            <a:prstDash val="solid"/>
          </a:ln>
        </p:spPr>
      </p:sp>
      <p:sp>
        <p:nvSpPr>
          <p:cNvPr id="14" name="Text 10"/>
          <p:cNvSpPr/>
          <p:nvPr/>
        </p:nvSpPr>
        <p:spPr>
          <a:xfrm>
            <a:off x="6743700" y="1850380"/>
            <a:ext cx="161607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85A14"/>
                </a:solidFill>
                <a:latin typeface="Inter" pitchFamily="34" charset="0"/>
                <a:ea typeface="Inter" pitchFamily="34" charset="-122"/>
                <a:cs typeface="Inter" pitchFamily="34" charset="-120"/>
              </a:rPr>
              <a:t>3</a:t>
            </a:r>
            <a:endParaRPr lang="en-US" sz="1400" dirty="0"/>
          </a:p>
        </p:txBody>
      </p:sp>
      <p:sp>
        <p:nvSpPr>
          <p:cNvPr id="15" name="Text 11"/>
          <p:cNvSpPr/>
          <p:nvPr/>
        </p:nvSpPr>
        <p:spPr>
          <a:xfrm>
            <a:off x="6743700" y="2188170"/>
            <a:ext cx="161607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2A24"/>
                </a:solidFill>
                <a:latin typeface="Space Grotesk" pitchFamily="34" charset="0"/>
                <a:ea typeface="Space Grotesk" pitchFamily="34" charset="-122"/>
                <a:cs typeface="Space Grotesk" pitchFamily="34" charset="-120"/>
              </a:rPr>
              <a:t>Evaluator</a:t>
            </a:r>
            <a:endParaRPr lang="en-US" sz="1800" dirty="0"/>
          </a:p>
        </p:txBody>
      </p:sp>
      <p:sp>
        <p:nvSpPr>
          <p:cNvPr id="16" name="Text 12"/>
          <p:cNvSpPr/>
          <p:nvPr/>
        </p:nvSpPr>
        <p:spPr>
          <a:xfrm>
            <a:off x="6743700" y="2551361"/>
            <a:ext cx="1616075"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41F"/>
                </a:solidFill>
                <a:latin typeface="Inter" pitchFamily="34" charset="0"/>
                <a:ea typeface="Inter" pitchFamily="34" charset="-122"/>
                <a:cs typeface="Inter" pitchFamily="34" charset="-120"/>
              </a:rPr>
              <a:t>Runs the code and scores the layout it produces.</a:t>
            </a:r>
            <a:endParaRPr lang="en-US" sz="1400" dirty="0"/>
          </a:p>
        </p:txBody>
      </p:sp>
      <p:pic>
        <p:nvPicPr>
          <p:cNvPr id="17" name="Image 2" descr="arrow-right">    </p:cNvPr>
          <p:cNvPicPr>
            <a:picLocks noChangeAspect="1"/>
          </p:cNvPicPr>
          <p:nvPr/>
        </p:nvPicPr>
        <p:blipFill>
          <a:blip r:embed="rId3"/>
          <a:srcRect l="0" r="0" t="0" b="0"/>
          <a:stretch/>
        </p:blipFill>
        <p:spPr>
          <a:xfrm>
            <a:off x="8747125" y="2447181"/>
            <a:ext cx="406400" cy="254000"/>
          </a:xfrm>
          <a:prstGeom prst="rect">
            <a:avLst/>
          </a:prstGeom>
        </p:spPr>
      </p:pic>
      <p:sp>
        <p:nvSpPr>
          <p:cNvPr id="18" name="Shape 13"/>
          <p:cNvSpPr/>
          <p:nvPr/>
        </p:nvSpPr>
        <p:spPr>
          <a:xfrm>
            <a:off x="9356725" y="1621780"/>
            <a:ext cx="2022475" cy="1904851"/>
          </a:xfrm>
          <a:prstGeom prst="roundRect">
            <a:avLst>
              <a:gd name="adj" fmla="val 6667"/>
            </a:avLst>
          </a:prstGeom>
          <a:solidFill>
            <a:srgbClr val="0E2A24"/>
          </a:solidFill>
          <a:ln/>
        </p:spPr>
      </p:sp>
      <p:sp>
        <p:nvSpPr>
          <p:cNvPr id="19" name="Text 14"/>
          <p:cNvSpPr/>
          <p:nvPr/>
        </p:nvSpPr>
        <p:spPr>
          <a:xfrm>
            <a:off x="9585325" y="1850380"/>
            <a:ext cx="161607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8A25C"/>
                </a:solidFill>
                <a:latin typeface="Inter" pitchFamily="34" charset="0"/>
                <a:ea typeface="Inter" pitchFamily="34" charset="-122"/>
                <a:cs typeface="Inter" pitchFamily="34" charset="-120"/>
              </a:rPr>
              <a:t>4</a:t>
            </a:r>
            <a:endParaRPr lang="en-US" sz="1400" dirty="0"/>
          </a:p>
        </p:txBody>
      </p:sp>
      <p:sp>
        <p:nvSpPr>
          <p:cNvPr id="20" name="Text 15"/>
          <p:cNvSpPr/>
          <p:nvPr/>
        </p:nvSpPr>
        <p:spPr>
          <a:xfrm>
            <a:off x="9585325" y="2188170"/>
            <a:ext cx="179387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FE9DA"/>
                </a:solidFill>
                <a:latin typeface="Space Grotesk" pitchFamily="34" charset="0"/>
                <a:ea typeface="Space Grotesk" pitchFamily="34" charset="-122"/>
                <a:cs typeface="Space Grotesk" pitchFamily="34" charset="-120"/>
              </a:rPr>
              <a:t>Keep the best</a:t>
            </a:r>
            <a:endParaRPr lang="en-US" sz="1800" dirty="0"/>
          </a:p>
        </p:txBody>
      </p:sp>
      <p:sp>
        <p:nvSpPr>
          <p:cNvPr id="21" name="Text 16"/>
          <p:cNvSpPr/>
          <p:nvPr/>
        </p:nvSpPr>
        <p:spPr>
          <a:xfrm>
            <a:off x="9585325" y="2551361"/>
            <a:ext cx="1616075"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FE9DA"/>
                </a:solidFill>
                <a:latin typeface="Inter" pitchFamily="34" charset="0"/>
                <a:ea typeface="Inter" pitchFamily="34" charset="-122"/>
                <a:cs typeface="Inter" pitchFamily="34" charset="-120"/>
              </a:rPr>
              <a:t>Top programs become parents of the next round.</a:t>
            </a:r>
            <a:endParaRPr lang="en-US" sz="1400" dirty="0"/>
          </a:p>
        </p:txBody>
      </p:sp>
      <p:pic>
        <p:nvPicPr>
          <p:cNvPr id="22" name="Image 3" descr="arrow-left">    </p:cNvPr>
          <p:cNvPicPr>
            <a:picLocks noChangeAspect="1"/>
          </p:cNvPicPr>
          <p:nvPr/>
        </p:nvPicPr>
        <p:blipFill>
          <a:blip r:embed="rId4"/>
          <a:srcRect l="0" r="0" t="0" b="0"/>
          <a:stretch/>
        </p:blipFill>
        <p:spPr>
          <a:xfrm>
            <a:off x="812800" y="3888581"/>
            <a:ext cx="762000" cy="355600"/>
          </a:xfrm>
          <a:prstGeom prst="rect">
            <a:avLst/>
          </a:prstGeom>
        </p:spPr>
      </p:pic>
      <p:sp>
        <p:nvSpPr>
          <p:cNvPr id="23" name="Text 17"/>
          <p:cNvSpPr/>
          <p:nvPr/>
        </p:nvSpPr>
        <p:spPr>
          <a:xfrm>
            <a:off x="1778000" y="3915271"/>
            <a:ext cx="817953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0E2A24"/>
                </a:solidFill>
                <a:latin typeface="Inter" pitchFamily="34" charset="0"/>
                <a:ea typeface="Inter" pitchFamily="34" charset="-122"/>
                <a:cs typeface="Inter" pitchFamily="34" charset="-120"/>
              </a:rPr>
              <a:t>Repeat hundreds of times. Better programs breed better programs.</a:t>
            </a:r>
            <a:endParaRPr lang="en-US" sz="1700" dirty="0"/>
          </a:p>
        </p:txBody>
      </p:sp>
      <p:sp>
        <p:nvSpPr>
          <p:cNvPr id="24" name="Text 18"/>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B64"/>
                </a:solidFill>
                <a:latin typeface="Inter" pitchFamily="34" charset="0"/>
                <a:ea typeface="Inter" pitchFamily="34" charset="-122"/>
                <a:cs typeface="Inter" pitchFamily="34" charset="-120"/>
              </a:rPr>
              <a:t>PCB placement with AlphaEvolve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EFE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2A24"/>
                </a:solidFill>
                <a:latin typeface="Space Grotesk" pitchFamily="34" charset="0"/>
                <a:ea typeface="Space Grotesk" pitchFamily="34" charset="-122"/>
                <a:cs typeface="Space Grotesk" pitchFamily="34" charset="-120"/>
              </a:rPr>
              <a:t>Code, not coordinates</a:t>
            </a:r>
            <a:endParaRPr lang="en-US" sz="3200" dirty="0"/>
          </a:p>
        </p:txBody>
      </p:sp>
      <p:sp>
        <p:nvSpPr>
          <p:cNvPr id="3" name="Shape 1"/>
          <p:cNvSpPr/>
          <p:nvPr/>
        </p:nvSpPr>
        <p:spPr>
          <a:xfrm>
            <a:off x="815975" y="1567805"/>
            <a:ext cx="5130800" cy="2608511"/>
          </a:xfrm>
          <a:prstGeom prst="roundRect">
            <a:avLst>
              <a:gd name="adj" fmla="val 5721"/>
            </a:avLst>
          </a:prstGeom>
          <a:solidFill>
            <a:srgbClr val="FBF9F2"/>
          </a:solidFill>
          <a:ln w="6350">
            <a:solidFill>
              <a:srgbClr val="D9D3C1"/>
            </a:solidFill>
            <a:prstDash val="solid"/>
          </a:ln>
        </p:spPr>
      </p:sp>
      <p:sp>
        <p:nvSpPr>
          <p:cNvPr id="4" name="Text 2"/>
          <p:cNvSpPr/>
          <p:nvPr/>
        </p:nvSpPr>
        <p:spPr>
          <a:xfrm>
            <a:off x="1123950" y="1875780"/>
            <a:ext cx="4650296"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5A14"/>
                </a:solidFill>
                <a:latin typeface="Inter" pitchFamily="34" charset="0"/>
                <a:ea typeface="Inter" pitchFamily="34" charset="-122"/>
                <a:cs typeface="Inter" pitchFamily="34" charset="-120"/>
              </a:rPr>
              <a:t>A NORMAL OPTIMIZER</a:t>
            </a:r>
            <a:endParaRPr lang="en-US" sz="1300" dirty="0"/>
          </a:p>
        </p:txBody>
      </p:sp>
      <p:sp>
        <p:nvSpPr>
          <p:cNvPr id="5" name="Text 3"/>
          <p:cNvSpPr/>
          <p:nvPr/>
        </p:nvSpPr>
        <p:spPr>
          <a:xfrm>
            <a:off x="1123950" y="2259310"/>
            <a:ext cx="4650296" cy="375890"/>
          </a:xfrm>
          <a:prstGeom prst="rect">
            <a:avLst/>
          </a:prstGeom>
          <a:noFill/>
          <a:ln/>
        </p:spPr>
        <p:txBody>
          <a:bodyPr wrap="square" lIns="0" tIns="0" rIns="0" bIns="0" rtlCol="0" anchor="t">
            <a:normAutofit/>
          </a:bodyPr>
          <a:lstStyle/>
          <a:p>
            <a:pPr algn="l" indent="0" marL="0">
              <a:lnSpc>
                <a:spcPts val="2760"/>
              </a:lnSpc>
              <a:buNone/>
            </a:pPr>
            <a:r>
              <a:rPr lang="en-US" sz="2400" b="1" dirty="0">
                <a:solidFill>
                  <a:srgbClr val="0E2A24"/>
                </a:solidFill>
                <a:latin typeface="Space Grotesk" pitchFamily="34" charset="0"/>
                <a:ea typeface="Space Grotesk" pitchFamily="34" charset="-122"/>
                <a:cs typeface="Space Grotesk" pitchFamily="34" charset="-120"/>
              </a:rPr>
              <a:t>Tweaks the numbers</a:t>
            </a:r>
            <a:endParaRPr lang="en-US" sz="2400" dirty="0"/>
          </a:p>
        </p:txBody>
      </p:sp>
      <p:sp>
        <p:nvSpPr>
          <p:cNvPr id="6" name="Text 4"/>
          <p:cNvSpPr/>
          <p:nvPr/>
        </p:nvSpPr>
        <p:spPr>
          <a:xfrm>
            <a:off x="1123950" y="2762200"/>
            <a:ext cx="4650296"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6241F"/>
                </a:solidFill>
                <a:latin typeface="Inter" pitchFamily="34" charset="0"/>
                <a:ea typeface="Inter" pitchFamily="34" charset="-122"/>
                <a:cs typeface="Inter" pitchFamily="34" charset="-120"/>
              </a:rPr>
              <a:t>16 values: the x and y position of each of the 8 parts.</a:t>
            </a:r>
            <a:endParaRPr lang="en-US" sz="1500" dirty="0"/>
          </a:p>
        </p:txBody>
      </p:sp>
      <p:sp>
        <p:nvSpPr>
          <p:cNvPr id="7" name="Text 5"/>
          <p:cNvSpPr/>
          <p:nvPr/>
        </p:nvSpPr>
        <p:spPr>
          <a:xfrm>
            <a:off x="1123950" y="3619450"/>
            <a:ext cx="465029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C6B64"/>
                </a:solidFill>
                <a:latin typeface="Inter" pitchFamily="34" charset="0"/>
                <a:ea typeface="Inter" pitchFamily="34" charset="-122"/>
                <a:cs typeface="Inter" pitchFamily="34" charset="-120"/>
              </a:rPr>
              <a:t>Result: one layout for one board.</a:t>
            </a:r>
            <a:endParaRPr lang="en-US" sz="1400" dirty="0"/>
          </a:p>
        </p:txBody>
      </p:sp>
      <p:sp>
        <p:nvSpPr>
          <p:cNvPr id="8" name="Shape 6"/>
          <p:cNvSpPr/>
          <p:nvPr/>
        </p:nvSpPr>
        <p:spPr>
          <a:xfrm>
            <a:off x="6254750" y="1564630"/>
            <a:ext cx="5124450" cy="2614861"/>
          </a:xfrm>
          <a:prstGeom prst="roundRect">
            <a:avLst>
              <a:gd name="adj" fmla="val 5828"/>
            </a:avLst>
          </a:prstGeom>
          <a:solidFill>
            <a:srgbClr val="0E2A24"/>
          </a:solidFill>
          <a:ln/>
        </p:spPr>
      </p:sp>
      <p:sp>
        <p:nvSpPr>
          <p:cNvPr id="9" name="Text 7"/>
          <p:cNvSpPr/>
          <p:nvPr/>
        </p:nvSpPr>
        <p:spPr>
          <a:xfrm>
            <a:off x="6559550" y="1869430"/>
            <a:ext cx="4650296"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8A25C"/>
                </a:solidFill>
                <a:latin typeface="Inter" pitchFamily="34" charset="0"/>
                <a:ea typeface="Inter" pitchFamily="34" charset="-122"/>
                <a:cs typeface="Inter" pitchFamily="34" charset="-120"/>
              </a:rPr>
              <a:t>ALPHAEVOLVE</a:t>
            </a:r>
            <a:endParaRPr lang="en-US" sz="1300" dirty="0"/>
          </a:p>
        </p:txBody>
      </p:sp>
      <p:sp>
        <p:nvSpPr>
          <p:cNvPr id="10" name="Text 8"/>
          <p:cNvSpPr/>
          <p:nvPr/>
        </p:nvSpPr>
        <p:spPr>
          <a:xfrm>
            <a:off x="6559550" y="2252960"/>
            <a:ext cx="4650296" cy="375890"/>
          </a:xfrm>
          <a:prstGeom prst="rect">
            <a:avLst/>
          </a:prstGeom>
          <a:noFill/>
          <a:ln/>
        </p:spPr>
        <p:txBody>
          <a:bodyPr wrap="square" lIns="0" tIns="0" rIns="0" bIns="0" rtlCol="0" anchor="t">
            <a:normAutofit/>
          </a:bodyPr>
          <a:lstStyle/>
          <a:p>
            <a:pPr algn="l" indent="0" marL="0">
              <a:lnSpc>
                <a:spcPts val="2760"/>
              </a:lnSpc>
              <a:buNone/>
            </a:pPr>
            <a:r>
              <a:rPr lang="en-US" sz="2400" b="1" dirty="0">
                <a:solidFill>
                  <a:srgbClr val="EFE9DA"/>
                </a:solidFill>
                <a:latin typeface="Space Grotesk" pitchFamily="34" charset="0"/>
                <a:ea typeface="Space Grotesk" pitchFamily="34" charset="-122"/>
                <a:cs typeface="Space Grotesk" pitchFamily="34" charset="-120"/>
              </a:rPr>
              <a:t>Rewrites the recipe</a:t>
            </a:r>
            <a:endParaRPr lang="en-US" sz="2400" dirty="0"/>
          </a:p>
        </p:txBody>
      </p:sp>
      <p:sp>
        <p:nvSpPr>
          <p:cNvPr id="11" name="Text 9"/>
          <p:cNvSpPr/>
          <p:nvPr/>
        </p:nvSpPr>
        <p:spPr>
          <a:xfrm>
            <a:off x="6559550" y="2755850"/>
            <a:ext cx="4650296"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EFE9DA"/>
                </a:solidFill>
                <a:latin typeface="Inter" pitchFamily="34" charset="0"/>
                <a:ea typeface="Inter" pitchFamily="34" charset="-122"/>
                <a:cs typeface="Inter" pitchFamily="34" charset="-120"/>
              </a:rPr>
              <a:t>The program that picks positions: center the MCU, cluster neighbors, anneal, fix overlaps.</a:t>
            </a:r>
            <a:endParaRPr lang="en-US" sz="1500" dirty="0"/>
          </a:p>
        </p:txBody>
      </p:sp>
      <p:sp>
        <p:nvSpPr>
          <p:cNvPr id="12" name="Text 10"/>
          <p:cNvSpPr/>
          <p:nvPr/>
        </p:nvSpPr>
        <p:spPr>
          <a:xfrm>
            <a:off x="6559550" y="3625800"/>
            <a:ext cx="465029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8A25C"/>
                </a:solidFill>
                <a:latin typeface="Inter" pitchFamily="34" charset="0"/>
                <a:ea typeface="Inter" pitchFamily="34" charset="-122"/>
                <a:cs typeface="Inter" pitchFamily="34" charset="-120"/>
              </a:rPr>
              <a:t>Result: a method that works on new boards too.</a:t>
            </a:r>
            <a:endParaRPr lang="en-US" sz="1400" dirty="0"/>
          </a:p>
        </p:txBody>
      </p:sp>
      <p:sp>
        <p:nvSpPr>
          <p:cNvPr id="13" name="Text 11"/>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B64"/>
                </a:solidFill>
                <a:latin typeface="Inter" pitchFamily="34" charset="0"/>
                <a:ea typeface="Inter" pitchFamily="34" charset="-122"/>
                <a:cs typeface="Inter" pitchFamily="34" charset="-120"/>
              </a:rPr>
              <a:t>PCB placement with AlphaEvolve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2A2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FE9DA"/>
                </a:solidFill>
                <a:latin typeface="Space Grotesk" pitchFamily="34" charset="0"/>
                <a:ea typeface="Space Grotesk" pitchFamily="34" charset="-122"/>
                <a:cs typeface="Space Grotesk" pitchFamily="34" charset="-120"/>
              </a:rPr>
              <a:t>One round, animated</a:t>
            </a:r>
            <a:endParaRPr lang="en-US" sz="3200" dirty="0"/>
          </a:p>
        </p:txBody>
      </p:sp>
      <p:pic>
        <p:nvPicPr>
          <p:cNvPr id="3" name="Image 0" descr="web embed">    </p:cNvPr>
          <p:cNvPicPr>
            <a:picLocks noChangeAspect="1"/>
          </p:cNvPicPr>
          <p:nvPr/>
        </p:nvPicPr>
        <p:blipFill>
          <a:blip r:embed="rId1"/>
          <a:srcRect l="0" r="0" t="0" b="0"/>
          <a:stretch/>
        </p:blipFill>
        <p:spPr>
          <a:xfrm>
            <a:off x="812800" y="1460500"/>
            <a:ext cx="10566400" cy="4546600"/>
          </a:xfrm>
          <a:prstGeom prst="rect">
            <a:avLst/>
          </a:prstGeom>
        </p:spPr>
      </p:pic>
      <p:sp>
        <p:nvSpPr>
          <p:cNvPr id="4" name="Text 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DB3AA"/>
                </a:solidFill>
                <a:latin typeface="Inter" pitchFamily="34" charset="0"/>
                <a:ea typeface="Inter" pitchFamily="34" charset="-122"/>
                <a:cs typeface="Inter" pitchFamily="34" charset="-120"/>
              </a:rPr>
              <a:t>Three rounds with the real programs and scores from this project. The LLM edits are described, not generated live.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EFE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2A24"/>
                </a:solidFill>
                <a:latin typeface="Space Grotesk" pitchFamily="34" charset="0"/>
                <a:ea typeface="Space Grotesk" pitchFamily="34" charset="-122"/>
                <a:cs typeface="Space Grotesk" pitchFamily="34" charset="-120"/>
              </a:rPr>
              <a:t>What the LLM receives</a:t>
            </a:r>
            <a:endParaRPr lang="en-US" sz="3200" dirty="0"/>
          </a:p>
        </p:txBody>
      </p:sp>
      <p:sp>
        <p:nvSpPr>
          <p:cNvPr id="3" name="Text 1"/>
          <p:cNvSpPr/>
          <p:nvPr/>
        </p:nvSpPr>
        <p:spPr>
          <a:xfrm>
            <a:off x="812800" y="136143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3443D"/>
                </a:solidFill>
                <a:latin typeface="Inter" pitchFamily="34" charset="0"/>
                <a:ea typeface="Inter" pitchFamily="34" charset="-122"/>
                <a:cs typeface="Inter" pitchFamily="34" charset="-120"/>
              </a:rPr>
              <a:t>One message per candidate. The model keeps no memory, so all it knows is in here.</a:t>
            </a:r>
            <a:endParaRPr lang="en-US" sz="1500" dirty="0"/>
          </a:p>
        </p:txBody>
      </p:sp>
      <p:sp>
        <p:nvSpPr>
          <p:cNvPr id="4" name="Shape 2"/>
          <p:cNvSpPr/>
          <p:nvPr/>
        </p:nvSpPr>
        <p:spPr>
          <a:xfrm>
            <a:off x="815975" y="1732905"/>
            <a:ext cx="5962650" cy="3980507"/>
          </a:xfrm>
          <a:prstGeom prst="roundRect">
            <a:avLst>
              <a:gd name="adj" fmla="val 3111"/>
            </a:avLst>
          </a:prstGeom>
          <a:solidFill>
            <a:srgbClr val="FBF9F2"/>
          </a:solidFill>
          <a:ln w="6350">
            <a:solidFill>
              <a:srgbClr val="D9D3C1"/>
            </a:solidFill>
            <a:prstDash val="solid"/>
          </a:ln>
        </p:spPr>
      </p:sp>
      <p:sp>
        <p:nvSpPr>
          <p:cNvPr id="5" name="Shape 3"/>
          <p:cNvSpPr/>
          <p:nvPr/>
        </p:nvSpPr>
        <p:spPr>
          <a:xfrm>
            <a:off x="946150" y="1837680"/>
            <a:ext cx="5702300" cy="760413"/>
          </a:xfrm>
          <a:prstGeom prst="rect">
            <a:avLst/>
          </a:prstGeom>
          <a:solidFill>
            <a:srgbClr val="F3EFE4"/>
          </a:solidFill>
          <a:ln/>
        </p:spPr>
      </p:sp>
      <p:sp>
        <p:nvSpPr>
          <p:cNvPr id="6" name="Shape 4"/>
          <p:cNvSpPr/>
          <p:nvPr/>
        </p:nvSpPr>
        <p:spPr>
          <a:xfrm>
            <a:off x="965200" y="1837680"/>
            <a:ext cx="0" cy="760413"/>
          </a:xfrm>
          <a:prstGeom prst="line">
            <a:avLst/>
          </a:prstGeom>
          <a:noFill/>
          <a:ln w="38100">
            <a:solidFill>
              <a:srgbClr val="A85A14"/>
            </a:solidFill>
            <a:prstDash val="solid"/>
          </a:ln>
        </p:spPr>
      </p:sp>
      <p:sp>
        <p:nvSpPr>
          <p:cNvPr id="7" name="Text 5"/>
          <p:cNvSpPr/>
          <p:nvPr/>
        </p:nvSpPr>
        <p:spPr>
          <a:xfrm>
            <a:off x="1085850" y="1888480"/>
            <a:ext cx="562483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5A14"/>
                </a:solidFill>
                <a:latin typeface="Inter" pitchFamily="34" charset="0"/>
                <a:ea typeface="Inter" pitchFamily="34" charset="-122"/>
                <a:cs typeface="Inter" pitchFamily="34" charset="-120"/>
              </a:rPr>
              <a:t>1 THE TASK (from your config)</a:t>
            </a:r>
            <a:endParaRPr lang="en-US" sz="1200" dirty="0"/>
          </a:p>
        </p:txBody>
      </p:sp>
      <p:sp>
        <p:nvSpPr>
          <p:cNvPr id="8" name="Text 6"/>
          <p:cNvSpPr/>
          <p:nvPr/>
        </p:nvSpPr>
        <p:spPr>
          <a:xfrm>
            <a:off x="1085850" y="2114500"/>
            <a:ext cx="5624830" cy="458192"/>
          </a:xfrm>
          <a:prstGeom prst="rect">
            <a:avLst/>
          </a:prstGeom>
          <a:noFill/>
          <a:ln/>
        </p:spPr>
        <p:txBody>
          <a:bodyPr wrap="square" lIns="0" tIns="0" rIns="0" bIns="0" rtlCol="0" anchor="t">
            <a:normAutofit/>
          </a:bodyPr>
          <a:lstStyle/>
          <a:p>
            <a:pPr algn="l" indent="0" marL="0">
              <a:lnSpc>
                <a:spcPts val="1704"/>
              </a:lnSpc>
              <a:buNone/>
            </a:pPr>
            <a:r>
              <a:rPr lang="en-US" sz="1200" dirty="0">
                <a:solidFill>
                  <a:srgbClr val="16241F"/>
                </a:solidFill>
                <a:latin typeface="Inter" pitchFamily="34" charset="0"/>
                <a:ea typeface="Inter" pitchFamily="34" charset="-122"/>
                <a:cs typeface="Inter" pitchFamily="34" charset="-120"/>
              </a:rPr>
              <a:t>Place 8 parts on a 50×50 mm board. Rules: inside the board, no overlaps. Goals: short wires, crystal and caps by the MCU.</a:t>
            </a:r>
            <a:endParaRPr lang="en-US" sz="1200" dirty="0"/>
          </a:p>
        </p:txBody>
      </p:sp>
      <p:sp>
        <p:nvSpPr>
          <p:cNvPr id="9" name="Shape 7"/>
          <p:cNvSpPr/>
          <p:nvPr/>
        </p:nvSpPr>
        <p:spPr>
          <a:xfrm>
            <a:off x="946150" y="2661593"/>
            <a:ext cx="5702300" cy="935583"/>
          </a:xfrm>
          <a:prstGeom prst="rect">
            <a:avLst/>
          </a:prstGeom>
          <a:solidFill>
            <a:srgbClr val="F3EFE4"/>
          </a:solidFill>
          <a:ln/>
        </p:spPr>
      </p:sp>
      <p:sp>
        <p:nvSpPr>
          <p:cNvPr id="10" name="Shape 8"/>
          <p:cNvSpPr/>
          <p:nvPr/>
        </p:nvSpPr>
        <p:spPr>
          <a:xfrm>
            <a:off x="965200" y="2661593"/>
            <a:ext cx="0" cy="935583"/>
          </a:xfrm>
          <a:prstGeom prst="line">
            <a:avLst/>
          </a:prstGeom>
          <a:noFill/>
          <a:ln w="38100">
            <a:solidFill>
              <a:srgbClr val="185FA5"/>
            </a:solidFill>
            <a:prstDash val="solid"/>
          </a:ln>
        </p:spPr>
      </p:sp>
      <p:sp>
        <p:nvSpPr>
          <p:cNvPr id="11" name="Text 9"/>
          <p:cNvSpPr/>
          <p:nvPr/>
        </p:nvSpPr>
        <p:spPr>
          <a:xfrm>
            <a:off x="1085850" y="2712393"/>
            <a:ext cx="562483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85FA5"/>
                </a:solidFill>
                <a:latin typeface="Inter" pitchFamily="34" charset="0"/>
                <a:ea typeface="Inter" pitchFamily="34" charset="-122"/>
                <a:cs typeface="Inter" pitchFamily="34" charset="-120"/>
              </a:rPr>
              <a:t>2 THE PARENT PROGRAM</a:t>
            </a:r>
            <a:endParaRPr lang="en-US" sz="1200" dirty="0"/>
          </a:p>
        </p:txBody>
      </p:sp>
      <p:sp>
        <p:nvSpPr>
          <p:cNvPr id="12" name="Text 10"/>
          <p:cNvSpPr/>
          <p:nvPr/>
        </p:nvSpPr>
        <p:spPr>
          <a:xfrm>
            <a:off x="1085850" y="2938413"/>
            <a:ext cx="5624830" cy="633363"/>
          </a:xfrm>
          <a:prstGeom prst="rect">
            <a:avLst/>
          </a:prstGeom>
          <a:noFill/>
          <a:ln/>
        </p:spPr>
        <p:txBody>
          <a:bodyPr wrap="none" lIns="0" tIns="0" rIns="0" bIns="0" rtlCol="0" anchor="t">
            <a:normAutofit/>
          </a:bodyPr>
          <a:lstStyle/>
          <a:p>
            <a:pPr algn="l" indent="0" marL="0">
              <a:lnSpc>
                <a:spcPts val="1596"/>
              </a:lnSpc>
              <a:buNone/>
            </a:pPr>
            <a:r>
              <a:rPr lang="en-US" sz="1200" dirty="0">
                <a:solidFill>
                  <a:srgbClr val="16241F"/>
                </a:solidFill>
                <a:latin typeface="IBM Plex Mono" pitchFamily="49" charset="0"/>
                <a:ea typeface="IBM Plex Mono" pitchFamily="49" charset="-122"/>
                <a:cs typeface="IBM Plex Mono" pitchFamily="49" charset="-120"/>
              </a:rPr>
              <a:t>def place(seed=0):</a:t>
            </a:r>
            <a:endParaRPr lang="en-US" sz="1200" dirty="0"/>
          </a:p>
          <a:p>
            <a:pPr algn="l" indent="0" marL="0">
              <a:lnSpc>
                <a:spcPts val="1596"/>
              </a:lnSpc>
              <a:buNone/>
            </a:pPr>
            <a:r>
              <a:rPr lang="en-US" sz="1200" dirty="0">
                <a:solidFill>
                  <a:srgbClr val="16241F"/>
                </a:solidFill>
                <a:latin typeface="IBM Plex Mono" pitchFamily="49" charset="0"/>
                <a:ea typeface="IBM Plex Mono" pitchFamily="49" charset="-122"/>
                <a:cs typeface="IBM Plex Mono" pitchFamily="49" charset="-120"/>
              </a:rPr>
              <a:t>    pos = {"MCU": (25.0, 25.0)}</a:t>
            </a:r>
            <a:endParaRPr lang="en-US" sz="1200" dirty="0"/>
          </a:p>
          <a:p>
            <a:pPr algn="l" indent="0" marL="0">
              <a:lnSpc>
                <a:spcPts val="1596"/>
              </a:lnSpc>
              <a:buNone/>
            </a:pPr>
            <a:r>
              <a:rPr lang="en-US" sz="1200" dirty="0">
                <a:solidFill>
                  <a:srgbClr val="16241F"/>
                </a:solidFill>
                <a:latin typeface="IBM Plex Mono" pitchFamily="49" charset="0"/>
                <a:ea typeface="IBM Plex Mono" pitchFamily="49" charset="-122"/>
                <a:cs typeface="IBM Plex Mono" pitchFamily="49" charset="-120"/>
              </a:rPr>
              <a:t>    ...grid search for each part...</a:t>
            </a:r>
            <a:endParaRPr lang="en-US" sz="1200" dirty="0"/>
          </a:p>
        </p:txBody>
      </p:sp>
      <p:sp>
        <p:nvSpPr>
          <p:cNvPr id="13" name="Shape 11"/>
          <p:cNvSpPr/>
          <p:nvPr/>
        </p:nvSpPr>
        <p:spPr>
          <a:xfrm>
            <a:off x="946150" y="3660676"/>
            <a:ext cx="5702300" cy="732929"/>
          </a:xfrm>
          <a:prstGeom prst="rect">
            <a:avLst/>
          </a:prstGeom>
          <a:solidFill>
            <a:srgbClr val="F3EFE4"/>
          </a:solidFill>
          <a:ln/>
        </p:spPr>
      </p:sp>
      <p:sp>
        <p:nvSpPr>
          <p:cNvPr id="14" name="Shape 12"/>
          <p:cNvSpPr/>
          <p:nvPr/>
        </p:nvSpPr>
        <p:spPr>
          <a:xfrm>
            <a:off x="965200" y="3660676"/>
            <a:ext cx="0" cy="732929"/>
          </a:xfrm>
          <a:prstGeom prst="line">
            <a:avLst/>
          </a:prstGeom>
          <a:noFill/>
          <a:ln w="38100">
            <a:solidFill>
              <a:srgbClr val="0F6E56"/>
            </a:solidFill>
            <a:prstDash val="solid"/>
          </a:ln>
        </p:spPr>
      </p:sp>
      <p:sp>
        <p:nvSpPr>
          <p:cNvPr id="15" name="Text 13"/>
          <p:cNvSpPr/>
          <p:nvPr/>
        </p:nvSpPr>
        <p:spPr>
          <a:xfrm>
            <a:off x="1085850" y="3711476"/>
            <a:ext cx="562483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6E56"/>
                </a:solidFill>
                <a:latin typeface="Inter" pitchFamily="34" charset="0"/>
                <a:ea typeface="Inter" pitchFamily="34" charset="-122"/>
                <a:cs typeface="Inter" pitchFamily="34" charset="-120"/>
              </a:rPr>
              <a:t>3 THE PARENT'S SCORES (from evaluate)</a:t>
            </a:r>
            <a:endParaRPr lang="en-US" sz="1200" dirty="0"/>
          </a:p>
        </p:txBody>
      </p:sp>
      <p:sp>
        <p:nvSpPr>
          <p:cNvPr id="16" name="Text 14"/>
          <p:cNvSpPr/>
          <p:nvPr/>
        </p:nvSpPr>
        <p:spPr>
          <a:xfrm>
            <a:off x="1085850" y="3937496"/>
            <a:ext cx="5624830" cy="430709"/>
          </a:xfrm>
          <a:prstGeom prst="rect">
            <a:avLst/>
          </a:prstGeom>
          <a:noFill/>
          <a:ln/>
        </p:spPr>
        <p:txBody>
          <a:bodyPr wrap="none" lIns="0" tIns="0" rIns="0" bIns="0" rtlCol="0" anchor="t">
            <a:normAutofit/>
          </a:bodyPr>
          <a:lstStyle/>
          <a:p>
            <a:pPr algn="l" indent="0" marL="0">
              <a:lnSpc>
                <a:spcPts val="1596"/>
              </a:lnSpc>
              <a:buNone/>
            </a:pPr>
            <a:r>
              <a:rPr lang="en-US" sz="1200" dirty="0">
                <a:solidFill>
                  <a:srgbClr val="16241F"/>
                </a:solidFill>
                <a:latin typeface="IBM Plex Mono" pitchFamily="49" charset="0"/>
                <a:ea typeface="IBM Plex Mono" pitchFamily="49" charset="-122"/>
                <a:cs typeface="IBM Plex Mono" pitchFamily="49" charset="-120"/>
              </a:rPr>
              <a:t>combined_score 0.243 · wirelength 50.0</a:t>
            </a:r>
            <a:endParaRPr lang="en-US" sz="1200" dirty="0"/>
          </a:p>
          <a:p>
            <a:pPr algn="l" indent="0" marL="0">
              <a:lnSpc>
                <a:spcPts val="1596"/>
              </a:lnSpc>
              <a:buNone/>
            </a:pPr>
            <a:r>
              <a:rPr lang="en-US" sz="1200" dirty="0">
                <a:solidFill>
                  <a:srgbClr val="16241F"/>
                </a:solidFill>
                <a:latin typeface="IBM Plex Mono" pitchFamily="49" charset="0"/>
                <a:ea typeface="IBM Plex Mono" pitchFamily="49" charset="-122"/>
                <a:cs typeface="IBM Plex Mono" pitchFamily="49" charset="-120"/>
              </a:rPr>
              <a:t>xtal_dist 6.0 · decap_dist 5.0 · ldo_to_xtal 10.0</a:t>
            </a:r>
            <a:endParaRPr lang="en-US" sz="1200" dirty="0"/>
          </a:p>
        </p:txBody>
      </p:sp>
      <p:sp>
        <p:nvSpPr>
          <p:cNvPr id="17" name="Shape 15"/>
          <p:cNvSpPr/>
          <p:nvPr/>
        </p:nvSpPr>
        <p:spPr>
          <a:xfrm>
            <a:off x="946150" y="4457105"/>
            <a:ext cx="5702300" cy="544016"/>
          </a:xfrm>
          <a:prstGeom prst="rect">
            <a:avLst/>
          </a:prstGeom>
          <a:solidFill>
            <a:srgbClr val="F3EFE4"/>
          </a:solidFill>
          <a:ln/>
        </p:spPr>
      </p:sp>
      <p:sp>
        <p:nvSpPr>
          <p:cNvPr id="18" name="Shape 16"/>
          <p:cNvSpPr/>
          <p:nvPr/>
        </p:nvSpPr>
        <p:spPr>
          <a:xfrm>
            <a:off x="965200" y="4457105"/>
            <a:ext cx="0" cy="544016"/>
          </a:xfrm>
          <a:prstGeom prst="line">
            <a:avLst/>
          </a:prstGeom>
          <a:noFill/>
          <a:ln w="38100">
            <a:solidFill>
              <a:srgbClr val="534AB7"/>
            </a:solidFill>
            <a:prstDash val="solid"/>
          </a:ln>
        </p:spPr>
      </p:sp>
      <p:sp>
        <p:nvSpPr>
          <p:cNvPr id="19" name="Text 17"/>
          <p:cNvSpPr/>
          <p:nvPr/>
        </p:nvSpPr>
        <p:spPr>
          <a:xfrm>
            <a:off x="1085850" y="4507905"/>
            <a:ext cx="562483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34AB7"/>
                </a:solidFill>
                <a:latin typeface="Inter" pitchFamily="34" charset="0"/>
                <a:ea typeface="Inter" pitchFamily="34" charset="-122"/>
                <a:cs typeface="Inter" pitchFamily="34" charset="-120"/>
              </a:rPr>
              <a:t>4 OTHER GOOD PROGRAMS</a:t>
            </a:r>
            <a:endParaRPr lang="en-US" sz="1200" dirty="0"/>
          </a:p>
        </p:txBody>
      </p:sp>
      <p:sp>
        <p:nvSpPr>
          <p:cNvPr id="20" name="Text 18"/>
          <p:cNvSpPr/>
          <p:nvPr/>
        </p:nvSpPr>
        <p:spPr>
          <a:xfrm>
            <a:off x="1085850" y="4733925"/>
            <a:ext cx="5624830" cy="241796"/>
          </a:xfrm>
          <a:prstGeom prst="rect">
            <a:avLst/>
          </a:prstGeom>
          <a:noFill/>
          <a:ln/>
        </p:spPr>
        <p:txBody>
          <a:bodyPr wrap="square" lIns="0" tIns="0" rIns="0" bIns="0" rtlCol="0" anchor="t">
            <a:normAutofit/>
          </a:bodyPr>
          <a:lstStyle/>
          <a:p>
            <a:pPr algn="l" indent="0" marL="0">
              <a:lnSpc>
                <a:spcPts val="1704"/>
              </a:lnSpc>
              <a:buNone/>
            </a:pPr>
            <a:r>
              <a:rPr lang="en-US" sz="1200" dirty="0">
                <a:solidFill>
                  <a:srgbClr val="16241F"/>
                </a:solidFill>
                <a:latin typeface="Inter" pitchFamily="34" charset="0"/>
                <a:ea typeface="Inter" pitchFamily="34" charset="-122"/>
                <a:cs typeface="Inter" pitchFamily="34" charset="-120"/>
              </a:rPr>
              <a:t>A few top-scoring programs, with their scores.</a:t>
            </a:r>
            <a:endParaRPr lang="en-US" sz="1200" dirty="0"/>
          </a:p>
        </p:txBody>
      </p:sp>
      <p:sp>
        <p:nvSpPr>
          <p:cNvPr id="21" name="Shape 19"/>
          <p:cNvSpPr/>
          <p:nvPr/>
        </p:nvSpPr>
        <p:spPr>
          <a:xfrm>
            <a:off x="946150" y="5064621"/>
            <a:ext cx="5702300" cy="544016"/>
          </a:xfrm>
          <a:prstGeom prst="rect">
            <a:avLst/>
          </a:prstGeom>
          <a:solidFill>
            <a:srgbClr val="F3EFE4"/>
          </a:solidFill>
          <a:ln/>
        </p:spPr>
      </p:sp>
      <p:sp>
        <p:nvSpPr>
          <p:cNvPr id="22" name="Shape 20"/>
          <p:cNvSpPr/>
          <p:nvPr/>
        </p:nvSpPr>
        <p:spPr>
          <a:xfrm>
            <a:off x="965200" y="5064621"/>
            <a:ext cx="0" cy="544016"/>
          </a:xfrm>
          <a:prstGeom prst="line">
            <a:avLst/>
          </a:prstGeom>
          <a:noFill/>
          <a:ln w="38100">
            <a:solidFill>
              <a:srgbClr val="993C1D"/>
            </a:solidFill>
            <a:prstDash val="solid"/>
          </a:ln>
        </p:spPr>
      </p:sp>
      <p:sp>
        <p:nvSpPr>
          <p:cNvPr id="23" name="Text 21"/>
          <p:cNvSpPr/>
          <p:nvPr/>
        </p:nvSpPr>
        <p:spPr>
          <a:xfrm>
            <a:off x="1085850" y="5115421"/>
            <a:ext cx="562483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93C1D"/>
                </a:solidFill>
                <a:latin typeface="Inter" pitchFamily="34" charset="0"/>
                <a:ea typeface="Inter" pitchFamily="34" charset="-122"/>
                <a:cs typeface="Inter" pitchFamily="34" charset="-120"/>
              </a:rPr>
              <a:t>5 THE REQUEST</a:t>
            </a:r>
            <a:endParaRPr lang="en-US" sz="1200" dirty="0"/>
          </a:p>
        </p:txBody>
      </p:sp>
      <p:sp>
        <p:nvSpPr>
          <p:cNvPr id="24" name="Text 22"/>
          <p:cNvSpPr/>
          <p:nvPr/>
        </p:nvSpPr>
        <p:spPr>
          <a:xfrm>
            <a:off x="1085850" y="5341441"/>
            <a:ext cx="5624830" cy="241796"/>
          </a:xfrm>
          <a:prstGeom prst="rect">
            <a:avLst/>
          </a:prstGeom>
          <a:noFill/>
          <a:ln/>
        </p:spPr>
        <p:txBody>
          <a:bodyPr wrap="square" lIns="0" tIns="0" rIns="0" bIns="0" rtlCol="0" anchor="t">
            <a:normAutofit/>
          </a:bodyPr>
          <a:lstStyle/>
          <a:p>
            <a:pPr algn="l" indent="0" marL="0">
              <a:lnSpc>
                <a:spcPts val="1704"/>
              </a:lnSpc>
              <a:buNone/>
            </a:pPr>
            <a:r>
              <a:rPr lang="en-US" sz="1200" dirty="0">
                <a:solidFill>
                  <a:srgbClr val="16241F"/>
                </a:solidFill>
                <a:latin typeface="Inter" pitchFamily="34" charset="0"/>
                <a:ea typeface="Inter" pitchFamily="34" charset="-122"/>
                <a:cs typeface="Inter" pitchFamily="34" charset="-120"/>
              </a:rPr>
              <a:t>Improve the score. Edit only the EVOLVE-BLOCK region.</a:t>
            </a:r>
            <a:endParaRPr lang="en-US" sz="1200" dirty="0"/>
          </a:p>
        </p:txBody>
      </p:sp>
      <p:pic>
        <p:nvPicPr>
          <p:cNvPr id="25" name="Image 0" descr="arrow-right">    </p:cNvPr>
          <p:cNvPicPr>
            <a:picLocks noChangeAspect="1"/>
          </p:cNvPicPr>
          <p:nvPr/>
        </p:nvPicPr>
        <p:blipFill>
          <a:blip r:embed="rId1"/>
          <a:srcRect l="0" r="0" t="0" b="0"/>
          <a:stretch/>
        </p:blipFill>
        <p:spPr>
          <a:xfrm>
            <a:off x="6934200" y="3608834"/>
            <a:ext cx="406400" cy="228600"/>
          </a:xfrm>
          <a:prstGeom prst="rect">
            <a:avLst/>
          </a:prstGeom>
        </p:spPr>
      </p:pic>
      <p:sp>
        <p:nvSpPr>
          <p:cNvPr id="26" name="Text 23"/>
          <p:cNvSpPr/>
          <p:nvPr/>
        </p:nvSpPr>
        <p:spPr>
          <a:xfrm>
            <a:off x="7493000" y="2101949"/>
            <a:ext cx="4002786" cy="240010"/>
          </a:xfrm>
          <a:prstGeom prst="rect">
            <a:avLst/>
          </a:prstGeom>
          <a:noFill/>
          <a:ln/>
        </p:spPr>
        <p:txBody>
          <a:bodyPr wrap="square" lIns="0" tIns="0" rIns="0" bIns="0" rtlCol="0" anchor="t">
            <a:normAutofit/>
          </a:bodyPr>
          <a:lstStyle/>
          <a:p>
            <a:pPr algn="l" indent="0" marL="0">
              <a:lnSpc>
                <a:spcPts val="1690"/>
              </a:lnSpc>
              <a:buNone/>
            </a:pPr>
            <a:r>
              <a:rPr lang="en-US" sz="1300" b="1" spc="100" kern="0" dirty="0">
                <a:solidFill>
                  <a:srgbClr val="A85A14"/>
                </a:solidFill>
                <a:latin typeface="Inter" pitchFamily="34" charset="0"/>
                <a:ea typeface="Inter" pitchFamily="34" charset="-122"/>
                <a:cs typeface="Inter" pitchFamily="34" charset="-120"/>
              </a:rPr>
              <a:t>WHAT COMES BACK</a:t>
            </a:r>
            <a:endParaRPr lang="en-US" sz="1300" dirty="0"/>
          </a:p>
        </p:txBody>
      </p:sp>
      <p:sp>
        <p:nvSpPr>
          <p:cNvPr id="27" name="Text 24"/>
          <p:cNvSpPr/>
          <p:nvPr/>
        </p:nvSpPr>
        <p:spPr>
          <a:xfrm>
            <a:off x="7493000" y="2418159"/>
            <a:ext cx="3886200" cy="2077889"/>
          </a:xfrm>
          <a:prstGeom prst="roundRect">
            <a:avLst>
              <a:gd name="adj" fmla="val 4890"/>
            </a:avLst>
          </a:prstGeom>
          <a:solidFill>
            <a:srgbClr val="0E2A24"/>
          </a:solidFill>
          <a:ln/>
        </p:spPr>
        <p:txBody>
          <a:bodyPr wrap="none" lIns="122642" tIns="97242" rIns="15200" bIns="71842" rtlCol="0" anchor="t">
            <a:normAutofit/>
          </a:bodyPr>
          <a:lstStyle/>
          <a:p>
            <a:pPr algn="l" indent="0" marL="0">
              <a:lnSpc>
                <a:spcPts val="1596"/>
              </a:lnSpc>
              <a:buNone/>
            </a:pPr>
            <a:r>
              <a:rPr lang="en-US" sz="1200" dirty="0">
                <a:solidFill>
                  <a:srgbClr val="FF8A78"/>
                </a:solidFill>
                <a:latin typeface="IBM Plex Mono" pitchFamily="49" charset="0"/>
                <a:ea typeface="IBM Plex Mono" pitchFamily="49" charset="-122"/>
                <a:cs typeface="IBM Plex Mono" pitchFamily="49" charset="-120"/>
              </a:rPr>
              <a:t>- pos = {"MCU": (25.0, 25.0)}</a:t>
            </a:r>
            <a:endParaRPr lang="en-US" sz="1200" dirty="0"/>
          </a:p>
          <a:p>
            <a:pPr algn="l" indent="0" marL="0">
              <a:lnSpc>
                <a:spcPts val="1596"/>
              </a:lnSpc>
              <a:buNone/>
            </a:pPr>
            <a:r>
              <a:rPr lang="en-US" sz="1200" dirty="0">
                <a:solidFill>
                  <a:srgbClr val="FF8A78"/>
                </a:solidFill>
                <a:latin typeface="IBM Plex Mono" pitchFamily="49" charset="0"/>
                <a:ea typeface="IBM Plex Mono" pitchFamily="49" charset="-122"/>
                <a:cs typeface="IBM Plex Mono" pitchFamily="49" charset="-120"/>
              </a:rPr>
              <a:t>- for n in [...]:</a:t>
            </a:r>
            <a:endParaRPr lang="en-US" sz="1200" dirty="0"/>
          </a:p>
          <a:p>
            <a:pPr algn="l" indent="0" marL="0">
              <a:lnSpc>
                <a:spcPts val="1596"/>
              </a:lnSpc>
              <a:buNone/>
            </a:pPr>
            <a:r>
              <a:rPr lang="en-US" sz="1200" dirty="0">
                <a:solidFill>
                  <a:srgbClr val="FF8A78"/>
                </a:solidFill>
                <a:latin typeface="IBM Plex Mono" pitchFamily="49" charset="0"/>
                <a:ea typeface="IBM Plex Mono" pitchFamily="49" charset="-122"/>
                <a:cs typeface="IBM Plex Mono" pitchFamily="49" charset="-120"/>
              </a:rPr>
              <a:t>-    ...grid search...</a:t>
            </a:r>
            <a:endParaRPr lang="en-US" sz="1200" dirty="0"/>
          </a:p>
          <a:p>
            <a:pPr algn="l" indent="0" marL="0">
              <a:lnSpc>
                <a:spcPts val="1596"/>
              </a:lnSpc>
              <a:buNone/>
            </a:pPr>
            <a:r>
              <a:rPr lang="en-US" sz="1200" dirty="0">
                <a:solidFill>
                  <a:srgbClr val="7FD1A0"/>
                </a:solidFill>
                <a:latin typeface="IBM Plex Mono" pitchFamily="49" charset="0"/>
                <a:ea typeface="IBM Plex Mono" pitchFamily="49" charset="-122"/>
                <a:cs typeface="IBM Plex Mono" pitchFamily="49" charset="-120"/>
              </a:rPr>
              <a:t>+ pos = greedy()</a:t>
            </a:r>
            <a:endParaRPr lang="en-US" sz="1200" dirty="0"/>
          </a:p>
          <a:p>
            <a:pPr algn="l" indent="0" marL="0">
              <a:lnSpc>
                <a:spcPts val="1596"/>
              </a:lnSpc>
              <a:buNone/>
            </a:pPr>
            <a:r>
              <a:rPr lang="en-US" sz="1200" dirty="0">
                <a:solidFill>
                  <a:srgbClr val="7FD1A0"/>
                </a:solidFill>
                <a:latin typeface="IBM Plex Mono" pitchFamily="49" charset="0"/>
                <a:ea typeface="IBM Plex Mono" pitchFamily="49" charset="-122"/>
                <a:cs typeface="IBM Plex Mono" pitchFamily="49" charset="-120"/>
              </a:rPr>
              <a:t>+ cur = cost(pos)</a:t>
            </a:r>
            <a:endParaRPr lang="en-US" sz="1200" dirty="0"/>
          </a:p>
          <a:p>
            <a:pPr algn="l" indent="0" marL="0">
              <a:lnSpc>
                <a:spcPts val="1596"/>
              </a:lnSpc>
              <a:buNone/>
            </a:pPr>
            <a:r>
              <a:rPr lang="en-US" sz="1200" dirty="0">
                <a:solidFill>
                  <a:srgbClr val="7FD1A0"/>
                </a:solidFill>
                <a:latin typeface="IBM Plex Mono" pitchFamily="49" charset="0"/>
                <a:ea typeface="IBM Plex Mono" pitchFamily="49" charset="-122"/>
                <a:cs typeface="IBM Plex Mono" pitchFamily="49" charset="-120"/>
              </a:rPr>
              <a:t>+ for step in range(6000):</a:t>
            </a:r>
            <a:endParaRPr lang="en-US" sz="1200" dirty="0"/>
          </a:p>
          <a:p>
            <a:pPr algn="l" indent="0" marL="0">
              <a:lnSpc>
                <a:spcPts val="1596"/>
              </a:lnSpc>
              <a:buNone/>
            </a:pPr>
            <a:r>
              <a:rPr lang="en-US" sz="1200" dirty="0">
                <a:solidFill>
                  <a:srgbClr val="7FD1A0"/>
                </a:solidFill>
                <a:latin typeface="IBM Plex Mono" pitchFamily="49" charset="0"/>
                <a:ea typeface="IBM Plex Mono" pitchFamily="49" charset="-122"/>
                <a:cs typeface="IBM Plex Mono" pitchFamily="49" charset="-120"/>
              </a:rPr>
              <a:t>+    t = 6.0 * 0.01 ** (step / 6000)</a:t>
            </a:r>
            <a:endParaRPr lang="en-US" sz="1200" dirty="0"/>
          </a:p>
          <a:p>
            <a:pPr algn="l" indent="0" marL="0">
              <a:lnSpc>
                <a:spcPts val="1596"/>
              </a:lnSpc>
              <a:buNone/>
            </a:pPr>
            <a:r>
              <a:rPr lang="en-US" sz="1200" dirty="0">
                <a:solidFill>
                  <a:srgbClr val="7FD1A0"/>
                </a:solidFill>
                <a:latin typeface="IBM Plex Mono" pitchFamily="49" charset="0"/>
                <a:ea typeface="IBM Plex Mono" pitchFamily="49" charset="-122"/>
                <a:cs typeface="IBM Plex Mono" pitchFamily="49" charset="-120"/>
              </a:rPr>
              <a:t>+    pos[n] = nudge(old, n, rng)</a:t>
            </a:r>
            <a:endParaRPr lang="en-US" sz="1200" dirty="0"/>
          </a:p>
          <a:p>
            <a:pPr algn="l" indent="0" marL="0">
              <a:lnSpc>
                <a:spcPts val="1596"/>
              </a:lnSpc>
              <a:buNone/>
            </a:pPr>
            <a:r>
              <a:rPr lang="en-US" sz="1200" dirty="0">
                <a:solidFill>
                  <a:srgbClr val="7FD1A0"/>
                </a:solidFill>
                <a:latin typeface="IBM Plex Mono" pitchFamily="49" charset="0"/>
                <a:ea typeface="IBM Plex Mono" pitchFamily="49" charset="-122"/>
                <a:cs typeface="IBM Plex Mono" pitchFamily="49" charset="-120"/>
              </a:rPr>
              <a:t>+    ...</a:t>
            </a:r>
            <a:endParaRPr lang="en-US" sz="1200" dirty="0"/>
          </a:p>
        </p:txBody>
      </p:sp>
      <p:sp>
        <p:nvSpPr>
          <p:cNvPr id="28" name="Text 25"/>
          <p:cNvSpPr/>
          <p:nvPr/>
        </p:nvSpPr>
        <p:spPr>
          <a:xfrm>
            <a:off x="7493000" y="4597648"/>
            <a:ext cx="4002786"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3443D"/>
                </a:solidFill>
                <a:latin typeface="Inter" pitchFamily="34" charset="0"/>
                <a:ea typeface="Inter" pitchFamily="34" charset="-122"/>
                <a:cs typeface="Inter" pitchFamily="34" charset="-120"/>
              </a:rPr>
              <a:t>The framework applies the edit, saves a new file, and calls evaluate() on it. The model itself never changes.</a:t>
            </a:r>
            <a:endParaRPr lang="en-US" sz="1400" dirty="0"/>
          </a:p>
        </p:txBody>
      </p:sp>
      <p:sp>
        <p:nvSpPr>
          <p:cNvPr id="29" name="Text 26"/>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B64"/>
                </a:solidFill>
                <a:latin typeface="Inter" pitchFamily="34" charset="0"/>
                <a:ea typeface="Inter" pitchFamily="34" charset="-122"/>
                <a:cs typeface="Inter" pitchFamily="34" charset="-120"/>
              </a:rPr>
              <a:t>PCB placement with AlphaEvolve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EFE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2A24"/>
                </a:solidFill>
                <a:latin typeface="Space Grotesk" pitchFamily="34" charset="0"/>
                <a:ea typeface="Space Grotesk" pitchFamily="34" charset="-122"/>
                <a:cs typeface="Space Grotesk" pitchFamily="34" charset="-120"/>
              </a:rPr>
              <a:t>The evaluator</a:t>
            </a:r>
            <a:endParaRPr lang="en-US" sz="3200" dirty="0"/>
          </a:p>
        </p:txBody>
      </p:sp>
      <p:sp>
        <p:nvSpPr>
          <p:cNvPr id="3" name="Shape 1"/>
          <p:cNvSpPr/>
          <p:nvPr/>
        </p:nvSpPr>
        <p:spPr>
          <a:xfrm>
            <a:off x="815975" y="1542405"/>
            <a:ext cx="2520950" cy="1471811"/>
          </a:xfrm>
          <a:prstGeom prst="roundRect">
            <a:avLst>
              <a:gd name="adj" fmla="val 8413"/>
            </a:avLst>
          </a:prstGeom>
          <a:solidFill>
            <a:srgbClr val="FBF9F2"/>
          </a:solidFill>
          <a:ln w="6350">
            <a:solidFill>
              <a:srgbClr val="D9D3C1"/>
            </a:solidFill>
            <a:prstDash val="solid"/>
          </a:ln>
        </p:spPr>
      </p:sp>
      <p:sp>
        <p:nvSpPr>
          <p:cNvPr id="4" name="Text 2"/>
          <p:cNvSpPr/>
          <p:nvPr/>
        </p:nvSpPr>
        <p:spPr>
          <a:xfrm>
            <a:off x="1022350" y="1748780"/>
            <a:ext cx="217144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85A14"/>
                </a:solidFill>
                <a:latin typeface="Inter" pitchFamily="34" charset="0"/>
                <a:ea typeface="Inter" pitchFamily="34" charset="-122"/>
                <a:cs typeface="Inter" pitchFamily="34" charset="-120"/>
              </a:rPr>
              <a:t>1 Run</a:t>
            </a:r>
            <a:endParaRPr lang="en-US" sz="1400" dirty="0"/>
          </a:p>
        </p:txBody>
      </p:sp>
      <p:sp>
        <p:nvSpPr>
          <p:cNvPr id="5" name="Text 3"/>
          <p:cNvSpPr/>
          <p:nvPr/>
        </p:nvSpPr>
        <p:spPr>
          <a:xfrm>
            <a:off x="1022350" y="2061170"/>
            <a:ext cx="217144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41F"/>
                </a:solidFill>
                <a:latin typeface="Inter" pitchFamily="34" charset="0"/>
                <a:ea typeface="Inter" pitchFamily="34" charset="-122"/>
                <a:cs typeface="Inter" pitchFamily="34" charset="-120"/>
              </a:rPr>
              <a:t>Call place() to get the positions.</a:t>
            </a:r>
            <a:endParaRPr lang="en-US" sz="1400" dirty="0"/>
          </a:p>
        </p:txBody>
      </p:sp>
      <p:sp>
        <p:nvSpPr>
          <p:cNvPr id="6" name="Shape 4"/>
          <p:cNvSpPr/>
          <p:nvPr/>
        </p:nvSpPr>
        <p:spPr>
          <a:xfrm>
            <a:off x="3495675" y="1542405"/>
            <a:ext cx="2520950" cy="1471811"/>
          </a:xfrm>
          <a:prstGeom prst="roundRect">
            <a:avLst>
              <a:gd name="adj" fmla="val 8413"/>
            </a:avLst>
          </a:prstGeom>
          <a:solidFill>
            <a:srgbClr val="FBF9F2"/>
          </a:solidFill>
          <a:ln w="6350">
            <a:solidFill>
              <a:srgbClr val="D9D3C1"/>
            </a:solidFill>
            <a:prstDash val="solid"/>
          </a:ln>
        </p:spPr>
      </p:sp>
      <p:sp>
        <p:nvSpPr>
          <p:cNvPr id="7" name="Text 5"/>
          <p:cNvSpPr/>
          <p:nvPr/>
        </p:nvSpPr>
        <p:spPr>
          <a:xfrm>
            <a:off x="3702050" y="1748780"/>
            <a:ext cx="217144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85A14"/>
                </a:solidFill>
                <a:latin typeface="Inter" pitchFamily="34" charset="0"/>
                <a:ea typeface="Inter" pitchFamily="34" charset="-122"/>
                <a:cs typeface="Inter" pitchFamily="34" charset="-120"/>
              </a:rPr>
              <a:t>2 Check rules</a:t>
            </a:r>
            <a:endParaRPr lang="en-US" sz="1400" dirty="0"/>
          </a:p>
        </p:txBody>
      </p:sp>
      <p:sp>
        <p:nvSpPr>
          <p:cNvPr id="8" name="Text 6"/>
          <p:cNvSpPr/>
          <p:nvPr/>
        </p:nvSpPr>
        <p:spPr>
          <a:xfrm>
            <a:off x="3702050" y="2061170"/>
            <a:ext cx="2171446"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41F"/>
                </a:solidFill>
                <a:latin typeface="Inter" pitchFamily="34" charset="0"/>
                <a:ea typeface="Inter" pitchFamily="34" charset="-122"/>
                <a:cs typeface="Inter" pitchFamily="34" charset="-120"/>
              </a:rPr>
              <a:t>Inside the board? Any overlaps? If broken, score 0.</a:t>
            </a:r>
            <a:endParaRPr lang="en-US" sz="1400" dirty="0"/>
          </a:p>
        </p:txBody>
      </p:sp>
      <p:sp>
        <p:nvSpPr>
          <p:cNvPr id="9" name="Shape 7"/>
          <p:cNvSpPr/>
          <p:nvPr/>
        </p:nvSpPr>
        <p:spPr>
          <a:xfrm>
            <a:off x="6175375" y="1542405"/>
            <a:ext cx="2520950" cy="1471811"/>
          </a:xfrm>
          <a:prstGeom prst="roundRect">
            <a:avLst>
              <a:gd name="adj" fmla="val 8413"/>
            </a:avLst>
          </a:prstGeom>
          <a:solidFill>
            <a:srgbClr val="FBF9F2"/>
          </a:solidFill>
          <a:ln w="6350">
            <a:solidFill>
              <a:srgbClr val="D9D3C1"/>
            </a:solidFill>
            <a:prstDash val="solid"/>
          </a:ln>
        </p:spPr>
      </p:sp>
      <p:sp>
        <p:nvSpPr>
          <p:cNvPr id="10" name="Text 8"/>
          <p:cNvSpPr/>
          <p:nvPr/>
        </p:nvSpPr>
        <p:spPr>
          <a:xfrm>
            <a:off x="6381750" y="1748780"/>
            <a:ext cx="217144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85A14"/>
                </a:solidFill>
                <a:latin typeface="Inter" pitchFamily="34" charset="0"/>
                <a:ea typeface="Inter" pitchFamily="34" charset="-122"/>
                <a:cs typeface="Inter" pitchFamily="34" charset="-120"/>
              </a:rPr>
              <a:t>3 Measure</a:t>
            </a:r>
            <a:endParaRPr lang="en-US" sz="1400" dirty="0"/>
          </a:p>
        </p:txBody>
      </p:sp>
      <p:sp>
        <p:nvSpPr>
          <p:cNvPr id="11" name="Text 9"/>
          <p:cNvSpPr/>
          <p:nvPr/>
        </p:nvSpPr>
        <p:spPr>
          <a:xfrm>
            <a:off x="6381750" y="2061170"/>
            <a:ext cx="217144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41F"/>
                </a:solidFill>
                <a:latin typeface="Inter" pitchFamily="34" charset="0"/>
                <a:ea typeface="Inter" pitchFamily="34" charset="-122"/>
                <a:cs typeface="Inter" pitchFamily="34" charset="-120"/>
              </a:rPr>
              <a:t>Wire length and the key distances.</a:t>
            </a:r>
            <a:endParaRPr lang="en-US" sz="1400" dirty="0"/>
          </a:p>
        </p:txBody>
      </p:sp>
      <p:sp>
        <p:nvSpPr>
          <p:cNvPr id="12" name="Shape 10"/>
          <p:cNvSpPr/>
          <p:nvPr/>
        </p:nvSpPr>
        <p:spPr>
          <a:xfrm>
            <a:off x="8855075" y="1542405"/>
            <a:ext cx="2520950" cy="1471811"/>
          </a:xfrm>
          <a:prstGeom prst="roundRect">
            <a:avLst>
              <a:gd name="adj" fmla="val 8413"/>
            </a:avLst>
          </a:prstGeom>
          <a:solidFill>
            <a:srgbClr val="FBF9F2"/>
          </a:solidFill>
          <a:ln w="6350">
            <a:solidFill>
              <a:srgbClr val="D9D3C1"/>
            </a:solidFill>
            <a:prstDash val="solid"/>
          </a:ln>
        </p:spPr>
      </p:sp>
      <p:sp>
        <p:nvSpPr>
          <p:cNvPr id="13" name="Text 11"/>
          <p:cNvSpPr/>
          <p:nvPr/>
        </p:nvSpPr>
        <p:spPr>
          <a:xfrm>
            <a:off x="9061450" y="1748780"/>
            <a:ext cx="217144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85A14"/>
                </a:solidFill>
                <a:latin typeface="Inter" pitchFamily="34" charset="0"/>
                <a:ea typeface="Inter" pitchFamily="34" charset="-122"/>
                <a:cs typeface="Inter" pitchFamily="34" charset="-120"/>
              </a:rPr>
              <a:t>4 Combine</a:t>
            </a:r>
            <a:endParaRPr lang="en-US" sz="1400" dirty="0"/>
          </a:p>
        </p:txBody>
      </p:sp>
      <p:sp>
        <p:nvSpPr>
          <p:cNvPr id="14" name="Text 12"/>
          <p:cNvSpPr/>
          <p:nvPr/>
        </p:nvSpPr>
        <p:spPr>
          <a:xfrm>
            <a:off x="9061450" y="2061170"/>
            <a:ext cx="217144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41F"/>
                </a:solidFill>
                <a:latin typeface="Inter" pitchFamily="34" charset="0"/>
                <a:ea typeface="Inter" pitchFamily="34" charset="-122"/>
                <a:cs typeface="Inter" pitchFamily="34" charset="-120"/>
              </a:rPr>
              <a:t>One number from 0 to 1. Higher is better.</a:t>
            </a:r>
            <a:endParaRPr lang="en-US" sz="1400" dirty="0"/>
          </a:p>
        </p:txBody>
      </p:sp>
      <p:sp>
        <p:nvSpPr>
          <p:cNvPr id="15" name="Shape 13"/>
          <p:cNvSpPr/>
          <p:nvPr/>
        </p:nvSpPr>
        <p:spPr>
          <a:xfrm>
            <a:off x="812800" y="3296791"/>
            <a:ext cx="10566400" cy="1399530"/>
          </a:xfrm>
          <a:prstGeom prst="roundRect">
            <a:avLst>
              <a:gd name="adj" fmla="val 9074"/>
            </a:avLst>
          </a:prstGeom>
          <a:solidFill>
            <a:srgbClr val="0E2A24"/>
          </a:solidFill>
          <a:ln/>
        </p:spPr>
      </p:sp>
      <p:sp>
        <p:nvSpPr>
          <p:cNvPr id="16" name="Text 14"/>
          <p:cNvSpPr/>
          <p:nvPr/>
        </p:nvSpPr>
        <p:spPr>
          <a:xfrm>
            <a:off x="1066800" y="3525391"/>
            <a:ext cx="1036015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8A25C"/>
                </a:solidFill>
                <a:latin typeface="Inter" pitchFamily="34" charset="0"/>
                <a:ea typeface="Inter" pitchFamily="34" charset="-122"/>
                <a:cs typeface="Inter" pitchFamily="34" charset="-120"/>
              </a:rPr>
              <a:t>THE SCORE</a:t>
            </a:r>
            <a:endParaRPr lang="en-US" sz="1300" dirty="0"/>
          </a:p>
        </p:txBody>
      </p:sp>
      <p:sp>
        <p:nvSpPr>
          <p:cNvPr id="17" name="Text 15"/>
          <p:cNvSpPr/>
          <p:nvPr/>
        </p:nvSpPr>
        <p:spPr>
          <a:xfrm>
            <a:off x="1066800" y="3845421"/>
            <a:ext cx="10360152"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EFE9DA"/>
                </a:solidFill>
                <a:latin typeface="IBM Plex Mono" pitchFamily="49" charset="0"/>
                <a:ea typeface="IBM Plex Mono" pitchFamily="49" charset="-122"/>
                <a:cs typeface="IBM Plex Mono" pitchFamily="49" charset="-120"/>
              </a:rPr>
              <a:t>cost = wire + 3*crystal + 3*caps - 0.5*min(regulator, 20)</a:t>
            </a:r>
            <a:endParaRPr lang="en-US" sz="1400" dirty="0"/>
          </a:p>
        </p:txBody>
      </p:sp>
      <p:sp>
        <p:nvSpPr>
          <p:cNvPr id="18" name="Text 16"/>
          <p:cNvSpPr/>
          <p:nvPr/>
        </p:nvSpPr>
        <p:spPr>
          <a:xfrm>
            <a:off x="1066800" y="4201021"/>
            <a:ext cx="10360152"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EFE9DA"/>
                </a:solidFill>
                <a:latin typeface="IBM Plex Mono" pitchFamily="49" charset="0"/>
                <a:ea typeface="IBM Plex Mono" pitchFamily="49" charset="-122"/>
                <a:cs typeface="IBM Plex Mono" pitchFamily="49" charset="-120"/>
              </a:rPr>
              <a:t>score = 1 / (1 + cost / 25)</a:t>
            </a:r>
            <a:endParaRPr lang="en-US" sz="1400" dirty="0"/>
          </a:p>
        </p:txBody>
      </p:sp>
      <p:sp>
        <p:nvSpPr>
          <p:cNvPr id="19" name="Text 17"/>
          <p:cNvSpPr/>
          <p:nvPr/>
        </p:nvSpPr>
        <p:spPr>
          <a:xfrm>
            <a:off x="812800" y="497572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3443D"/>
                </a:solidFill>
                <a:latin typeface="Inter" pitchFamily="34" charset="0"/>
                <a:ea typeface="Inter" pitchFamily="34" charset="-122"/>
                <a:cs typeface="Inter" pitchFamily="34" charset="-120"/>
              </a:rPr>
              <a:t>Invalid layouts score exactly 0 and every valid layout scores above 0, so a broken layout never wins.</a:t>
            </a:r>
            <a:endParaRPr lang="en-US" sz="1500" dirty="0"/>
          </a:p>
        </p:txBody>
      </p:sp>
      <p:sp>
        <p:nvSpPr>
          <p:cNvPr id="20" name="Text 18"/>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B64"/>
                </a:solidFill>
                <a:latin typeface="Inter" pitchFamily="34" charset="0"/>
                <a:ea typeface="Inter" pitchFamily="34" charset="-122"/>
                <a:cs typeface="Inter" pitchFamily="34" charset="-120"/>
              </a:rPr>
              <a:t>PCB placement with AlphaEvolve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EFE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2A24"/>
                </a:solidFill>
                <a:latin typeface="Space Grotesk" pitchFamily="34" charset="0"/>
                <a:ea typeface="Space Grotesk" pitchFamily="34" charset="-122"/>
                <a:cs typeface="Space Grotesk" pitchFamily="34" charset="-120"/>
              </a:rPr>
              <a:t>What evaluate() does</a:t>
            </a:r>
            <a:endParaRPr lang="en-US" sz="3200" dirty="0"/>
          </a:p>
        </p:txBody>
      </p:sp>
      <p:sp>
        <p:nvSpPr>
          <p:cNvPr id="3" name="Text 1"/>
          <p:cNvSpPr/>
          <p:nvPr/>
        </p:nvSpPr>
        <p:spPr>
          <a:xfrm>
            <a:off x="812800" y="136143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43D"/>
                </a:solidFill>
                <a:latin typeface="IBM Plex Mono" pitchFamily="49" charset="0"/>
                <a:ea typeface="IBM Plex Mono" pitchFamily="49" charset="-122"/>
                <a:cs typeface="IBM Plex Mono" pitchFamily="49" charset="-120"/>
              </a:rPr>
              <a:t>score = 1 / (1 + cost / 25), cost = wire + 3·crystal + 3·caps − 0.5·min(LDO to crystal, 20)</a:t>
            </a:r>
            <a:endParaRPr lang="en-US" sz="1300" dirty="0"/>
          </a:p>
        </p:txBody>
      </p:sp>
      <p:sp>
        <p:nvSpPr>
          <p:cNvPr id="4" name="Shape 2"/>
          <p:cNvSpPr/>
          <p:nvPr/>
        </p:nvSpPr>
        <p:spPr>
          <a:xfrm>
            <a:off x="815975" y="1697335"/>
            <a:ext cx="3397250" cy="3823891"/>
          </a:xfrm>
          <a:prstGeom prst="roundRect">
            <a:avLst>
              <a:gd name="adj" fmla="val 3645"/>
            </a:avLst>
          </a:prstGeom>
          <a:solidFill>
            <a:srgbClr val="FBF9F2"/>
          </a:solidFill>
          <a:ln w="6350">
            <a:solidFill>
              <a:srgbClr val="D9D3C1"/>
            </a:solidFill>
            <a:prstDash val="solid"/>
          </a:ln>
        </p:spPr>
      </p:sp>
      <p:sp>
        <p:nvSpPr>
          <p:cNvPr id="5" name="Text 3"/>
          <p:cNvSpPr/>
          <p:nvPr/>
        </p:nvSpPr>
        <p:spPr>
          <a:xfrm>
            <a:off x="971550" y="1852910"/>
            <a:ext cx="317868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2A24"/>
                </a:solidFill>
                <a:latin typeface="Space Grotesk" pitchFamily="34" charset="0"/>
                <a:ea typeface="Space Grotesk" pitchFamily="34" charset="-122"/>
                <a:cs typeface="Space Grotesk" pitchFamily="34" charset="-120"/>
              </a:rPr>
              <a:t>Crammed together</a:t>
            </a:r>
            <a:endParaRPr lang="en-US" sz="1800" dirty="0"/>
          </a:p>
        </p:txBody>
      </p:sp>
      <p:sp>
        <p:nvSpPr>
          <p:cNvPr id="6" name="Shape 4"/>
          <p:cNvSpPr/>
          <p:nvPr/>
        </p:nvSpPr>
        <p:spPr>
          <a:xfrm>
            <a:off x="996950" y="2241500"/>
            <a:ext cx="1651000" cy="1651000"/>
          </a:xfrm>
          <a:prstGeom prst="roundRect">
            <a:avLst>
              <a:gd name="adj" fmla="val 3846"/>
            </a:avLst>
          </a:prstGeom>
          <a:solidFill>
            <a:srgbClr val="1C5E47"/>
          </a:solidFill>
          <a:ln/>
          <a:effectLst>
            <a:outerShdw sx="100000" sy="100000" kx="0" ky="0" algn="bl" rotWithShape="0" blurRad="25400" dist="0" dir="60000">
              <a:srgbClr val="0F3B2D">
                <a:alpha val="100000"/>
              </a:srgbClr>
            </a:outerShdw>
          </a:effectLst>
        </p:spPr>
      </p:sp>
      <p:pic>
        <p:nvPicPr>
          <p:cNvPr id="7" name="Image 0" descr="connector">    </p:cNvPr>
          <p:cNvPicPr>
            <a:picLocks noChangeAspect="1"/>
          </p:cNvPicPr>
          <p:nvPr/>
        </p:nvPicPr>
        <p:blipFill>
          <a:blip r:embed="rId1"/>
          <a:srcRect l="0" r="0" t="-569" b="-569"/>
          <a:stretch/>
        </p:blipFill>
        <p:spPr>
          <a:xfrm>
            <a:off x="1784350" y="2880271"/>
            <a:ext cx="76200" cy="224780"/>
          </a:xfrm>
          <a:prstGeom prst="rect">
            <a:avLst/>
          </a:prstGeom>
        </p:spPr>
      </p:pic>
      <p:pic>
        <p:nvPicPr>
          <p:cNvPr id="8" name="Image 1" descr="connector">    </p:cNvPr>
          <p:cNvPicPr>
            <a:picLocks noChangeAspect="1"/>
          </p:cNvPicPr>
          <p:nvPr/>
        </p:nvPicPr>
        <p:blipFill>
          <a:blip r:embed="rId2"/>
          <a:srcRect l="0" r="0" t="-906" b="-906"/>
          <a:stretch/>
        </p:blipFill>
        <p:spPr>
          <a:xfrm>
            <a:off x="1784350" y="2962821"/>
            <a:ext cx="247650" cy="142230"/>
          </a:xfrm>
          <a:prstGeom prst="rect">
            <a:avLst/>
          </a:prstGeom>
        </p:spPr>
      </p:pic>
      <p:pic>
        <p:nvPicPr>
          <p:cNvPr id="9" name="Image 2" descr="connector">    </p:cNvPr>
          <p:cNvPicPr>
            <a:picLocks noChangeAspect="1"/>
          </p:cNvPicPr>
          <p:nvPr/>
        </p:nvPicPr>
        <p:blipFill>
          <a:blip r:embed="rId3"/>
          <a:srcRect l="0" r="0" t="-906" b="-906"/>
          <a:stretch/>
        </p:blipFill>
        <p:spPr>
          <a:xfrm>
            <a:off x="1784350" y="3028900"/>
            <a:ext cx="247650" cy="142230"/>
          </a:xfrm>
          <a:prstGeom prst="rect">
            <a:avLst/>
          </a:prstGeom>
        </p:spPr>
      </p:pic>
      <p:pic>
        <p:nvPicPr>
          <p:cNvPr id="10" name="Image 3" descr="connector">    </p:cNvPr>
          <p:cNvPicPr>
            <a:picLocks noChangeAspect="1"/>
          </p:cNvPicPr>
          <p:nvPr/>
        </p:nvPicPr>
        <p:blipFill>
          <a:blip r:embed="rId4"/>
          <a:srcRect l="0" r="0" t="-379" b="-379"/>
          <a:stretch/>
        </p:blipFill>
        <p:spPr>
          <a:xfrm>
            <a:off x="2147540" y="3028900"/>
            <a:ext cx="340320" cy="76200"/>
          </a:xfrm>
          <a:prstGeom prst="rect">
            <a:avLst/>
          </a:prstGeom>
        </p:spPr>
      </p:pic>
      <p:pic>
        <p:nvPicPr>
          <p:cNvPr id="11" name="Image 4" descr="connector">    </p:cNvPr>
          <p:cNvPicPr>
            <a:picLocks noChangeAspect="1"/>
          </p:cNvPicPr>
          <p:nvPr/>
        </p:nvPicPr>
        <p:blipFill>
          <a:blip r:embed="rId5"/>
          <a:srcRect l="0" r="0" t="-670" b="-670"/>
          <a:stretch/>
        </p:blipFill>
        <p:spPr>
          <a:xfrm>
            <a:off x="1955800" y="2962821"/>
            <a:ext cx="267940" cy="142230"/>
          </a:xfrm>
          <a:prstGeom prst="rect">
            <a:avLst/>
          </a:prstGeom>
        </p:spPr>
      </p:pic>
      <p:pic>
        <p:nvPicPr>
          <p:cNvPr id="12" name="Image 5" descr="connector">    </p:cNvPr>
          <p:cNvPicPr>
            <a:picLocks noChangeAspect="1"/>
          </p:cNvPicPr>
          <p:nvPr/>
        </p:nvPicPr>
        <p:blipFill>
          <a:blip r:embed="rId6"/>
          <a:srcRect l="0" r="0" t="-670" b="-670"/>
          <a:stretch/>
        </p:blipFill>
        <p:spPr>
          <a:xfrm>
            <a:off x="1955800" y="3028900"/>
            <a:ext cx="267940" cy="142230"/>
          </a:xfrm>
          <a:prstGeom prst="rect">
            <a:avLst/>
          </a:prstGeom>
        </p:spPr>
      </p:pic>
      <p:pic>
        <p:nvPicPr>
          <p:cNvPr id="13" name="Image 6" descr="connector">    </p:cNvPr>
          <p:cNvPicPr>
            <a:picLocks noChangeAspect="1"/>
          </p:cNvPicPr>
          <p:nvPr/>
        </p:nvPicPr>
        <p:blipFill>
          <a:blip r:embed="rId7"/>
          <a:srcRect l="-222" r="-222" t="0" b="0"/>
          <a:stretch/>
        </p:blipFill>
        <p:spPr>
          <a:xfrm>
            <a:off x="1784350" y="3028900"/>
            <a:ext cx="76200" cy="290810"/>
          </a:xfrm>
          <a:prstGeom prst="rect">
            <a:avLst/>
          </a:prstGeom>
        </p:spPr>
      </p:pic>
      <p:pic>
        <p:nvPicPr>
          <p:cNvPr id="14" name="Image 7" descr="connector">    </p:cNvPr>
          <p:cNvPicPr>
            <a:picLocks noChangeAspect="1"/>
          </p:cNvPicPr>
          <p:nvPr/>
        </p:nvPicPr>
        <p:blipFill>
          <a:blip r:embed="rId8"/>
          <a:srcRect l="0" r="0" t="-500" b="-500"/>
          <a:stretch/>
        </p:blipFill>
        <p:spPr>
          <a:xfrm>
            <a:off x="1602730" y="3028900"/>
            <a:ext cx="257770" cy="76200"/>
          </a:xfrm>
          <a:prstGeom prst="rect">
            <a:avLst/>
          </a:prstGeom>
        </p:spPr>
      </p:pic>
      <p:sp>
        <p:nvSpPr>
          <p:cNvPr id="15" name="Shape 5"/>
          <p:cNvSpPr/>
          <p:nvPr/>
        </p:nvSpPr>
        <p:spPr>
          <a:xfrm>
            <a:off x="1716385" y="2960936"/>
            <a:ext cx="212080" cy="212080"/>
          </a:xfrm>
          <a:prstGeom prst="roundRect">
            <a:avLst>
              <a:gd name="adj" fmla="val 1497"/>
            </a:avLst>
          </a:prstGeom>
          <a:solidFill>
            <a:srgbClr val="2B2B2B"/>
          </a:solidFill>
          <a:ln w="19050">
            <a:solidFill>
              <a:srgbClr val="FF6B5A"/>
            </a:solidFill>
            <a:prstDash val="solid"/>
          </a:ln>
        </p:spPr>
      </p:sp>
      <p:sp>
        <p:nvSpPr>
          <p:cNvPr id="16" name="Shape 6"/>
          <p:cNvSpPr/>
          <p:nvPr/>
        </p:nvSpPr>
        <p:spPr>
          <a:xfrm>
            <a:off x="1782415" y="2886621"/>
            <a:ext cx="79970" cy="63500"/>
          </a:xfrm>
          <a:prstGeom prst="roundRect">
            <a:avLst>
              <a:gd name="adj" fmla="val 5000"/>
            </a:avLst>
          </a:prstGeom>
          <a:solidFill>
            <a:srgbClr val="C9CED3"/>
          </a:solidFill>
          <a:ln w="19050">
            <a:solidFill>
              <a:srgbClr val="FF6B5A"/>
            </a:solidFill>
            <a:prstDash val="solid"/>
          </a:ln>
        </p:spPr>
      </p:sp>
      <p:sp>
        <p:nvSpPr>
          <p:cNvPr id="17" name="Shape 7"/>
          <p:cNvSpPr/>
          <p:nvPr/>
        </p:nvSpPr>
        <p:spPr>
          <a:xfrm>
            <a:off x="1971030" y="2990800"/>
            <a:ext cx="46335" cy="20290"/>
          </a:xfrm>
          <a:prstGeom prst="roundRect">
            <a:avLst>
              <a:gd name="adj" fmla="val 46944"/>
            </a:avLst>
          </a:prstGeom>
          <a:solidFill>
            <a:srgbClr val="E3B66B"/>
          </a:solidFill>
          <a:ln w="6350">
            <a:solidFill>
              <a:srgbClr val="EFE9DA"/>
            </a:solidFill>
            <a:prstDash val="solid"/>
          </a:ln>
        </p:spPr>
      </p:sp>
      <p:sp>
        <p:nvSpPr>
          <p:cNvPr id="18" name="Shape 8"/>
          <p:cNvSpPr/>
          <p:nvPr/>
        </p:nvSpPr>
        <p:spPr>
          <a:xfrm>
            <a:off x="1971030" y="3122861"/>
            <a:ext cx="46335" cy="20290"/>
          </a:xfrm>
          <a:prstGeom prst="roundRect">
            <a:avLst>
              <a:gd name="adj" fmla="val 46944"/>
            </a:avLst>
          </a:prstGeom>
          <a:solidFill>
            <a:srgbClr val="E3B66B"/>
          </a:solidFill>
          <a:ln w="6350">
            <a:solidFill>
              <a:srgbClr val="EFE9DA"/>
            </a:solidFill>
            <a:prstDash val="solid"/>
          </a:ln>
        </p:spPr>
      </p:sp>
      <p:sp>
        <p:nvSpPr>
          <p:cNvPr id="19" name="Shape 9"/>
          <p:cNvSpPr/>
          <p:nvPr/>
        </p:nvSpPr>
        <p:spPr>
          <a:xfrm>
            <a:off x="2139305" y="3020616"/>
            <a:ext cx="92670" cy="92670"/>
          </a:xfrm>
          <a:prstGeom prst="roundRect">
            <a:avLst>
              <a:gd name="adj" fmla="val 10278"/>
            </a:avLst>
          </a:prstGeom>
          <a:solidFill>
            <a:srgbClr val="6FA8DC"/>
          </a:solidFill>
          <a:ln w="6350">
            <a:solidFill>
              <a:srgbClr val="EFE9DA"/>
            </a:solidFill>
            <a:prstDash val="solid"/>
          </a:ln>
        </p:spPr>
      </p:sp>
      <p:sp>
        <p:nvSpPr>
          <p:cNvPr id="20" name="Shape 10"/>
          <p:cNvSpPr/>
          <p:nvPr/>
        </p:nvSpPr>
        <p:spPr>
          <a:xfrm>
            <a:off x="2320925" y="2971105"/>
            <a:ext cx="257770" cy="191740"/>
          </a:xfrm>
          <a:prstGeom prst="roundRect">
            <a:avLst>
              <a:gd name="adj" fmla="val 4968"/>
            </a:avLst>
          </a:prstGeom>
          <a:solidFill>
            <a:srgbClr val="9AA3AB"/>
          </a:solidFill>
          <a:ln w="6350">
            <a:solidFill>
              <a:srgbClr val="EFE9DA"/>
            </a:solidFill>
            <a:prstDash val="solid"/>
          </a:ln>
        </p:spPr>
      </p:sp>
      <p:sp>
        <p:nvSpPr>
          <p:cNvPr id="21" name="Shape 11"/>
          <p:cNvSpPr/>
          <p:nvPr/>
        </p:nvSpPr>
        <p:spPr>
          <a:xfrm>
            <a:off x="1660525" y="3235275"/>
            <a:ext cx="323850" cy="92670"/>
          </a:xfrm>
          <a:prstGeom prst="roundRect">
            <a:avLst>
              <a:gd name="adj" fmla="val 10278"/>
            </a:avLst>
          </a:prstGeom>
          <a:solidFill>
            <a:srgbClr val="555555"/>
          </a:solidFill>
          <a:ln w="6350">
            <a:solidFill>
              <a:srgbClr val="EFE9DA"/>
            </a:solidFill>
            <a:prstDash val="solid"/>
          </a:ln>
        </p:spPr>
      </p:sp>
      <p:sp>
        <p:nvSpPr>
          <p:cNvPr id="22" name="Shape 12"/>
          <p:cNvSpPr/>
          <p:nvPr/>
        </p:nvSpPr>
        <p:spPr>
          <a:xfrm>
            <a:off x="1617315" y="3056830"/>
            <a:ext cx="46335" cy="20290"/>
          </a:xfrm>
          <a:prstGeom prst="roundRect">
            <a:avLst>
              <a:gd name="adj" fmla="val 46944"/>
            </a:avLst>
          </a:prstGeom>
          <a:solidFill>
            <a:srgbClr val="E85D4A"/>
          </a:solidFill>
          <a:ln w="6350">
            <a:solidFill>
              <a:srgbClr val="EFE9DA"/>
            </a:solidFill>
            <a:prstDash val="solid"/>
          </a:ln>
        </p:spPr>
      </p:sp>
      <p:sp>
        <p:nvSpPr>
          <p:cNvPr id="23" name="Text 13"/>
          <p:cNvSpPr/>
          <p:nvPr/>
        </p:nvSpPr>
        <p:spPr>
          <a:xfrm>
            <a:off x="971550" y="4006800"/>
            <a:ext cx="317868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F6E56"/>
                </a:solidFill>
                <a:latin typeface="Inter" pitchFamily="34" charset="0"/>
                <a:ea typeface="Inter" pitchFamily="34" charset="-122"/>
                <a:cs typeface="Inter" pitchFamily="34" charset="-120"/>
              </a:rPr>
              <a:t>Inside the board: pass</a:t>
            </a:r>
            <a:endParaRPr lang="en-US" sz="1300" dirty="0"/>
          </a:p>
        </p:txBody>
      </p:sp>
      <p:sp>
        <p:nvSpPr>
          <p:cNvPr id="24" name="Text 14"/>
          <p:cNvSpPr/>
          <p:nvPr/>
        </p:nvSpPr>
        <p:spPr>
          <a:xfrm>
            <a:off x="971550" y="4250630"/>
            <a:ext cx="317868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32D2D"/>
                </a:solidFill>
                <a:latin typeface="Inter" pitchFamily="34" charset="0"/>
                <a:ea typeface="Inter" pitchFamily="34" charset="-122"/>
                <a:cs typeface="Inter" pitchFamily="34" charset="-120"/>
              </a:rPr>
              <a:t>No overlaps: FAIL, MCU and XTAL</a:t>
            </a:r>
            <a:endParaRPr lang="en-US" sz="1300" dirty="0"/>
          </a:p>
        </p:txBody>
      </p:sp>
      <p:sp>
        <p:nvSpPr>
          <p:cNvPr id="25" name="Text 15"/>
          <p:cNvSpPr/>
          <p:nvPr/>
        </p:nvSpPr>
        <p:spPr>
          <a:xfrm>
            <a:off x="971550" y="4494461"/>
            <a:ext cx="317868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43D"/>
                </a:solidFill>
                <a:latin typeface="Inter" pitchFamily="34" charset="0"/>
                <a:ea typeface="Inter" pitchFamily="34" charset="-122"/>
                <a:cs typeface="Inter" pitchFamily="34" charset="-120"/>
              </a:rPr>
              <a:t>Stop. Nothing else is measured.</a:t>
            </a:r>
            <a:endParaRPr lang="en-US" sz="1300" dirty="0"/>
          </a:p>
        </p:txBody>
      </p:sp>
      <p:sp>
        <p:nvSpPr>
          <p:cNvPr id="26" name="Text 16"/>
          <p:cNvSpPr/>
          <p:nvPr/>
        </p:nvSpPr>
        <p:spPr>
          <a:xfrm>
            <a:off x="971550" y="4814491"/>
            <a:ext cx="3178683" cy="33273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A32D2D"/>
                </a:solidFill>
                <a:latin typeface="Space Grotesk" pitchFamily="34" charset="0"/>
                <a:ea typeface="Space Grotesk" pitchFamily="34" charset="-122"/>
                <a:cs typeface="Space Grotesk" pitchFamily="34" charset="-120"/>
              </a:rPr>
              <a:t>Score 0</a:t>
            </a:r>
            <a:endParaRPr lang="en-US" sz="2200" dirty="0"/>
          </a:p>
        </p:txBody>
      </p:sp>
      <p:sp>
        <p:nvSpPr>
          <p:cNvPr id="27" name="Shape 17"/>
          <p:cNvSpPr/>
          <p:nvPr/>
        </p:nvSpPr>
        <p:spPr>
          <a:xfrm>
            <a:off x="4397375" y="1697335"/>
            <a:ext cx="3397250" cy="3823891"/>
          </a:xfrm>
          <a:prstGeom prst="roundRect">
            <a:avLst>
              <a:gd name="adj" fmla="val 3645"/>
            </a:avLst>
          </a:prstGeom>
          <a:solidFill>
            <a:srgbClr val="FBF9F2"/>
          </a:solidFill>
          <a:ln w="6350">
            <a:solidFill>
              <a:srgbClr val="D9D3C1"/>
            </a:solidFill>
            <a:prstDash val="solid"/>
          </a:ln>
        </p:spPr>
      </p:sp>
      <p:sp>
        <p:nvSpPr>
          <p:cNvPr id="28" name="Text 18"/>
          <p:cNvSpPr/>
          <p:nvPr/>
        </p:nvSpPr>
        <p:spPr>
          <a:xfrm>
            <a:off x="4552950" y="1852910"/>
            <a:ext cx="317868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2A24"/>
                </a:solidFill>
                <a:latin typeface="Space Grotesk" pitchFamily="34" charset="0"/>
                <a:ea typeface="Space Grotesk" pitchFamily="34" charset="-122"/>
                <a:cs typeface="Space Grotesk" pitchFamily="34" charset="-120"/>
              </a:rPr>
              <a:t>Random scatter</a:t>
            </a:r>
            <a:endParaRPr lang="en-US" sz="1800" dirty="0"/>
          </a:p>
        </p:txBody>
      </p:sp>
      <p:sp>
        <p:nvSpPr>
          <p:cNvPr id="29" name="Shape 19"/>
          <p:cNvSpPr/>
          <p:nvPr/>
        </p:nvSpPr>
        <p:spPr>
          <a:xfrm>
            <a:off x="4578350" y="2241500"/>
            <a:ext cx="1651000" cy="1651000"/>
          </a:xfrm>
          <a:prstGeom prst="roundRect">
            <a:avLst>
              <a:gd name="adj" fmla="val 3846"/>
            </a:avLst>
          </a:prstGeom>
          <a:solidFill>
            <a:srgbClr val="1C5E47"/>
          </a:solidFill>
          <a:ln/>
          <a:effectLst>
            <a:outerShdw sx="100000" sy="100000" kx="0" ky="0" algn="bl" rotWithShape="0" blurRad="25400" dist="0" dir="60000">
              <a:srgbClr val="0F3B2D">
                <a:alpha val="100000"/>
              </a:srgbClr>
            </a:outerShdw>
          </a:effectLst>
        </p:spPr>
      </p:sp>
      <p:pic>
        <p:nvPicPr>
          <p:cNvPr id="30" name="Image 8" descr="connector">    </p:cNvPr>
          <p:cNvPicPr>
            <a:picLocks noChangeAspect="1"/>
          </p:cNvPicPr>
          <p:nvPr/>
        </p:nvPicPr>
        <p:blipFill>
          <a:blip r:embed="rId9"/>
          <a:srcRect l="-109" r="-109" t="0" b="0"/>
          <a:stretch/>
        </p:blipFill>
        <p:spPr>
          <a:xfrm>
            <a:off x="5242520" y="2651075"/>
            <a:ext cx="688330" cy="820390"/>
          </a:xfrm>
          <a:prstGeom prst="rect">
            <a:avLst/>
          </a:prstGeom>
        </p:spPr>
      </p:pic>
      <p:pic>
        <p:nvPicPr>
          <p:cNvPr id="31" name="Image 9" descr="connector">    </p:cNvPr>
          <p:cNvPicPr>
            <a:picLocks noChangeAspect="1"/>
          </p:cNvPicPr>
          <p:nvPr/>
        </p:nvPicPr>
        <p:blipFill>
          <a:blip r:embed="rId10"/>
          <a:srcRect l="-55" r="-55" t="0" b="0"/>
          <a:stretch/>
        </p:blipFill>
        <p:spPr>
          <a:xfrm>
            <a:off x="5384155" y="2874566"/>
            <a:ext cx="546695" cy="596900"/>
          </a:xfrm>
          <a:prstGeom prst="rect">
            <a:avLst/>
          </a:prstGeom>
        </p:spPr>
      </p:pic>
      <p:pic>
        <p:nvPicPr>
          <p:cNvPr id="32" name="Image 10" descr="connector">    </p:cNvPr>
          <p:cNvPicPr>
            <a:picLocks noChangeAspect="1"/>
          </p:cNvPicPr>
          <p:nvPr/>
        </p:nvPicPr>
        <p:blipFill>
          <a:blip r:embed="rId11"/>
          <a:srcRect l="0" r="0" t="-1155" b="-1155"/>
          <a:stretch/>
        </p:blipFill>
        <p:spPr>
          <a:xfrm>
            <a:off x="5819130" y="2709466"/>
            <a:ext cx="111720" cy="762000"/>
          </a:xfrm>
          <a:prstGeom prst="rect">
            <a:avLst/>
          </a:prstGeom>
        </p:spPr>
      </p:pic>
      <p:pic>
        <p:nvPicPr>
          <p:cNvPr id="33" name="Image 11" descr="connector">    </p:cNvPr>
          <p:cNvPicPr>
            <a:picLocks noChangeAspect="1"/>
          </p:cNvPicPr>
          <p:nvPr/>
        </p:nvPicPr>
        <p:blipFill>
          <a:blip r:embed="rId12"/>
          <a:srcRect l="0" r="0" t="-575" b="-575"/>
          <a:stretch/>
        </p:blipFill>
        <p:spPr>
          <a:xfrm>
            <a:off x="5329535" y="3035846"/>
            <a:ext cx="678160" cy="198735"/>
          </a:xfrm>
          <a:prstGeom prst="rect">
            <a:avLst/>
          </a:prstGeom>
        </p:spPr>
      </p:pic>
      <p:pic>
        <p:nvPicPr>
          <p:cNvPr id="34" name="Image 12" descr="connector">    </p:cNvPr>
          <p:cNvPicPr>
            <a:picLocks noChangeAspect="1"/>
          </p:cNvPicPr>
          <p:nvPr/>
        </p:nvPicPr>
        <p:blipFill>
          <a:blip r:embed="rId13"/>
          <a:srcRect l="0" r="0" t="-714" b="-714"/>
          <a:stretch/>
        </p:blipFill>
        <p:spPr>
          <a:xfrm>
            <a:off x="5329535" y="2874566"/>
            <a:ext cx="130770" cy="360015"/>
          </a:xfrm>
          <a:prstGeom prst="rect">
            <a:avLst/>
          </a:prstGeom>
        </p:spPr>
      </p:pic>
      <p:pic>
        <p:nvPicPr>
          <p:cNvPr id="35" name="Image 13" descr="connector">    </p:cNvPr>
          <p:cNvPicPr>
            <a:picLocks noChangeAspect="1"/>
          </p:cNvPicPr>
          <p:nvPr/>
        </p:nvPicPr>
        <p:blipFill>
          <a:blip r:embed="rId14"/>
          <a:srcRect l="-237" r="-237" t="0" b="0"/>
          <a:stretch/>
        </p:blipFill>
        <p:spPr>
          <a:xfrm>
            <a:off x="5329535" y="2709466"/>
            <a:ext cx="565745" cy="525115"/>
          </a:xfrm>
          <a:prstGeom prst="rect">
            <a:avLst/>
          </a:prstGeom>
        </p:spPr>
      </p:pic>
      <p:pic>
        <p:nvPicPr>
          <p:cNvPr id="36" name="Image 14" descr="connector">    </p:cNvPr>
          <p:cNvPicPr>
            <a:picLocks noChangeAspect="1"/>
          </p:cNvPicPr>
          <p:nvPr/>
        </p:nvPicPr>
        <p:blipFill>
          <a:blip r:embed="rId15"/>
          <a:srcRect l="-755" r="-755" t="0" b="0"/>
          <a:stretch/>
        </p:blipFill>
        <p:spPr>
          <a:xfrm>
            <a:off x="5077420" y="3395266"/>
            <a:ext cx="853430" cy="106660"/>
          </a:xfrm>
          <a:prstGeom prst="rect">
            <a:avLst/>
          </a:prstGeom>
        </p:spPr>
      </p:pic>
      <p:pic>
        <p:nvPicPr>
          <p:cNvPr id="37" name="Image 15" descr="connector">    </p:cNvPr>
          <p:cNvPicPr>
            <a:picLocks noChangeAspect="1"/>
          </p:cNvPicPr>
          <p:nvPr/>
        </p:nvPicPr>
        <p:blipFill>
          <a:blip r:embed="rId16"/>
          <a:srcRect l="-318" r="-318" t="0" b="0"/>
          <a:stretch/>
        </p:blipFill>
        <p:spPr>
          <a:xfrm>
            <a:off x="5554960" y="2623096"/>
            <a:ext cx="375890" cy="848320"/>
          </a:xfrm>
          <a:prstGeom prst="rect">
            <a:avLst/>
          </a:prstGeom>
        </p:spPr>
      </p:pic>
      <p:sp>
        <p:nvSpPr>
          <p:cNvPr id="38" name="Shape 20"/>
          <p:cNvSpPr/>
          <p:nvPr/>
        </p:nvSpPr>
        <p:spPr>
          <a:xfrm>
            <a:off x="5780385" y="3321000"/>
            <a:ext cx="224780" cy="224780"/>
          </a:xfrm>
          <a:prstGeom prst="roundRect">
            <a:avLst>
              <a:gd name="adj" fmla="val 4237"/>
            </a:avLst>
          </a:prstGeom>
          <a:solidFill>
            <a:srgbClr val="2B2B2B"/>
          </a:solidFill>
          <a:ln w="6350">
            <a:solidFill>
              <a:srgbClr val="EFE9DA"/>
            </a:solidFill>
            <a:prstDash val="solid"/>
          </a:ln>
        </p:spPr>
      </p:sp>
      <p:sp>
        <p:nvSpPr>
          <p:cNvPr id="39" name="Shape 21"/>
          <p:cNvSpPr/>
          <p:nvPr/>
        </p:nvSpPr>
        <p:spPr>
          <a:xfrm>
            <a:off x="5234285" y="2651075"/>
            <a:ext cx="92670" cy="76200"/>
          </a:xfrm>
          <a:prstGeom prst="roundRect">
            <a:avLst>
              <a:gd name="adj" fmla="val 12500"/>
            </a:avLst>
          </a:prstGeom>
          <a:solidFill>
            <a:srgbClr val="C9CED3"/>
          </a:solidFill>
          <a:ln w="6350">
            <a:solidFill>
              <a:srgbClr val="EFE9DA"/>
            </a:solidFill>
            <a:prstDash val="solid"/>
          </a:ln>
        </p:spPr>
      </p:sp>
      <p:sp>
        <p:nvSpPr>
          <p:cNvPr id="40" name="Shape 22"/>
          <p:cNvSpPr/>
          <p:nvPr/>
        </p:nvSpPr>
        <p:spPr>
          <a:xfrm>
            <a:off x="5398740" y="2902496"/>
            <a:ext cx="46335" cy="20290"/>
          </a:xfrm>
          <a:prstGeom prst="roundRect">
            <a:avLst>
              <a:gd name="adj" fmla="val 46944"/>
            </a:avLst>
          </a:prstGeom>
          <a:solidFill>
            <a:srgbClr val="E3B66B"/>
          </a:solidFill>
          <a:ln w="6350">
            <a:solidFill>
              <a:srgbClr val="EFE9DA"/>
            </a:solidFill>
            <a:prstDash val="solid"/>
          </a:ln>
        </p:spPr>
      </p:sp>
      <p:sp>
        <p:nvSpPr>
          <p:cNvPr id="41" name="Shape 23"/>
          <p:cNvSpPr/>
          <p:nvPr/>
        </p:nvSpPr>
        <p:spPr>
          <a:xfrm>
            <a:off x="5834360" y="2737396"/>
            <a:ext cx="46335" cy="20290"/>
          </a:xfrm>
          <a:prstGeom prst="roundRect">
            <a:avLst>
              <a:gd name="adj" fmla="val 46944"/>
            </a:avLst>
          </a:prstGeom>
          <a:solidFill>
            <a:srgbClr val="E3B66B"/>
          </a:solidFill>
          <a:ln w="6350">
            <a:solidFill>
              <a:srgbClr val="EFE9DA"/>
            </a:solidFill>
            <a:prstDash val="solid"/>
          </a:ln>
        </p:spPr>
      </p:sp>
      <p:sp>
        <p:nvSpPr>
          <p:cNvPr id="42" name="Shape 24"/>
          <p:cNvSpPr/>
          <p:nvPr/>
        </p:nvSpPr>
        <p:spPr>
          <a:xfrm>
            <a:off x="5321300" y="3150146"/>
            <a:ext cx="92670" cy="92670"/>
          </a:xfrm>
          <a:prstGeom prst="roundRect">
            <a:avLst>
              <a:gd name="adj" fmla="val 10278"/>
            </a:avLst>
          </a:prstGeom>
          <a:solidFill>
            <a:srgbClr val="6FA8DC"/>
          </a:solidFill>
          <a:ln w="6350">
            <a:solidFill>
              <a:srgbClr val="EFE9DA"/>
            </a:solidFill>
            <a:prstDash val="solid"/>
          </a:ln>
        </p:spPr>
      </p:sp>
      <p:sp>
        <p:nvSpPr>
          <p:cNvPr id="43" name="Shape 25"/>
          <p:cNvSpPr/>
          <p:nvPr/>
        </p:nvSpPr>
        <p:spPr>
          <a:xfrm>
            <a:off x="5840710" y="2978100"/>
            <a:ext cx="257770" cy="191740"/>
          </a:xfrm>
          <a:prstGeom prst="roundRect">
            <a:avLst>
              <a:gd name="adj" fmla="val 4968"/>
            </a:avLst>
          </a:prstGeom>
          <a:solidFill>
            <a:srgbClr val="9AA3AB"/>
          </a:solidFill>
          <a:ln w="6350">
            <a:solidFill>
              <a:srgbClr val="EFE9DA"/>
            </a:solidFill>
            <a:prstDash val="solid"/>
          </a:ln>
        </p:spPr>
      </p:sp>
      <p:sp>
        <p:nvSpPr>
          <p:cNvPr id="44" name="Shape 26"/>
          <p:cNvSpPr/>
          <p:nvPr/>
        </p:nvSpPr>
        <p:spPr>
          <a:xfrm>
            <a:off x="4953595" y="3417491"/>
            <a:ext cx="323850" cy="92670"/>
          </a:xfrm>
          <a:prstGeom prst="roundRect">
            <a:avLst>
              <a:gd name="adj" fmla="val 10278"/>
            </a:avLst>
          </a:prstGeom>
          <a:solidFill>
            <a:srgbClr val="555555"/>
          </a:solidFill>
          <a:ln w="6350">
            <a:solidFill>
              <a:srgbClr val="EFE9DA"/>
            </a:solidFill>
            <a:prstDash val="solid"/>
          </a:ln>
        </p:spPr>
      </p:sp>
      <p:sp>
        <p:nvSpPr>
          <p:cNvPr id="45" name="Shape 27"/>
          <p:cNvSpPr/>
          <p:nvPr/>
        </p:nvSpPr>
        <p:spPr>
          <a:xfrm>
            <a:off x="5569545" y="2651671"/>
            <a:ext cx="46335" cy="20290"/>
          </a:xfrm>
          <a:prstGeom prst="roundRect">
            <a:avLst>
              <a:gd name="adj" fmla="val 46944"/>
            </a:avLst>
          </a:prstGeom>
          <a:solidFill>
            <a:srgbClr val="E85D4A"/>
          </a:solidFill>
          <a:ln w="6350">
            <a:solidFill>
              <a:srgbClr val="EFE9DA"/>
            </a:solidFill>
            <a:prstDash val="solid"/>
          </a:ln>
        </p:spPr>
      </p:sp>
      <p:sp>
        <p:nvSpPr>
          <p:cNvPr id="46" name="Text 28"/>
          <p:cNvSpPr/>
          <p:nvPr/>
        </p:nvSpPr>
        <p:spPr>
          <a:xfrm>
            <a:off x="4552950" y="4006800"/>
            <a:ext cx="317868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F6E56"/>
                </a:solidFill>
                <a:latin typeface="Inter" pitchFamily="34" charset="0"/>
                <a:ea typeface="Inter" pitchFamily="34" charset="-122"/>
                <a:cs typeface="Inter" pitchFamily="34" charset="-120"/>
              </a:rPr>
              <a:t>Inside the board: pass</a:t>
            </a:r>
            <a:endParaRPr lang="en-US" sz="1300" dirty="0"/>
          </a:p>
        </p:txBody>
      </p:sp>
      <p:sp>
        <p:nvSpPr>
          <p:cNvPr id="47" name="Text 29"/>
          <p:cNvSpPr/>
          <p:nvPr/>
        </p:nvSpPr>
        <p:spPr>
          <a:xfrm>
            <a:off x="4552950" y="4250630"/>
            <a:ext cx="317868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F6E56"/>
                </a:solidFill>
                <a:latin typeface="Inter" pitchFamily="34" charset="0"/>
                <a:ea typeface="Inter" pitchFamily="34" charset="-122"/>
                <a:cs typeface="Inter" pitchFamily="34" charset="-120"/>
              </a:rPr>
              <a:t>No overlaps: pass</a:t>
            </a:r>
            <a:endParaRPr lang="en-US" sz="1300" dirty="0"/>
          </a:p>
        </p:txBody>
      </p:sp>
      <p:sp>
        <p:nvSpPr>
          <p:cNvPr id="48" name="Text 30"/>
          <p:cNvSpPr/>
          <p:nvPr/>
        </p:nvSpPr>
        <p:spPr>
          <a:xfrm>
            <a:off x="4552950" y="4494461"/>
            <a:ext cx="317868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43D"/>
                </a:solidFill>
                <a:latin typeface="Inter" pitchFamily="34" charset="0"/>
                <a:ea typeface="Inter" pitchFamily="34" charset="-122"/>
                <a:cs typeface="Inter" pitchFamily="34" charset="-120"/>
              </a:rPr>
              <a:t>Wire 210.5 · crystal 29.2 · caps 21.0</a:t>
            </a:r>
            <a:endParaRPr lang="en-US" sz="1300" dirty="0"/>
          </a:p>
        </p:txBody>
      </p:sp>
      <p:sp>
        <p:nvSpPr>
          <p:cNvPr id="49" name="Text 31"/>
          <p:cNvSpPr/>
          <p:nvPr/>
        </p:nvSpPr>
        <p:spPr>
          <a:xfrm>
            <a:off x="4552950" y="4738291"/>
            <a:ext cx="317868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43D"/>
                </a:solidFill>
                <a:latin typeface="Inter" pitchFamily="34" charset="0"/>
                <a:ea typeface="Inter" pitchFamily="34" charset="-122"/>
                <a:cs typeface="Inter" pitchFamily="34" charset="-120"/>
              </a:rPr>
              <a:t>Cost 353.4</a:t>
            </a:r>
            <a:endParaRPr lang="en-US" sz="1300" dirty="0"/>
          </a:p>
        </p:txBody>
      </p:sp>
      <p:sp>
        <p:nvSpPr>
          <p:cNvPr id="50" name="Text 32"/>
          <p:cNvSpPr/>
          <p:nvPr/>
        </p:nvSpPr>
        <p:spPr>
          <a:xfrm>
            <a:off x="4552950" y="5058321"/>
            <a:ext cx="3178683" cy="33273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A85A14"/>
                </a:solidFill>
                <a:latin typeface="Space Grotesk" pitchFamily="34" charset="0"/>
                <a:ea typeface="Space Grotesk" pitchFamily="34" charset="-122"/>
                <a:cs typeface="Space Grotesk" pitchFamily="34" charset="-120"/>
              </a:rPr>
              <a:t>Score 0.066</a:t>
            </a:r>
            <a:endParaRPr lang="en-US" sz="2200" dirty="0"/>
          </a:p>
        </p:txBody>
      </p:sp>
      <p:sp>
        <p:nvSpPr>
          <p:cNvPr id="51" name="Shape 33"/>
          <p:cNvSpPr/>
          <p:nvPr/>
        </p:nvSpPr>
        <p:spPr>
          <a:xfrm>
            <a:off x="7978775" y="1697335"/>
            <a:ext cx="3397250" cy="3823891"/>
          </a:xfrm>
          <a:prstGeom prst="roundRect">
            <a:avLst>
              <a:gd name="adj" fmla="val 3645"/>
            </a:avLst>
          </a:prstGeom>
          <a:solidFill>
            <a:srgbClr val="FBF9F2"/>
          </a:solidFill>
          <a:ln w="6350">
            <a:solidFill>
              <a:srgbClr val="D9D3C1"/>
            </a:solidFill>
            <a:prstDash val="solid"/>
          </a:ln>
        </p:spPr>
      </p:sp>
      <p:sp>
        <p:nvSpPr>
          <p:cNvPr id="52" name="Text 34"/>
          <p:cNvSpPr/>
          <p:nvPr/>
        </p:nvSpPr>
        <p:spPr>
          <a:xfrm>
            <a:off x="8134350" y="1852910"/>
            <a:ext cx="317868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2A24"/>
                </a:solidFill>
                <a:latin typeface="Space Grotesk" pitchFamily="34" charset="0"/>
                <a:ea typeface="Space Grotesk" pitchFamily="34" charset="-122"/>
                <a:cs typeface="Space Grotesk" pitchFamily="34" charset="-120"/>
              </a:rPr>
              <a:t>Refined (final)</a:t>
            </a:r>
            <a:endParaRPr lang="en-US" sz="1800" dirty="0"/>
          </a:p>
        </p:txBody>
      </p:sp>
      <p:sp>
        <p:nvSpPr>
          <p:cNvPr id="53" name="Shape 35"/>
          <p:cNvSpPr/>
          <p:nvPr/>
        </p:nvSpPr>
        <p:spPr>
          <a:xfrm>
            <a:off x="8159750" y="2241500"/>
            <a:ext cx="1651000" cy="1651000"/>
          </a:xfrm>
          <a:prstGeom prst="roundRect">
            <a:avLst>
              <a:gd name="adj" fmla="val 3846"/>
            </a:avLst>
          </a:prstGeom>
          <a:solidFill>
            <a:srgbClr val="1C5E47"/>
          </a:solidFill>
          <a:ln/>
          <a:effectLst>
            <a:outerShdw sx="100000" sy="100000" kx="0" ky="0" algn="bl" rotWithShape="0" blurRad="25400" dist="0" dir="60000">
              <a:srgbClr val="0F3B2D">
                <a:alpha val="100000"/>
              </a:srgbClr>
            </a:outerShdw>
          </a:effectLst>
        </p:spPr>
      </p:sp>
      <p:pic>
        <p:nvPicPr>
          <p:cNvPr id="54" name="Image 16" descr="connector">    </p:cNvPr>
          <p:cNvPicPr>
            <a:picLocks noChangeAspect="1"/>
          </p:cNvPicPr>
          <p:nvPr/>
        </p:nvPicPr>
        <p:blipFill>
          <a:blip r:embed="rId17"/>
          <a:srcRect l="0" r="0" t="0" b="0"/>
          <a:stretch/>
        </p:blipFill>
        <p:spPr>
          <a:xfrm>
            <a:off x="8663930" y="3116511"/>
            <a:ext cx="254000" cy="76200"/>
          </a:xfrm>
          <a:prstGeom prst="rect">
            <a:avLst/>
          </a:prstGeom>
        </p:spPr>
      </p:pic>
      <p:pic>
        <p:nvPicPr>
          <p:cNvPr id="55" name="Image 17" descr="connector">    </p:cNvPr>
          <p:cNvPicPr>
            <a:picLocks noChangeAspect="1"/>
          </p:cNvPicPr>
          <p:nvPr/>
        </p:nvPicPr>
        <p:blipFill>
          <a:blip r:embed="rId18"/>
          <a:srcRect l="-1011" r="-1011" t="0" b="0"/>
          <a:stretch/>
        </p:blipFill>
        <p:spPr>
          <a:xfrm>
            <a:off x="8841730" y="3061246"/>
            <a:ext cx="229840" cy="131415"/>
          </a:xfrm>
          <a:prstGeom prst="rect">
            <a:avLst/>
          </a:prstGeom>
        </p:spPr>
      </p:pic>
      <p:pic>
        <p:nvPicPr>
          <p:cNvPr id="56" name="Image 18" descr="connector">    </p:cNvPr>
          <p:cNvPicPr>
            <a:picLocks noChangeAspect="1"/>
          </p:cNvPicPr>
          <p:nvPr/>
        </p:nvPicPr>
        <p:blipFill>
          <a:blip r:embed="rId19"/>
          <a:srcRect l="0" r="0" t="0" b="0"/>
          <a:stretch/>
        </p:blipFill>
        <p:spPr>
          <a:xfrm>
            <a:off x="8841730" y="3110161"/>
            <a:ext cx="234950" cy="82550"/>
          </a:xfrm>
          <a:prstGeom prst="rect">
            <a:avLst/>
          </a:prstGeom>
        </p:spPr>
      </p:pic>
      <p:pic>
        <p:nvPicPr>
          <p:cNvPr id="57" name="Image 19" descr="connector">    </p:cNvPr>
          <p:cNvPicPr>
            <a:picLocks noChangeAspect="1"/>
          </p:cNvPicPr>
          <p:nvPr/>
        </p:nvPicPr>
        <p:blipFill>
          <a:blip r:embed="rId20"/>
          <a:srcRect l="-1249" r="-1249" t="0" b="0"/>
          <a:stretch/>
        </p:blipFill>
        <p:spPr>
          <a:xfrm>
            <a:off x="9102725" y="3110805"/>
            <a:ext cx="78730" cy="236835"/>
          </a:xfrm>
          <a:prstGeom prst="rect">
            <a:avLst/>
          </a:prstGeom>
        </p:spPr>
      </p:pic>
      <p:pic>
        <p:nvPicPr>
          <p:cNvPr id="58" name="Image 20" descr="connector">    </p:cNvPr>
          <p:cNvPicPr>
            <a:picLocks noChangeAspect="1"/>
          </p:cNvPicPr>
          <p:nvPr/>
        </p:nvPicPr>
        <p:blipFill>
          <a:blip r:embed="rId21"/>
          <a:srcRect l="-336" r="-336" t="0" b="0"/>
          <a:stretch/>
        </p:blipFill>
        <p:spPr>
          <a:xfrm>
            <a:off x="8995370" y="3061246"/>
            <a:ext cx="183505" cy="125710"/>
          </a:xfrm>
          <a:prstGeom prst="rect">
            <a:avLst/>
          </a:prstGeom>
        </p:spPr>
      </p:pic>
      <p:pic>
        <p:nvPicPr>
          <p:cNvPr id="59" name="Image 21" descr="connector">    </p:cNvPr>
          <p:cNvPicPr>
            <a:picLocks noChangeAspect="1"/>
          </p:cNvPicPr>
          <p:nvPr/>
        </p:nvPicPr>
        <p:blipFill>
          <a:blip r:embed="rId22"/>
          <a:srcRect l="0" r="0" t="-222" b="-222"/>
          <a:stretch/>
        </p:blipFill>
        <p:spPr>
          <a:xfrm>
            <a:off x="9000480" y="3110161"/>
            <a:ext cx="178395" cy="76795"/>
          </a:xfrm>
          <a:prstGeom prst="rect">
            <a:avLst/>
          </a:prstGeom>
        </p:spPr>
      </p:pic>
      <p:pic>
        <p:nvPicPr>
          <p:cNvPr id="60" name="Image 22" descr="connector">    </p:cNvPr>
          <p:cNvPicPr>
            <a:picLocks noChangeAspect="1"/>
          </p:cNvPicPr>
          <p:nvPr/>
        </p:nvPicPr>
        <p:blipFill>
          <a:blip r:embed="rId23"/>
          <a:srcRect l="0" r="0" t="-1042" b="-1042"/>
          <a:stretch/>
        </p:blipFill>
        <p:spPr>
          <a:xfrm>
            <a:off x="8836620" y="2937421"/>
            <a:ext cx="81260" cy="255240"/>
          </a:xfrm>
          <a:prstGeom prst="rect">
            <a:avLst/>
          </a:prstGeom>
        </p:spPr>
      </p:pic>
      <p:pic>
        <p:nvPicPr>
          <p:cNvPr id="61" name="Image 23" descr="connector">    </p:cNvPr>
          <p:cNvPicPr>
            <a:picLocks noChangeAspect="1"/>
          </p:cNvPicPr>
          <p:nvPr/>
        </p:nvPicPr>
        <p:blipFill>
          <a:blip r:embed="rId24"/>
          <a:srcRect l="-926" r="-926" t="0" b="0"/>
          <a:stretch/>
        </p:blipFill>
        <p:spPr>
          <a:xfrm>
            <a:off x="8828385" y="3116511"/>
            <a:ext cx="89495" cy="219670"/>
          </a:xfrm>
          <a:prstGeom prst="rect">
            <a:avLst/>
          </a:prstGeom>
        </p:spPr>
      </p:pic>
      <p:sp>
        <p:nvSpPr>
          <p:cNvPr id="62" name="Shape 36"/>
          <p:cNvSpPr/>
          <p:nvPr/>
        </p:nvSpPr>
        <p:spPr>
          <a:xfrm>
            <a:off x="8767415" y="3042196"/>
            <a:ext cx="224780" cy="224780"/>
          </a:xfrm>
          <a:prstGeom prst="roundRect">
            <a:avLst>
              <a:gd name="adj" fmla="val 4237"/>
            </a:avLst>
          </a:prstGeom>
          <a:solidFill>
            <a:srgbClr val="2B2B2B"/>
          </a:solidFill>
          <a:ln w="6350">
            <a:solidFill>
              <a:srgbClr val="EFE9DA"/>
            </a:solidFill>
            <a:prstDash val="solid"/>
          </a:ln>
        </p:spPr>
      </p:sp>
      <p:sp>
        <p:nvSpPr>
          <p:cNvPr id="63" name="Shape 37"/>
          <p:cNvSpPr/>
          <p:nvPr/>
        </p:nvSpPr>
        <p:spPr>
          <a:xfrm>
            <a:off x="8655645" y="3116511"/>
            <a:ext cx="92670" cy="76200"/>
          </a:xfrm>
          <a:prstGeom prst="roundRect">
            <a:avLst>
              <a:gd name="adj" fmla="val 12500"/>
            </a:avLst>
          </a:prstGeom>
          <a:solidFill>
            <a:srgbClr val="C9CED3"/>
          </a:solidFill>
          <a:ln w="6350">
            <a:solidFill>
              <a:srgbClr val="EFE9DA"/>
            </a:solidFill>
            <a:prstDash val="solid"/>
          </a:ln>
        </p:spPr>
      </p:sp>
      <p:sp>
        <p:nvSpPr>
          <p:cNvPr id="64" name="Shape 38"/>
          <p:cNvSpPr/>
          <p:nvPr/>
        </p:nvSpPr>
        <p:spPr>
          <a:xfrm>
            <a:off x="9010650" y="3089225"/>
            <a:ext cx="46335" cy="20290"/>
          </a:xfrm>
          <a:prstGeom prst="roundRect">
            <a:avLst>
              <a:gd name="adj" fmla="val 46944"/>
            </a:avLst>
          </a:prstGeom>
          <a:solidFill>
            <a:srgbClr val="E3B66B"/>
          </a:solidFill>
          <a:ln w="6350">
            <a:solidFill>
              <a:srgbClr val="EFE9DA"/>
            </a:solidFill>
            <a:prstDash val="solid"/>
          </a:ln>
        </p:spPr>
      </p:sp>
      <p:sp>
        <p:nvSpPr>
          <p:cNvPr id="65" name="Shape 39"/>
          <p:cNvSpPr/>
          <p:nvPr/>
        </p:nvSpPr>
        <p:spPr>
          <a:xfrm>
            <a:off x="9015710" y="3138736"/>
            <a:ext cx="46335" cy="20290"/>
          </a:xfrm>
          <a:prstGeom prst="roundRect">
            <a:avLst>
              <a:gd name="adj" fmla="val 46944"/>
            </a:avLst>
          </a:prstGeom>
          <a:solidFill>
            <a:srgbClr val="E3B66B"/>
          </a:solidFill>
          <a:ln w="6350">
            <a:solidFill>
              <a:srgbClr val="EFE9DA"/>
            </a:solidFill>
            <a:prstDash val="solid"/>
          </a:ln>
        </p:spPr>
      </p:sp>
      <p:sp>
        <p:nvSpPr>
          <p:cNvPr id="66" name="Shape 40"/>
          <p:cNvSpPr/>
          <p:nvPr/>
        </p:nvSpPr>
        <p:spPr>
          <a:xfrm>
            <a:off x="9094440" y="3102521"/>
            <a:ext cx="92670" cy="92670"/>
          </a:xfrm>
          <a:prstGeom prst="roundRect">
            <a:avLst>
              <a:gd name="adj" fmla="val 10278"/>
            </a:avLst>
          </a:prstGeom>
          <a:solidFill>
            <a:srgbClr val="6FA8DC"/>
          </a:solidFill>
          <a:ln w="6350">
            <a:solidFill>
              <a:srgbClr val="EFE9DA"/>
            </a:solidFill>
            <a:prstDash val="solid"/>
          </a:ln>
        </p:spPr>
      </p:sp>
      <p:sp>
        <p:nvSpPr>
          <p:cNvPr id="67" name="Shape 41"/>
          <p:cNvSpPr/>
          <p:nvPr/>
        </p:nvSpPr>
        <p:spPr>
          <a:xfrm>
            <a:off x="9014420" y="3213646"/>
            <a:ext cx="257770" cy="191740"/>
          </a:xfrm>
          <a:prstGeom prst="roundRect">
            <a:avLst>
              <a:gd name="adj" fmla="val 4968"/>
            </a:avLst>
          </a:prstGeom>
          <a:solidFill>
            <a:srgbClr val="9AA3AB"/>
          </a:solidFill>
          <a:ln w="6350">
            <a:solidFill>
              <a:srgbClr val="EFE9DA"/>
            </a:solidFill>
            <a:prstDash val="solid"/>
          </a:ln>
        </p:spPr>
      </p:sp>
      <p:sp>
        <p:nvSpPr>
          <p:cNvPr id="68" name="Shape 42"/>
          <p:cNvSpPr/>
          <p:nvPr/>
        </p:nvSpPr>
        <p:spPr>
          <a:xfrm>
            <a:off x="8712795" y="2929186"/>
            <a:ext cx="323850" cy="92670"/>
          </a:xfrm>
          <a:prstGeom prst="roundRect">
            <a:avLst>
              <a:gd name="adj" fmla="val 10278"/>
            </a:avLst>
          </a:prstGeom>
          <a:solidFill>
            <a:srgbClr val="555555"/>
          </a:solidFill>
          <a:ln w="6350">
            <a:solidFill>
              <a:srgbClr val="EFE9DA"/>
            </a:solidFill>
            <a:prstDash val="solid"/>
          </a:ln>
        </p:spPr>
      </p:sp>
      <p:sp>
        <p:nvSpPr>
          <p:cNvPr id="69" name="Shape 43"/>
          <p:cNvSpPr/>
          <p:nvPr/>
        </p:nvSpPr>
        <p:spPr>
          <a:xfrm>
            <a:off x="8843615" y="3287961"/>
            <a:ext cx="46335" cy="20290"/>
          </a:xfrm>
          <a:prstGeom prst="roundRect">
            <a:avLst>
              <a:gd name="adj" fmla="val 46944"/>
            </a:avLst>
          </a:prstGeom>
          <a:solidFill>
            <a:srgbClr val="E85D4A"/>
          </a:solidFill>
          <a:ln w="6350">
            <a:solidFill>
              <a:srgbClr val="EFE9DA"/>
            </a:solidFill>
            <a:prstDash val="solid"/>
          </a:ln>
        </p:spPr>
      </p:sp>
      <p:sp>
        <p:nvSpPr>
          <p:cNvPr id="70" name="Text 44"/>
          <p:cNvSpPr/>
          <p:nvPr/>
        </p:nvSpPr>
        <p:spPr>
          <a:xfrm>
            <a:off x="8134350" y="4006800"/>
            <a:ext cx="317868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F6E56"/>
                </a:solidFill>
                <a:latin typeface="Inter" pitchFamily="34" charset="0"/>
                <a:ea typeface="Inter" pitchFamily="34" charset="-122"/>
                <a:cs typeface="Inter" pitchFamily="34" charset="-120"/>
              </a:rPr>
              <a:t>Inside the board: pass</a:t>
            </a:r>
            <a:endParaRPr lang="en-US" sz="1300" dirty="0"/>
          </a:p>
        </p:txBody>
      </p:sp>
      <p:sp>
        <p:nvSpPr>
          <p:cNvPr id="71" name="Text 45"/>
          <p:cNvSpPr/>
          <p:nvPr/>
        </p:nvSpPr>
        <p:spPr>
          <a:xfrm>
            <a:off x="8134350" y="4250630"/>
            <a:ext cx="317868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F6E56"/>
                </a:solidFill>
                <a:latin typeface="Inter" pitchFamily="34" charset="0"/>
                <a:ea typeface="Inter" pitchFamily="34" charset="-122"/>
                <a:cs typeface="Inter" pitchFamily="34" charset="-120"/>
              </a:rPr>
              <a:t>No overlaps: pass</a:t>
            </a:r>
            <a:endParaRPr lang="en-US" sz="1300" dirty="0"/>
          </a:p>
        </p:txBody>
      </p:sp>
      <p:sp>
        <p:nvSpPr>
          <p:cNvPr id="72" name="Text 46"/>
          <p:cNvSpPr/>
          <p:nvPr/>
        </p:nvSpPr>
        <p:spPr>
          <a:xfrm>
            <a:off x="8134350" y="4494461"/>
            <a:ext cx="317868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43D"/>
                </a:solidFill>
                <a:latin typeface="Inter" pitchFamily="34" charset="0"/>
                <a:ea typeface="Inter" pitchFamily="34" charset="-122"/>
                <a:cs typeface="Inter" pitchFamily="34" charset="-120"/>
              </a:rPr>
              <a:t>Wire 39.8 · crystal 5.4 · caps 4.9</a:t>
            </a:r>
            <a:endParaRPr lang="en-US" sz="1300" dirty="0"/>
          </a:p>
        </p:txBody>
      </p:sp>
      <p:sp>
        <p:nvSpPr>
          <p:cNvPr id="73" name="Text 47"/>
          <p:cNvSpPr/>
          <p:nvPr/>
        </p:nvSpPr>
        <p:spPr>
          <a:xfrm>
            <a:off x="8134350" y="4738291"/>
            <a:ext cx="317868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43D"/>
                </a:solidFill>
                <a:latin typeface="Inter" pitchFamily="34" charset="0"/>
                <a:ea typeface="Inter" pitchFamily="34" charset="-122"/>
                <a:cs typeface="Inter" pitchFamily="34" charset="-120"/>
              </a:rPr>
              <a:t>Cost 64.0</a:t>
            </a:r>
            <a:endParaRPr lang="en-US" sz="1300" dirty="0"/>
          </a:p>
        </p:txBody>
      </p:sp>
      <p:sp>
        <p:nvSpPr>
          <p:cNvPr id="74" name="Text 48"/>
          <p:cNvSpPr/>
          <p:nvPr/>
        </p:nvSpPr>
        <p:spPr>
          <a:xfrm>
            <a:off x="8134350" y="5058321"/>
            <a:ext cx="3178683" cy="33273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0F6E56"/>
                </a:solidFill>
                <a:latin typeface="Space Grotesk" pitchFamily="34" charset="0"/>
                <a:ea typeface="Space Grotesk" pitchFamily="34" charset="-122"/>
                <a:cs typeface="Space Grotesk" pitchFamily="34" charset="-120"/>
              </a:rPr>
              <a:t>Score 0.281</a:t>
            </a:r>
            <a:endParaRPr lang="en-US" sz="2200" dirty="0"/>
          </a:p>
        </p:txBody>
      </p:sp>
      <p:sp>
        <p:nvSpPr>
          <p:cNvPr id="75" name="Text 49"/>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B64"/>
                </a:solidFill>
                <a:latin typeface="Inter" pitchFamily="34" charset="0"/>
                <a:ea typeface="Inter" pitchFamily="34" charset="-122"/>
                <a:cs typeface="Inter" pitchFamily="34" charset="-120"/>
              </a:rPr>
              <a:t>PCB placement with AlphaEvolve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EFE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2A24"/>
                </a:solidFill>
                <a:latin typeface="Space Grotesk" pitchFamily="34" charset="0"/>
                <a:ea typeface="Space Grotesk" pitchFamily="34" charset="-122"/>
                <a:cs typeface="Space Grotesk" pitchFamily="34" charset="-120"/>
              </a:rPr>
              <a:t>Start: random scatter</a:t>
            </a:r>
            <a:endParaRPr lang="en-US" sz="3200" dirty="0"/>
          </a:p>
        </p:txBody>
      </p:sp>
      <p:sp>
        <p:nvSpPr>
          <p:cNvPr id="3" name="Text 1"/>
          <p:cNvSpPr/>
          <p:nvPr/>
        </p:nvSpPr>
        <p:spPr>
          <a:xfrm>
            <a:off x="812800" y="136143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3443D"/>
                </a:solidFill>
                <a:latin typeface="Inter" pitchFamily="34" charset="0"/>
                <a:ea typeface="Inter" pitchFamily="34" charset="-122"/>
                <a:cs typeface="Inter" pitchFamily="34" charset="-120"/>
              </a:rPr>
              <a:t>The seed program. It picks random spots and ignores both the rules and the wiring.</a:t>
            </a:r>
            <a:endParaRPr lang="en-US" sz="1500" dirty="0"/>
          </a:p>
        </p:txBody>
      </p:sp>
      <p:sp>
        <p:nvSpPr>
          <p:cNvPr id="4" name="Shape 2"/>
          <p:cNvSpPr/>
          <p:nvPr/>
        </p:nvSpPr>
        <p:spPr>
          <a:xfrm>
            <a:off x="812800" y="1729730"/>
            <a:ext cx="6413500" cy="1921470"/>
          </a:xfrm>
          <a:prstGeom prst="roundRect">
            <a:avLst>
              <a:gd name="adj" fmla="val 5288"/>
            </a:avLst>
          </a:prstGeom>
          <a:solidFill>
            <a:srgbClr val="0E2A24"/>
          </a:solidFill>
          <a:ln/>
        </p:spPr>
      </p:sp>
      <p:sp>
        <p:nvSpPr>
          <p:cNvPr id="5" name="Text 3"/>
          <p:cNvSpPr/>
          <p:nvPr/>
        </p:nvSpPr>
        <p:spPr>
          <a:xfrm>
            <a:off x="965200" y="1856730"/>
            <a:ext cx="6291961"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9DB3AA"/>
                </a:solidFill>
                <a:latin typeface="Inter" pitchFamily="34" charset="0"/>
                <a:ea typeface="Inter" pitchFamily="34" charset="-122"/>
                <a:cs typeface="Inter" pitchFamily="34" charset="-120"/>
              </a:rPr>
              <a:t>initial_program.py · place()</a:t>
            </a:r>
            <a:endParaRPr lang="en-US" sz="1200" dirty="0"/>
          </a:p>
        </p:txBody>
      </p:sp>
      <p:sp>
        <p:nvSpPr>
          <p:cNvPr id="6" name="Text 4"/>
          <p:cNvSpPr/>
          <p:nvPr/>
        </p:nvSpPr>
        <p:spPr>
          <a:xfrm>
            <a:off x="965200" y="2105620"/>
            <a:ext cx="6291961" cy="1443980"/>
          </a:xfrm>
          <a:prstGeom prst="rect">
            <a:avLst/>
          </a:prstGeom>
          <a:noFill/>
          <a:ln/>
        </p:spPr>
        <p:txBody>
          <a:bodyPr wrap="none" lIns="0" tIns="0" rIns="0" bIns="0" rtlCol="0" anchor="t">
            <a:normAutofit/>
          </a:bodyPr>
          <a:lstStyle/>
          <a:p>
            <a:pPr algn="l" indent="0" marL="0">
              <a:lnSpc>
                <a:spcPts val="1596"/>
              </a:lnSpc>
              <a:buNone/>
            </a:pPr>
            <a:r>
              <a:rPr lang="en-US" sz="1200" dirty="0">
                <a:solidFill>
                  <a:srgbClr val="EFE9DA"/>
                </a:solidFill>
                <a:latin typeface="IBM Plex Mono" pitchFamily="49" charset="0"/>
                <a:ea typeface="IBM Plex Mono" pitchFamily="49" charset="-122"/>
                <a:cs typeface="IBM Plex Mono" pitchFamily="49" charset="-120"/>
              </a:rPr>
              <a:t>def place(seed=0):</a:t>
            </a:r>
            <a:endParaRPr lang="en-US" sz="1200" dirty="0"/>
          </a:p>
          <a:p>
            <a:pPr algn="l" indent="0" marL="0">
              <a:lnSpc>
                <a:spcPts val="1596"/>
              </a:lnSpc>
              <a:buNone/>
            </a:pPr>
            <a:r>
              <a:rPr lang="en-US" sz="1200" dirty="0">
                <a:solidFill>
                  <a:srgbClr val="EFE9DA"/>
                </a:solidFill>
                <a:latin typeface="IBM Plex Mono" pitchFamily="49" charset="0"/>
                <a:ea typeface="IBM Plex Mono" pitchFamily="49" charset="-122"/>
                <a:cs typeface="IBM Plex Mono" pitchFamily="49" charset="-120"/>
              </a:rPr>
              <a:t>    rng = random.Random(seed)</a:t>
            </a:r>
            <a:endParaRPr lang="en-US" sz="1200" dirty="0"/>
          </a:p>
          <a:p>
            <a:pPr algn="l" indent="0" marL="0">
              <a:lnSpc>
                <a:spcPts val="1596"/>
              </a:lnSpc>
              <a:buNone/>
            </a:pPr>
            <a:r>
              <a:rPr lang="en-US" sz="1200" dirty="0">
                <a:solidFill>
                  <a:srgbClr val="EFE9DA"/>
                </a:solidFill>
                <a:latin typeface="IBM Plex Mono" pitchFamily="49" charset="0"/>
                <a:ea typeface="IBM Plex Mono" pitchFamily="49" charset="-122"/>
                <a:cs typeface="IBM Plex Mono" pitchFamily="49" charset="-120"/>
              </a:rPr>
              <a:t>    pos = {}</a:t>
            </a:r>
            <a:endParaRPr lang="en-US" sz="1200" dirty="0"/>
          </a:p>
          <a:p>
            <a:pPr algn="l" indent="0" marL="0">
              <a:lnSpc>
                <a:spcPts val="1596"/>
              </a:lnSpc>
              <a:buNone/>
            </a:pPr>
            <a:r>
              <a:rPr lang="en-US" sz="1200" dirty="0">
                <a:solidFill>
                  <a:srgbClr val="EFE9DA"/>
                </a:solidFill>
                <a:latin typeface="IBM Plex Mono" pitchFamily="49" charset="0"/>
                <a:ea typeface="IBM Plex Mono" pitchFamily="49" charset="-122"/>
                <a:cs typeface="IBM Plex Mono" pitchFamily="49" charset="-120"/>
              </a:rPr>
              <a:t>    for name, (w, h) in COMPONENTS.items():</a:t>
            </a:r>
            <a:endParaRPr lang="en-US" sz="1200" dirty="0"/>
          </a:p>
          <a:p>
            <a:pPr algn="l" indent="0" marL="0">
              <a:lnSpc>
                <a:spcPts val="1596"/>
              </a:lnSpc>
              <a:buNone/>
            </a:pPr>
            <a:r>
              <a:rPr lang="en-US" sz="1200" dirty="0">
                <a:solidFill>
                  <a:srgbClr val="EFE9DA"/>
                </a:solidFill>
                <a:latin typeface="IBM Plex Mono" pitchFamily="49" charset="0"/>
                <a:ea typeface="IBM Plex Mono" pitchFamily="49" charset="-122"/>
                <a:cs typeface="IBM Plex Mono" pitchFamily="49" charset="-120"/>
              </a:rPr>
              <a:t>        pos[name] = (rng.uniform(w / 2, BOARD[0] - w / 2),</a:t>
            </a:r>
            <a:endParaRPr lang="en-US" sz="1200" dirty="0"/>
          </a:p>
          <a:p>
            <a:pPr algn="l" indent="0" marL="0">
              <a:lnSpc>
                <a:spcPts val="1596"/>
              </a:lnSpc>
              <a:buNone/>
            </a:pPr>
            <a:r>
              <a:rPr lang="en-US" sz="1200" dirty="0">
                <a:solidFill>
                  <a:srgbClr val="EFE9DA"/>
                </a:solidFill>
                <a:latin typeface="IBM Plex Mono" pitchFamily="49" charset="0"/>
                <a:ea typeface="IBM Plex Mono" pitchFamily="49" charset="-122"/>
                <a:cs typeface="IBM Plex Mono" pitchFamily="49" charset="-120"/>
              </a:rPr>
              <a:t>                     rng.uniform(h / 2, BOARD[1] - h / 2))</a:t>
            </a:r>
            <a:endParaRPr lang="en-US" sz="1200" dirty="0"/>
          </a:p>
          <a:p>
            <a:pPr algn="l" indent="0" marL="0">
              <a:lnSpc>
                <a:spcPts val="1596"/>
              </a:lnSpc>
              <a:buNone/>
            </a:pPr>
            <a:r>
              <a:rPr lang="en-US" sz="1200" dirty="0">
                <a:solidFill>
                  <a:srgbClr val="EFE9DA"/>
                </a:solidFill>
                <a:latin typeface="IBM Plex Mono" pitchFamily="49" charset="0"/>
                <a:ea typeface="IBM Plex Mono" pitchFamily="49" charset="-122"/>
                <a:cs typeface="IBM Plex Mono" pitchFamily="49" charset="-120"/>
              </a:rPr>
              <a:t>    return pos</a:t>
            </a:r>
            <a:endParaRPr lang="en-US" sz="1200" dirty="0"/>
          </a:p>
        </p:txBody>
      </p:sp>
      <p:sp>
        <p:nvSpPr>
          <p:cNvPr id="7" name="Text 5"/>
          <p:cNvSpPr/>
          <p:nvPr/>
        </p:nvSpPr>
        <p:spPr>
          <a:xfrm>
            <a:off x="812800" y="3778200"/>
            <a:ext cx="660590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E2A24"/>
                </a:solidFill>
                <a:latin typeface="Inter" pitchFamily="34" charset="0"/>
                <a:ea typeface="Inter" pitchFamily="34" charset="-122"/>
                <a:cs typeface="Inter" pitchFamily="34" charset="-120"/>
              </a:rPr>
              <a:t>What it does</a:t>
            </a:r>
            <a:endParaRPr lang="en-US" sz="1500" dirty="0"/>
          </a:p>
        </p:txBody>
      </p:sp>
      <p:sp>
        <p:nvSpPr>
          <p:cNvPr id="8" name="Text 6"/>
          <p:cNvSpPr/>
          <p:nvPr/>
        </p:nvSpPr>
        <p:spPr>
          <a:xfrm>
            <a:off x="897382" y="4095700"/>
            <a:ext cx="6513703" cy="10922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33443D"/>
                </a:solidFill>
                <a:latin typeface="Inter" pitchFamily="34" charset="0"/>
                <a:ea typeface="Inter" pitchFamily="34" charset="-122"/>
                <a:cs typeface="Inter" pitchFamily="34" charset="-120"/>
              </a:rPr>
              <a:t>Picks a random spot for every part</a:t>
            </a:r>
            <a:endParaRPr lang="en-US" sz="1400" dirty="0"/>
          </a:p>
          <a:p>
            <a:pPr algn="l" marL="169418" indent="-169418">
              <a:lnSpc>
                <a:spcPts val="2100"/>
              </a:lnSpc>
              <a:buSzPct val="100000"/>
              <a:buChar char="•"/>
            </a:pPr>
            <a:r>
              <a:rPr lang="en-US" sz="1400" dirty="0">
                <a:solidFill>
                  <a:srgbClr val="33443D"/>
                </a:solidFill>
                <a:latin typeface="Inter" pitchFamily="34" charset="0"/>
                <a:ea typeface="Inter" pitchFamily="34" charset="-122"/>
                <a:cs typeface="Inter" pitchFamily="34" charset="-120"/>
              </a:rPr>
              <a:t>Never checks for overlaps (about 4 in 10 random seeds are legal; this one is)</a:t>
            </a:r>
            <a:endParaRPr lang="en-US" sz="1400" dirty="0"/>
          </a:p>
          <a:p>
            <a:pPr algn="l" marL="169418" indent="-169418">
              <a:lnSpc>
                <a:spcPts val="2100"/>
              </a:lnSpc>
              <a:buSzPct val="100000"/>
              <a:buChar char="•"/>
            </a:pPr>
            <a:r>
              <a:rPr lang="en-US" sz="1400" dirty="0">
                <a:solidFill>
                  <a:srgbClr val="33443D"/>
                </a:solidFill>
                <a:latin typeface="Inter" pitchFamily="34" charset="0"/>
                <a:ea typeface="Inter" pitchFamily="34" charset="-122"/>
                <a:cs typeface="Inter" pitchFamily="34" charset="-120"/>
              </a:rPr>
              <a:t>Never looks at which parts connect</a:t>
            </a:r>
            <a:endParaRPr lang="en-US" sz="1400" dirty="0"/>
          </a:p>
        </p:txBody>
      </p:sp>
      <p:sp>
        <p:nvSpPr>
          <p:cNvPr id="9" name="Shape 7"/>
          <p:cNvSpPr/>
          <p:nvPr/>
        </p:nvSpPr>
        <p:spPr>
          <a:xfrm>
            <a:off x="7505700" y="1755130"/>
            <a:ext cx="2540000" cy="2540000"/>
          </a:xfrm>
          <a:prstGeom prst="roundRect">
            <a:avLst>
              <a:gd name="adj" fmla="val 2500"/>
            </a:avLst>
          </a:prstGeom>
          <a:solidFill>
            <a:srgbClr val="1C5E47"/>
          </a:solidFill>
          <a:ln/>
          <a:effectLst>
            <a:outerShdw sx="100000" sy="100000" kx="0" ky="0" algn="bl" rotWithShape="0" blurRad="25400" dist="0" dir="60000">
              <a:srgbClr val="0F3B2D">
                <a:alpha val="100000"/>
              </a:srgbClr>
            </a:outerShdw>
          </a:effectLst>
        </p:spPr>
      </p:sp>
      <p:pic>
        <p:nvPicPr>
          <p:cNvPr id="10" name="Image 0" descr="connector">    </p:cNvPr>
          <p:cNvPicPr>
            <a:picLocks noChangeAspect="1"/>
          </p:cNvPicPr>
          <p:nvPr/>
        </p:nvPicPr>
        <p:blipFill>
          <a:blip r:embed="rId1"/>
          <a:srcRect l="-15" r="-15" t="0" b="0"/>
          <a:stretch/>
        </p:blipFill>
        <p:spPr>
          <a:xfrm>
            <a:off x="8548340" y="2405360"/>
            <a:ext cx="1017885" cy="1221085"/>
          </a:xfrm>
          <a:prstGeom prst="rect">
            <a:avLst/>
          </a:prstGeom>
        </p:spPr>
      </p:pic>
      <p:pic>
        <p:nvPicPr>
          <p:cNvPr id="11" name="Image 1" descr="connector">    </p:cNvPr>
          <p:cNvPicPr>
            <a:picLocks noChangeAspect="1"/>
          </p:cNvPicPr>
          <p:nvPr/>
        </p:nvPicPr>
        <p:blipFill>
          <a:blip r:embed="rId2"/>
          <a:srcRect l="-3" r="-3" t="0" b="0"/>
          <a:stretch/>
        </p:blipFill>
        <p:spPr>
          <a:xfrm>
            <a:off x="8765530" y="2749500"/>
            <a:ext cx="800695" cy="876895"/>
          </a:xfrm>
          <a:prstGeom prst="rect">
            <a:avLst/>
          </a:prstGeom>
        </p:spPr>
      </p:pic>
      <p:pic>
        <p:nvPicPr>
          <p:cNvPr id="12" name="Image 2" descr="connector">    </p:cNvPr>
          <p:cNvPicPr>
            <a:picLocks noChangeAspect="1"/>
          </p:cNvPicPr>
          <p:nvPr/>
        </p:nvPicPr>
        <p:blipFill>
          <a:blip r:embed="rId3"/>
          <a:srcRect l="0" r="0" t="-1013" b="-1013"/>
          <a:stretch/>
        </p:blipFill>
        <p:spPr>
          <a:xfrm>
            <a:off x="9435455" y="2495500"/>
            <a:ext cx="130770" cy="1130895"/>
          </a:xfrm>
          <a:prstGeom prst="rect">
            <a:avLst/>
          </a:prstGeom>
        </p:spPr>
      </p:pic>
      <p:pic>
        <p:nvPicPr>
          <p:cNvPr id="13" name="Image 3" descr="connector">    </p:cNvPr>
          <p:cNvPicPr>
            <a:picLocks noChangeAspect="1"/>
          </p:cNvPicPr>
          <p:nvPr/>
        </p:nvPicPr>
        <p:blipFill>
          <a:blip r:embed="rId4"/>
          <a:srcRect l="-333" r="-333" t="0" b="0"/>
          <a:stretch/>
        </p:blipFill>
        <p:spPr>
          <a:xfrm>
            <a:off x="8681690" y="2997795"/>
            <a:ext cx="1002655" cy="264765"/>
          </a:xfrm>
          <a:prstGeom prst="rect">
            <a:avLst/>
          </a:prstGeom>
        </p:spPr>
      </p:pic>
      <p:pic>
        <p:nvPicPr>
          <p:cNvPr id="14" name="Image 4" descr="connector">    </p:cNvPr>
          <p:cNvPicPr>
            <a:picLocks noChangeAspect="1"/>
          </p:cNvPicPr>
          <p:nvPr/>
        </p:nvPicPr>
        <p:blipFill>
          <a:blip r:embed="rId5"/>
          <a:srcRect l="-517" r="-517" t="0" b="0"/>
          <a:stretch/>
        </p:blipFill>
        <p:spPr>
          <a:xfrm>
            <a:off x="8681690" y="2749500"/>
            <a:ext cx="159990" cy="513060"/>
          </a:xfrm>
          <a:prstGeom prst="rect">
            <a:avLst/>
          </a:prstGeom>
        </p:spPr>
      </p:pic>
      <p:pic>
        <p:nvPicPr>
          <p:cNvPr id="15" name="Image 5" descr="connector">    </p:cNvPr>
          <p:cNvPicPr>
            <a:picLocks noChangeAspect="1"/>
          </p:cNvPicPr>
          <p:nvPr/>
        </p:nvPicPr>
        <p:blipFill>
          <a:blip r:embed="rId6"/>
          <a:srcRect l="0" r="0" t="-32" b="-32"/>
          <a:stretch/>
        </p:blipFill>
        <p:spPr>
          <a:xfrm>
            <a:off x="8681690" y="2495500"/>
            <a:ext cx="829915" cy="767060"/>
          </a:xfrm>
          <a:prstGeom prst="rect">
            <a:avLst/>
          </a:prstGeom>
        </p:spPr>
      </p:pic>
      <p:pic>
        <p:nvPicPr>
          <p:cNvPr id="16" name="Image 6" descr="connector">    </p:cNvPr>
          <p:cNvPicPr>
            <a:picLocks noChangeAspect="1"/>
          </p:cNvPicPr>
          <p:nvPr/>
        </p:nvPicPr>
        <p:blipFill>
          <a:blip r:embed="rId7"/>
          <a:srcRect l="-1358" r="-1358" t="0" b="0"/>
          <a:stretch/>
        </p:blipFill>
        <p:spPr>
          <a:xfrm>
            <a:off x="8294340" y="3550245"/>
            <a:ext cx="1271885" cy="123825"/>
          </a:xfrm>
          <a:prstGeom prst="rect">
            <a:avLst/>
          </a:prstGeom>
        </p:spPr>
      </p:pic>
      <p:pic>
        <p:nvPicPr>
          <p:cNvPr id="17" name="Image 7" descr="connector">    </p:cNvPr>
          <p:cNvPicPr>
            <a:picLocks noChangeAspect="1"/>
          </p:cNvPicPr>
          <p:nvPr/>
        </p:nvPicPr>
        <p:blipFill>
          <a:blip r:embed="rId8"/>
          <a:srcRect l="0" r="0" t="-154" b="-154"/>
          <a:stretch/>
        </p:blipFill>
        <p:spPr>
          <a:xfrm>
            <a:off x="9028410" y="2363440"/>
            <a:ext cx="537815" cy="1263005"/>
          </a:xfrm>
          <a:prstGeom prst="rect">
            <a:avLst/>
          </a:prstGeom>
        </p:spPr>
      </p:pic>
      <p:sp>
        <p:nvSpPr>
          <p:cNvPr id="18" name="Shape 8"/>
          <p:cNvSpPr/>
          <p:nvPr/>
        </p:nvSpPr>
        <p:spPr>
          <a:xfrm>
            <a:off x="9353550" y="3413720"/>
            <a:ext cx="349250" cy="349250"/>
          </a:xfrm>
          <a:prstGeom prst="roundRect">
            <a:avLst>
              <a:gd name="adj" fmla="val 2727"/>
            </a:avLst>
          </a:prstGeom>
          <a:solidFill>
            <a:srgbClr val="2B2B2B"/>
          </a:solidFill>
          <a:ln w="6350">
            <a:solidFill>
              <a:srgbClr val="EFE9DA"/>
            </a:solidFill>
            <a:prstDash val="solid"/>
          </a:ln>
        </p:spPr>
      </p:sp>
      <p:sp>
        <p:nvSpPr>
          <p:cNvPr id="19" name="Shape 9"/>
          <p:cNvSpPr/>
          <p:nvPr/>
        </p:nvSpPr>
        <p:spPr>
          <a:xfrm>
            <a:off x="8513415" y="2383135"/>
            <a:ext cx="146050" cy="120650"/>
          </a:xfrm>
          <a:prstGeom prst="roundRect">
            <a:avLst>
              <a:gd name="adj" fmla="val 7895"/>
            </a:avLst>
          </a:prstGeom>
          <a:solidFill>
            <a:srgbClr val="C9CED3"/>
          </a:solidFill>
          <a:ln w="6350">
            <a:solidFill>
              <a:srgbClr val="EFE9DA"/>
            </a:solidFill>
            <a:prstDash val="solid"/>
          </a:ln>
        </p:spPr>
      </p:sp>
      <p:sp>
        <p:nvSpPr>
          <p:cNvPr id="20" name="Shape 10"/>
          <p:cNvSpPr/>
          <p:nvPr/>
        </p:nvSpPr>
        <p:spPr>
          <a:xfrm>
            <a:off x="8766175" y="2770485"/>
            <a:ext cx="74910" cy="34280"/>
          </a:xfrm>
          <a:prstGeom prst="roundRect">
            <a:avLst>
              <a:gd name="adj" fmla="val 27786"/>
            </a:avLst>
          </a:prstGeom>
          <a:solidFill>
            <a:srgbClr val="E3B66B"/>
          </a:solidFill>
          <a:ln w="6350">
            <a:solidFill>
              <a:srgbClr val="EFE9DA"/>
            </a:solidFill>
            <a:prstDash val="solid"/>
          </a:ln>
        </p:spPr>
      </p:sp>
      <p:sp>
        <p:nvSpPr>
          <p:cNvPr id="21" name="Shape 11"/>
          <p:cNvSpPr/>
          <p:nvPr/>
        </p:nvSpPr>
        <p:spPr>
          <a:xfrm>
            <a:off x="9436100" y="2516485"/>
            <a:ext cx="74910" cy="34280"/>
          </a:xfrm>
          <a:prstGeom prst="roundRect">
            <a:avLst>
              <a:gd name="adj" fmla="val 27786"/>
            </a:avLst>
          </a:prstGeom>
          <a:solidFill>
            <a:srgbClr val="E3B66B"/>
          </a:solidFill>
          <a:ln w="6350">
            <a:solidFill>
              <a:srgbClr val="EFE9DA"/>
            </a:solidFill>
            <a:prstDash val="solid"/>
          </a:ln>
        </p:spPr>
      </p:sp>
      <p:sp>
        <p:nvSpPr>
          <p:cNvPr id="22" name="Shape 12"/>
          <p:cNvSpPr/>
          <p:nvPr/>
        </p:nvSpPr>
        <p:spPr>
          <a:xfrm>
            <a:off x="8646765" y="3151485"/>
            <a:ext cx="146050" cy="146050"/>
          </a:xfrm>
          <a:prstGeom prst="roundRect">
            <a:avLst>
              <a:gd name="adj" fmla="val 6522"/>
            </a:avLst>
          </a:prstGeom>
          <a:solidFill>
            <a:srgbClr val="6FA8DC"/>
          </a:solidFill>
          <a:ln w="6350">
            <a:solidFill>
              <a:srgbClr val="EFE9DA"/>
            </a:solidFill>
            <a:prstDash val="solid"/>
          </a:ln>
        </p:spPr>
      </p:sp>
      <p:sp>
        <p:nvSpPr>
          <p:cNvPr id="23" name="Shape 13"/>
          <p:cNvSpPr/>
          <p:nvPr/>
        </p:nvSpPr>
        <p:spPr>
          <a:xfrm>
            <a:off x="9446220" y="2886670"/>
            <a:ext cx="400050" cy="298450"/>
          </a:xfrm>
          <a:prstGeom prst="roundRect">
            <a:avLst>
              <a:gd name="adj" fmla="val 3191"/>
            </a:avLst>
          </a:prstGeom>
          <a:solidFill>
            <a:srgbClr val="9AA3AB"/>
          </a:solidFill>
          <a:ln w="6350">
            <a:solidFill>
              <a:srgbClr val="EFE9DA"/>
            </a:solidFill>
            <a:prstDash val="solid"/>
          </a:ln>
        </p:spPr>
      </p:sp>
      <p:sp>
        <p:nvSpPr>
          <p:cNvPr id="24" name="Shape 14"/>
          <p:cNvSpPr/>
          <p:nvPr/>
        </p:nvSpPr>
        <p:spPr>
          <a:xfrm>
            <a:off x="8081615" y="3562945"/>
            <a:ext cx="501650" cy="146050"/>
          </a:xfrm>
          <a:prstGeom prst="roundRect">
            <a:avLst>
              <a:gd name="adj" fmla="val 6522"/>
            </a:avLst>
          </a:prstGeom>
          <a:solidFill>
            <a:srgbClr val="555555"/>
          </a:solidFill>
          <a:ln w="6350">
            <a:solidFill>
              <a:srgbClr val="EFE9DA"/>
            </a:solidFill>
            <a:prstDash val="solid"/>
          </a:ln>
        </p:spPr>
      </p:sp>
      <p:sp>
        <p:nvSpPr>
          <p:cNvPr id="25" name="Shape 15"/>
          <p:cNvSpPr/>
          <p:nvPr/>
        </p:nvSpPr>
        <p:spPr>
          <a:xfrm>
            <a:off x="9029055" y="2384375"/>
            <a:ext cx="74910" cy="34280"/>
          </a:xfrm>
          <a:prstGeom prst="roundRect">
            <a:avLst>
              <a:gd name="adj" fmla="val 27786"/>
            </a:avLst>
          </a:prstGeom>
          <a:solidFill>
            <a:srgbClr val="E85D4A"/>
          </a:solidFill>
          <a:ln w="6350">
            <a:solidFill>
              <a:srgbClr val="EFE9DA"/>
            </a:solidFill>
            <a:prstDash val="solid"/>
          </a:ln>
        </p:spPr>
      </p:sp>
      <p:sp>
        <p:nvSpPr>
          <p:cNvPr id="26" name="Shape 16"/>
          <p:cNvSpPr/>
          <p:nvPr/>
        </p:nvSpPr>
        <p:spPr>
          <a:xfrm>
            <a:off x="10201275" y="1779885"/>
            <a:ext cx="133350" cy="133350"/>
          </a:xfrm>
          <a:prstGeom prst="roundRect">
            <a:avLst>
              <a:gd name="adj" fmla="val 16667"/>
            </a:avLst>
          </a:prstGeom>
          <a:solidFill>
            <a:srgbClr val="2B2B2B"/>
          </a:solidFill>
          <a:ln w="6350">
            <a:solidFill>
              <a:srgbClr val="B8B29E"/>
            </a:solidFill>
            <a:prstDash val="solid"/>
          </a:ln>
        </p:spPr>
      </p:sp>
      <p:sp>
        <p:nvSpPr>
          <p:cNvPr id="27" name="Text 17"/>
          <p:cNvSpPr/>
          <p:nvPr/>
        </p:nvSpPr>
        <p:spPr>
          <a:xfrm>
            <a:off x="10401300" y="1755130"/>
            <a:ext cx="434876"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3443D"/>
                </a:solidFill>
                <a:latin typeface="Inter" pitchFamily="34" charset="0"/>
                <a:ea typeface="Inter" pitchFamily="34" charset="-122"/>
                <a:cs typeface="Inter" pitchFamily="34" charset="-120"/>
              </a:rPr>
              <a:t>MCU</a:t>
            </a:r>
            <a:endParaRPr lang="en-US" sz="1200" dirty="0"/>
          </a:p>
        </p:txBody>
      </p:sp>
      <p:sp>
        <p:nvSpPr>
          <p:cNvPr id="28" name="Shape 18"/>
          <p:cNvSpPr/>
          <p:nvPr/>
        </p:nvSpPr>
        <p:spPr>
          <a:xfrm>
            <a:off x="10201275" y="2013545"/>
            <a:ext cx="133350" cy="133350"/>
          </a:xfrm>
          <a:prstGeom prst="roundRect">
            <a:avLst>
              <a:gd name="adj" fmla="val 16667"/>
            </a:avLst>
          </a:prstGeom>
          <a:solidFill>
            <a:srgbClr val="C9CED3"/>
          </a:solidFill>
          <a:ln w="6350">
            <a:solidFill>
              <a:srgbClr val="B8B29E"/>
            </a:solidFill>
            <a:prstDash val="solid"/>
          </a:ln>
        </p:spPr>
      </p:sp>
      <p:sp>
        <p:nvSpPr>
          <p:cNvPr id="29" name="Text 19"/>
          <p:cNvSpPr/>
          <p:nvPr/>
        </p:nvSpPr>
        <p:spPr>
          <a:xfrm>
            <a:off x="10401300" y="1988790"/>
            <a:ext cx="449640"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3443D"/>
                </a:solidFill>
                <a:latin typeface="Inter" pitchFamily="34" charset="0"/>
                <a:ea typeface="Inter" pitchFamily="34" charset="-122"/>
                <a:cs typeface="Inter" pitchFamily="34" charset="-120"/>
              </a:rPr>
              <a:t>XTAL</a:t>
            </a:r>
            <a:endParaRPr lang="en-US" sz="1200" dirty="0"/>
          </a:p>
        </p:txBody>
      </p:sp>
      <p:sp>
        <p:nvSpPr>
          <p:cNvPr id="30" name="Shape 20"/>
          <p:cNvSpPr/>
          <p:nvPr/>
        </p:nvSpPr>
        <p:spPr>
          <a:xfrm>
            <a:off x="10201275" y="2247205"/>
            <a:ext cx="133350" cy="133350"/>
          </a:xfrm>
          <a:prstGeom prst="roundRect">
            <a:avLst>
              <a:gd name="adj" fmla="val 16667"/>
            </a:avLst>
          </a:prstGeom>
          <a:solidFill>
            <a:srgbClr val="E3B66B"/>
          </a:solidFill>
          <a:ln w="6350">
            <a:solidFill>
              <a:srgbClr val="B8B29E"/>
            </a:solidFill>
            <a:prstDash val="solid"/>
          </a:ln>
        </p:spPr>
      </p:sp>
      <p:sp>
        <p:nvSpPr>
          <p:cNvPr id="31" name="Text 21"/>
          <p:cNvSpPr/>
          <p:nvPr/>
        </p:nvSpPr>
        <p:spPr>
          <a:xfrm>
            <a:off x="10401300" y="2222450"/>
            <a:ext cx="557213"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3443D"/>
                </a:solidFill>
                <a:latin typeface="Inter" pitchFamily="34" charset="0"/>
                <a:ea typeface="Inter" pitchFamily="34" charset="-122"/>
                <a:cs typeface="Inter" pitchFamily="34" charset="-120"/>
              </a:rPr>
              <a:t>C1, C2</a:t>
            </a:r>
            <a:endParaRPr lang="en-US" sz="1200" dirty="0"/>
          </a:p>
        </p:txBody>
      </p:sp>
      <p:sp>
        <p:nvSpPr>
          <p:cNvPr id="32" name="Shape 22"/>
          <p:cNvSpPr/>
          <p:nvPr/>
        </p:nvSpPr>
        <p:spPr>
          <a:xfrm>
            <a:off x="10201275" y="2480866"/>
            <a:ext cx="133350" cy="133350"/>
          </a:xfrm>
          <a:prstGeom prst="roundRect">
            <a:avLst>
              <a:gd name="adj" fmla="val 16667"/>
            </a:avLst>
          </a:prstGeom>
          <a:solidFill>
            <a:srgbClr val="6FA8DC"/>
          </a:solidFill>
          <a:ln w="6350">
            <a:solidFill>
              <a:srgbClr val="B8B29E"/>
            </a:solidFill>
            <a:prstDash val="solid"/>
          </a:ln>
        </p:spPr>
      </p:sp>
      <p:sp>
        <p:nvSpPr>
          <p:cNvPr id="33" name="Text 23"/>
          <p:cNvSpPr/>
          <p:nvPr/>
        </p:nvSpPr>
        <p:spPr>
          <a:xfrm>
            <a:off x="10401300" y="2456111"/>
            <a:ext cx="375225"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3443D"/>
                </a:solidFill>
                <a:latin typeface="Inter" pitchFamily="34" charset="0"/>
                <a:ea typeface="Inter" pitchFamily="34" charset="-122"/>
                <a:cs typeface="Inter" pitchFamily="34" charset="-120"/>
              </a:rPr>
              <a:t>LDO</a:t>
            </a:r>
            <a:endParaRPr lang="en-US" sz="1200" dirty="0"/>
          </a:p>
        </p:txBody>
      </p:sp>
      <p:sp>
        <p:nvSpPr>
          <p:cNvPr id="34" name="Shape 24"/>
          <p:cNvSpPr/>
          <p:nvPr/>
        </p:nvSpPr>
        <p:spPr>
          <a:xfrm>
            <a:off x="10201275" y="2714526"/>
            <a:ext cx="133350" cy="133350"/>
          </a:xfrm>
          <a:prstGeom prst="roundRect">
            <a:avLst>
              <a:gd name="adj" fmla="val 16667"/>
            </a:avLst>
          </a:prstGeom>
          <a:solidFill>
            <a:srgbClr val="9AA3AB"/>
          </a:solidFill>
          <a:ln w="6350">
            <a:solidFill>
              <a:srgbClr val="B8B29E"/>
            </a:solidFill>
            <a:prstDash val="solid"/>
          </a:ln>
        </p:spPr>
      </p:sp>
      <p:sp>
        <p:nvSpPr>
          <p:cNvPr id="35" name="Text 25"/>
          <p:cNvSpPr/>
          <p:nvPr/>
        </p:nvSpPr>
        <p:spPr>
          <a:xfrm>
            <a:off x="10401300" y="2689771"/>
            <a:ext cx="373082"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3443D"/>
                </a:solidFill>
                <a:latin typeface="Inter" pitchFamily="34" charset="0"/>
                <a:ea typeface="Inter" pitchFamily="34" charset="-122"/>
                <a:cs typeface="Inter" pitchFamily="34" charset="-120"/>
              </a:rPr>
              <a:t>USB</a:t>
            </a:r>
            <a:endParaRPr lang="en-US" sz="1200" dirty="0"/>
          </a:p>
        </p:txBody>
      </p:sp>
      <p:sp>
        <p:nvSpPr>
          <p:cNvPr id="36" name="Shape 26"/>
          <p:cNvSpPr/>
          <p:nvPr/>
        </p:nvSpPr>
        <p:spPr>
          <a:xfrm>
            <a:off x="10201275" y="2948186"/>
            <a:ext cx="133350" cy="133350"/>
          </a:xfrm>
          <a:prstGeom prst="roundRect">
            <a:avLst>
              <a:gd name="adj" fmla="val 16667"/>
            </a:avLst>
          </a:prstGeom>
          <a:solidFill>
            <a:srgbClr val="555555"/>
          </a:solidFill>
          <a:ln w="6350">
            <a:solidFill>
              <a:srgbClr val="B8B29E"/>
            </a:solidFill>
            <a:prstDash val="solid"/>
          </a:ln>
        </p:spPr>
      </p:sp>
      <p:sp>
        <p:nvSpPr>
          <p:cNvPr id="37" name="Text 27"/>
          <p:cNvSpPr/>
          <p:nvPr/>
        </p:nvSpPr>
        <p:spPr>
          <a:xfrm>
            <a:off x="10401300" y="2923431"/>
            <a:ext cx="385584"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3443D"/>
                </a:solidFill>
                <a:latin typeface="Inter" pitchFamily="34" charset="0"/>
                <a:ea typeface="Inter" pitchFamily="34" charset="-122"/>
                <a:cs typeface="Inter" pitchFamily="34" charset="-120"/>
              </a:rPr>
              <a:t>HDR</a:t>
            </a:r>
            <a:endParaRPr lang="en-US" sz="1200" dirty="0"/>
          </a:p>
        </p:txBody>
      </p:sp>
      <p:sp>
        <p:nvSpPr>
          <p:cNvPr id="38" name="Shape 28"/>
          <p:cNvSpPr/>
          <p:nvPr/>
        </p:nvSpPr>
        <p:spPr>
          <a:xfrm>
            <a:off x="10201275" y="3181846"/>
            <a:ext cx="133350" cy="133350"/>
          </a:xfrm>
          <a:prstGeom prst="roundRect">
            <a:avLst>
              <a:gd name="adj" fmla="val 16667"/>
            </a:avLst>
          </a:prstGeom>
          <a:solidFill>
            <a:srgbClr val="E85D4A"/>
          </a:solidFill>
          <a:ln w="6350">
            <a:solidFill>
              <a:srgbClr val="B8B29E"/>
            </a:solidFill>
            <a:prstDash val="solid"/>
          </a:ln>
        </p:spPr>
      </p:sp>
      <p:sp>
        <p:nvSpPr>
          <p:cNvPr id="39" name="Text 29"/>
          <p:cNvSpPr/>
          <p:nvPr/>
        </p:nvSpPr>
        <p:spPr>
          <a:xfrm>
            <a:off x="10401300" y="3157091"/>
            <a:ext cx="345341"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3443D"/>
                </a:solidFill>
                <a:latin typeface="Inter" pitchFamily="34" charset="0"/>
                <a:ea typeface="Inter" pitchFamily="34" charset="-122"/>
                <a:cs typeface="Inter" pitchFamily="34" charset="-120"/>
              </a:rPr>
              <a:t>LED</a:t>
            </a:r>
            <a:endParaRPr lang="en-US" sz="1200" dirty="0"/>
          </a:p>
        </p:txBody>
      </p:sp>
      <p:sp>
        <p:nvSpPr>
          <p:cNvPr id="40" name="Text 30"/>
          <p:cNvSpPr/>
          <p:nvPr/>
        </p:nvSpPr>
        <p:spPr>
          <a:xfrm>
            <a:off x="7480300" y="4447530"/>
            <a:ext cx="4015867"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A85A14"/>
                </a:solidFill>
                <a:latin typeface="Space Grotesk" pitchFamily="34" charset="0"/>
                <a:ea typeface="Space Grotesk" pitchFamily="34" charset="-122"/>
                <a:cs typeface="Space Grotesk" pitchFamily="34" charset="-120"/>
              </a:rPr>
              <a:t>Score 0.066</a:t>
            </a:r>
            <a:endParaRPr lang="en-US" sz="2800" dirty="0"/>
          </a:p>
        </p:txBody>
      </p:sp>
      <p:sp>
        <p:nvSpPr>
          <p:cNvPr id="41" name="Text 31"/>
          <p:cNvSpPr/>
          <p:nvPr/>
        </p:nvSpPr>
        <p:spPr>
          <a:xfrm>
            <a:off x="7480300" y="4864050"/>
            <a:ext cx="401586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43D"/>
                </a:solidFill>
                <a:latin typeface="Inter" pitchFamily="34" charset="0"/>
                <a:ea typeface="Inter" pitchFamily="34" charset="-122"/>
                <a:cs typeface="Inter" pitchFamily="34" charset="-120"/>
              </a:rPr>
              <a:t>Wire 210.5 mm · crystal 29.2 mm</a:t>
            </a:r>
            <a:endParaRPr lang="en-US" sz="1300" dirty="0"/>
          </a:p>
        </p:txBody>
      </p:sp>
      <p:sp>
        <p:nvSpPr>
          <p:cNvPr id="42" name="Text 32"/>
          <p:cNvSpPr/>
          <p:nvPr/>
        </p:nvSpPr>
        <p:spPr>
          <a:xfrm>
            <a:off x="7480300" y="5120580"/>
            <a:ext cx="401586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43D"/>
                </a:solidFill>
                <a:latin typeface="Inter" pitchFamily="34" charset="0"/>
                <a:ea typeface="Inter" pitchFamily="34" charset="-122"/>
                <a:cs typeface="Inter" pitchFamily="34" charset="-120"/>
              </a:rPr>
              <a:t>Caps 21.0 mm · LDO to crystal 15.6 mm</a:t>
            </a:r>
            <a:endParaRPr lang="en-US" sz="1300" dirty="0"/>
          </a:p>
        </p:txBody>
      </p:sp>
      <p:sp>
        <p:nvSpPr>
          <p:cNvPr id="43" name="Text 3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B64"/>
                </a:solidFill>
                <a:latin typeface="Inter" pitchFamily="34" charset="0"/>
                <a:ea typeface="Inter" pitchFamily="34" charset="-122"/>
                <a:cs typeface="Inter" pitchFamily="34" charset="-120"/>
              </a:rPr>
              <a:t>PCB placement with AlphaEvolve · 13 · The seed program, scored by the real evaluator</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EFE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2A24"/>
                </a:solidFill>
                <a:latin typeface="Space Grotesk" pitchFamily="34" charset="0"/>
                <a:ea typeface="Space Grotesk" pitchFamily="34" charset="-122"/>
                <a:cs typeface="Space Grotesk" pitchFamily="34" charset="-120"/>
              </a:rPr>
              <a:t>Middle: cluster around the MCU</a:t>
            </a:r>
            <a:endParaRPr lang="en-US" sz="3200" dirty="0"/>
          </a:p>
        </p:txBody>
      </p:sp>
      <p:sp>
        <p:nvSpPr>
          <p:cNvPr id="3" name="Text 1"/>
          <p:cNvSpPr/>
          <p:nvPr/>
        </p:nvSpPr>
        <p:spPr>
          <a:xfrm>
            <a:off x="812800" y="136143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3443D"/>
                </a:solidFill>
                <a:latin typeface="Inter" pitchFamily="34" charset="0"/>
                <a:ea typeface="Inter" pitchFamily="34" charset="-122"/>
                <a:cs typeface="Inter" pitchFamily="34" charset="-120"/>
              </a:rPr>
              <a:t>MCU in the middle, then each part takes the free spot nearest the parts it connects to.</a:t>
            </a:r>
            <a:endParaRPr lang="en-US" sz="1500" dirty="0"/>
          </a:p>
        </p:txBody>
      </p:sp>
      <p:sp>
        <p:nvSpPr>
          <p:cNvPr id="4" name="Shape 2"/>
          <p:cNvSpPr/>
          <p:nvPr/>
        </p:nvSpPr>
        <p:spPr>
          <a:xfrm>
            <a:off x="812800" y="1729730"/>
            <a:ext cx="6413500" cy="3340050"/>
          </a:xfrm>
          <a:prstGeom prst="roundRect">
            <a:avLst>
              <a:gd name="adj" fmla="val 3042"/>
            </a:avLst>
          </a:prstGeom>
          <a:solidFill>
            <a:srgbClr val="0E2A24"/>
          </a:solidFill>
          <a:ln/>
        </p:spPr>
      </p:sp>
      <p:sp>
        <p:nvSpPr>
          <p:cNvPr id="5" name="Text 3"/>
          <p:cNvSpPr/>
          <p:nvPr/>
        </p:nvSpPr>
        <p:spPr>
          <a:xfrm>
            <a:off x="965200" y="1856730"/>
            <a:ext cx="6291961"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9DB3AA"/>
                </a:solidFill>
                <a:latin typeface="Inter" pitchFamily="34" charset="0"/>
                <a:ea typeface="Inter" pitchFamily="34" charset="-122"/>
                <a:cs typeface="Inter" pitchFamily="34" charset="-120"/>
              </a:rPr>
              <a:t>stage2_cluster.py · place() · </a:t>
            </a:r>
            <a:r>
              <a:rPr lang="en-US" sz="1200" dirty="0">
                <a:solidFill>
                  <a:srgbClr val="E8A25C"/>
                </a:solidFill>
                <a:latin typeface="Inter" pitchFamily="34" charset="0"/>
                <a:ea typeface="Inter" pitchFamily="34" charset="-122"/>
                <a:cs typeface="Inter" pitchFamily="34" charset="-120"/>
              </a:rPr>
              <a:t>amber = the new idea</a:t>
            </a:r>
            <a:endParaRPr lang="en-US" sz="1200" dirty="0"/>
          </a:p>
        </p:txBody>
      </p:sp>
      <p:sp>
        <p:nvSpPr>
          <p:cNvPr id="6" name="Text 4"/>
          <p:cNvSpPr/>
          <p:nvPr/>
        </p:nvSpPr>
        <p:spPr>
          <a:xfrm>
            <a:off x="965200" y="2105620"/>
            <a:ext cx="6291961" cy="2862560"/>
          </a:xfrm>
          <a:prstGeom prst="rect">
            <a:avLst/>
          </a:prstGeom>
          <a:noFill/>
          <a:ln/>
        </p:spPr>
        <p:txBody>
          <a:bodyPr wrap="none" lIns="0" tIns="0" rIns="0" bIns="0" rtlCol="0" anchor="t">
            <a:normAutofit/>
          </a:bodyPr>
          <a:lstStyle/>
          <a:p>
            <a:pPr algn="l" indent="0" marL="0">
              <a:lnSpc>
                <a:spcPts val="1596"/>
              </a:lnSpc>
              <a:buNone/>
            </a:pPr>
            <a:r>
              <a:rPr lang="en-US" sz="1200" dirty="0">
                <a:solidFill>
                  <a:srgbClr val="EFE9DA"/>
                </a:solidFill>
                <a:latin typeface="IBM Plex Mono" pitchFamily="49" charset="0"/>
                <a:ea typeface="IBM Plex Mono" pitchFamily="49" charset="-122"/>
                <a:cs typeface="IBM Plex Mono" pitchFamily="49" charset="-120"/>
              </a:rPr>
              <a:t>def place(seed=0):</a:t>
            </a:r>
            <a:endParaRPr lang="en-US" sz="1200" dirty="0"/>
          </a:p>
          <a:p>
            <a:pPr algn="l" indent="0" marL="0">
              <a:lnSpc>
                <a:spcPts val="1596"/>
              </a:lnSpc>
              <a:buNone/>
            </a:pPr>
            <a:r>
              <a:rPr lang="en-US" sz="1200" dirty="0">
                <a:solidFill>
                  <a:srgbClr val="E8A25C"/>
                </a:solidFill>
                <a:latin typeface="IBM Plex Mono" pitchFamily="49" charset="0"/>
                <a:ea typeface="IBM Plex Mono" pitchFamily="49" charset="-122"/>
                <a:cs typeface="IBM Plex Mono" pitchFamily="49" charset="-120"/>
              </a:rPr>
              <a:t>    pos = {"MCU": (25.0, 25.0)}</a:t>
            </a:r>
            <a:endParaRPr lang="en-US" sz="1200" dirty="0"/>
          </a:p>
          <a:p>
            <a:pPr algn="l" indent="0" marL="0">
              <a:lnSpc>
                <a:spcPts val="1596"/>
              </a:lnSpc>
              <a:buNone/>
            </a:pPr>
            <a:r>
              <a:rPr lang="en-US" sz="1200" dirty="0">
                <a:solidFill>
                  <a:srgbClr val="EFE9DA"/>
                </a:solidFill>
                <a:latin typeface="IBM Plex Mono" pitchFamily="49" charset="0"/>
                <a:ea typeface="IBM Plex Mono" pitchFamily="49" charset="-122"/>
                <a:cs typeface="IBM Plex Mono" pitchFamily="49" charset="-120"/>
              </a:rPr>
              <a:t>    for n in ["XTAL", "C1", "C2", "LDO", "USB", "HDR", "LED"]:</a:t>
            </a:r>
            <a:endParaRPr lang="en-US" sz="1200" dirty="0"/>
          </a:p>
          <a:p>
            <a:pPr algn="l" indent="0" marL="0">
              <a:lnSpc>
                <a:spcPts val="1596"/>
              </a:lnSpc>
              <a:buNone/>
            </a:pPr>
            <a:r>
              <a:rPr lang="en-US" sz="1200" dirty="0">
                <a:solidFill>
                  <a:srgbClr val="EFE9DA"/>
                </a:solidFill>
                <a:latin typeface="IBM Plex Mono" pitchFamily="49" charset="0"/>
                <a:ea typeface="IBM Plex Mono" pitchFamily="49" charset="-122"/>
                <a:cs typeface="IBM Plex Mono" pitchFamily="49" charset="-120"/>
              </a:rPr>
              <a:t>        w, h = COMPONENTS[n]</a:t>
            </a:r>
            <a:endParaRPr lang="en-US" sz="1200" dirty="0"/>
          </a:p>
          <a:p>
            <a:pPr algn="l" indent="0" marL="0">
              <a:lnSpc>
                <a:spcPts val="1596"/>
              </a:lnSpc>
              <a:buNone/>
            </a:pPr>
            <a:r>
              <a:rPr lang="en-US" sz="1200" dirty="0">
                <a:solidFill>
                  <a:srgbClr val="EFE9DA"/>
                </a:solidFill>
                <a:latin typeface="IBM Plex Mono" pitchFamily="49" charset="0"/>
                <a:ea typeface="IBM Plex Mono" pitchFamily="49" charset="-122"/>
                <a:cs typeface="IBM Plex Mono" pitchFamily="49" charset="-120"/>
              </a:rPr>
              <a:t>        best = None</a:t>
            </a:r>
            <a:endParaRPr lang="en-US" sz="1200" dirty="0"/>
          </a:p>
          <a:p>
            <a:pPr algn="l" indent="0" marL="0">
              <a:lnSpc>
                <a:spcPts val="1596"/>
              </a:lnSpc>
              <a:buNone/>
            </a:pPr>
            <a:r>
              <a:rPr lang="en-US" sz="1200" dirty="0">
                <a:solidFill>
                  <a:srgbClr val="EFE9DA"/>
                </a:solidFill>
                <a:latin typeface="IBM Plex Mono" pitchFamily="49" charset="0"/>
                <a:ea typeface="IBM Plex Mono" pitchFamily="49" charset="-122"/>
                <a:cs typeface="IBM Plex Mono" pitchFamily="49" charset="-120"/>
              </a:rPr>
              <a:t>        for x in range(int(w / 2) + 1, int(BOARD[0] - w / 2)):</a:t>
            </a:r>
            <a:endParaRPr lang="en-US" sz="1200" dirty="0"/>
          </a:p>
          <a:p>
            <a:pPr algn="l" indent="0" marL="0">
              <a:lnSpc>
                <a:spcPts val="1596"/>
              </a:lnSpc>
              <a:buNone/>
            </a:pPr>
            <a:r>
              <a:rPr lang="en-US" sz="1200" dirty="0">
                <a:solidFill>
                  <a:srgbClr val="EFE9DA"/>
                </a:solidFill>
                <a:latin typeface="IBM Plex Mono" pitchFamily="49" charset="0"/>
                <a:ea typeface="IBM Plex Mono" pitchFamily="49" charset="-122"/>
                <a:cs typeface="IBM Plex Mono" pitchFamily="49" charset="-120"/>
              </a:rPr>
              <a:t>            for y in range(int(h / 2) + 1, int(BOARD[1] - h / 2)):</a:t>
            </a:r>
            <a:endParaRPr lang="en-US" sz="1200" dirty="0"/>
          </a:p>
          <a:p>
            <a:pPr algn="l" indent="0" marL="0">
              <a:lnSpc>
                <a:spcPts val="1596"/>
              </a:lnSpc>
              <a:buNone/>
            </a:pPr>
            <a:r>
              <a:rPr lang="en-US" sz="1200" dirty="0">
                <a:solidFill>
                  <a:srgbClr val="E8A25C"/>
                </a:solidFill>
                <a:latin typeface="IBM Plex Mono" pitchFamily="49" charset="0"/>
                <a:ea typeface="IBM Plex Mono" pitchFamily="49" charset="-122"/>
                <a:cs typeface="IBM Plex Mono" pitchFamily="49" charset="-120"/>
              </a:rPr>
              <a:t>                if clash(n, x, y, pos):</a:t>
            </a:r>
            <a:endParaRPr lang="en-US" sz="1200" dirty="0"/>
          </a:p>
          <a:p>
            <a:pPr algn="l" indent="0" marL="0">
              <a:lnSpc>
                <a:spcPts val="1596"/>
              </a:lnSpc>
              <a:buNone/>
            </a:pPr>
            <a:r>
              <a:rPr lang="en-US" sz="1200" dirty="0">
                <a:solidFill>
                  <a:srgbClr val="E8A25C"/>
                </a:solidFill>
                <a:latin typeface="IBM Plex Mono" pitchFamily="49" charset="0"/>
                <a:ea typeface="IBM Plex Mono" pitchFamily="49" charset="-122"/>
                <a:cs typeface="IBM Plex Mono" pitchFamily="49" charset="-120"/>
              </a:rPr>
              <a:t>                    continue</a:t>
            </a:r>
            <a:endParaRPr lang="en-US" sz="1200" dirty="0"/>
          </a:p>
          <a:p>
            <a:pPr algn="l" indent="0" marL="0">
              <a:lnSpc>
                <a:spcPts val="1596"/>
              </a:lnSpc>
              <a:buNone/>
            </a:pPr>
            <a:r>
              <a:rPr lang="en-US" sz="1200" dirty="0">
                <a:solidFill>
                  <a:srgbClr val="EFE9DA"/>
                </a:solidFill>
                <a:latin typeface="IBM Plex Mono" pitchFamily="49" charset="0"/>
                <a:ea typeface="IBM Plex Mono" pitchFamily="49" charset="-122"/>
                <a:cs typeface="IBM Plex Mono" pitchFamily="49" charset="-120"/>
              </a:rPr>
              <a:t>                c = pull(n, x, y, pos)</a:t>
            </a:r>
            <a:endParaRPr lang="en-US" sz="1200" dirty="0"/>
          </a:p>
          <a:p>
            <a:pPr algn="l" indent="0" marL="0">
              <a:lnSpc>
                <a:spcPts val="1596"/>
              </a:lnSpc>
              <a:buNone/>
            </a:pPr>
            <a:r>
              <a:rPr lang="en-US" sz="1200" dirty="0">
                <a:solidFill>
                  <a:srgbClr val="EFE9DA"/>
                </a:solidFill>
                <a:latin typeface="IBM Plex Mono" pitchFamily="49" charset="0"/>
                <a:ea typeface="IBM Plex Mono" pitchFamily="49" charset="-122"/>
                <a:cs typeface="IBM Plex Mono" pitchFamily="49" charset="-120"/>
              </a:rPr>
              <a:t>                if best is None or c &lt; best[0]:</a:t>
            </a:r>
            <a:endParaRPr lang="en-US" sz="1200" dirty="0"/>
          </a:p>
          <a:p>
            <a:pPr algn="l" indent="0" marL="0">
              <a:lnSpc>
                <a:spcPts val="1596"/>
              </a:lnSpc>
              <a:buNone/>
            </a:pPr>
            <a:r>
              <a:rPr lang="en-US" sz="1200" dirty="0">
                <a:solidFill>
                  <a:srgbClr val="EFE9DA"/>
                </a:solidFill>
                <a:latin typeface="IBM Plex Mono" pitchFamily="49" charset="0"/>
                <a:ea typeface="IBM Plex Mono" pitchFamily="49" charset="-122"/>
                <a:cs typeface="IBM Plex Mono" pitchFamily="49" charset="-120"/>
              </a:rPr>
              <a:t>                    best = (c, x, y)</a:t>
            </a:r>
            <a:endParaRPr lang="en-US" sz="1200" dirty="0"/>
          </a:p>
          <a:p>
            <a:pPr algn="l" indent="0" marL="0">
              <a:lnSpc>
                <a:spcPts val="1596"/>
              </a:lnSpc>
              <a:buNone/>
            </a:pPr>
            <a:r>
              <a:rPr lang="en-US" sz="1200" dirty="0">
                <a:solidFill>
                  <a:srgbClr val="EFE9DA"/>
                </a:solidFill>
                <a:latin typeface="IBM Plex Mono" pitchFamily="49" charset="0"/>
                <a:ea typeface="IBM Plex Mono" pitchFamily="49" charset="-122"/>
                <a:cs typeface="IBM Plex Mono" pitchFamily="49" charset="-120"/>
              </a:rPr>
              <a:t>        pos[n] = (best[1], best[2])</a:t>
            </a:r>
            <a:endParaRPr lang="en-US" sz="1200" dirty="0"/>
          </a:p>
          <a:p>
            <a:pPr algn="l" indent="0" marL="0">
              <a:lnSpc>
                <a:spcPts val="1596"/>
              </a:lnSpc>
              <a:buNone/>
            </a:pPr>
            <a:r>
              <a:rPr lang="en-US" sz="1200" dirty="0">
                <a:solidFill>
                  <a:srgbClr val="EFE9DA"/>
                </a:solidFill>
                <a:latin typeface="IBM Plex Mono" pitchFamily="49" charset="0"/>
                <a:ea typeface="IBM Plex Mono" pitchFamily="49" charset="-122"/>
                <a:cs typeface="IBM Plex Mono" pitchFamily="49" charset="-120"/>
              </a:rPr>
              <a:t>    return pos</a:t>
            </a:r>
            <a:endParaRPr lang="en-US" sz="1200" dirty="0"/>
          </a:p>
        </p:txBody>
      </p:sp>
      <p:sp>
        <p:nvSpPr>
          <p:cNvPr id="7" name="Shape 5"/>
          <p:cNvSpPr/>
          <p:nvPr/>
        </p:nvSpPr>
        <p:spPr>
          <a:xfrm>
            <a:off x="7505700" y="1755130"/>
            <a:ext cx="2540000" cy="2540000"/>
          </a:xfrm>
          <a:prstGeom prst="roundRect">
            <a:avLst>
              <a:gd name="adj" fmla="val 2500"/>
            </a:avLst>
          </a:prstGeom>
          <a:solidFill>
            <a:srgbClr val="1C5E47"/>
          </a:solidFill>
          <a:ln/>
          <a:effectLst>
            <a:outerShdw sx="100000" sy="100000" kx="0" ky="0" algn="bl" rotWithShape="0" blurRad="25400" dist="0" dir="60000">
              <a:srgbClr val="0F3B2D">
                <a:alpha val="100000"/>
              </a:srgbClr>
            </a:outerShdw>
          </a:effectLst>
        </p:spPr>
      </p:sp>
      <p:pic>
        <p:nvPicPr>
          <p:cNvPr id="8" name="Image 0" descr="connector">    </p:cNvPr>
          <p:cNvPicPr>
            <a:picLocks noChangeAspect="1"/>
          </p:cNvPicPr>
          <p:nvPr/>
        </p:nvPicPr>
        <p:blipFill>
          <a:blip r:embed="rId1"/>
          <a:srcRect l="0" r="0" t="0" b="0"/>
          <a:stretch/>
        </p:blipFill>
        <p:spPr>
          <a:xfrm>
            <a:off x="8432800" y="2987030"/>
            <a:ext cx="381000" cy="76200"/>
          </a:xfrm>
          <a:prstGeom prst="rect">
            <a:avLst/>
          </a:prstGeom>
        </p:spPr>
      </p:pic>
      <p:pic>
        <p:nvPicPr>
          <p:cNvPr id="9" name="Image 1" descr="connector">    </p:cNvPr>
          <p:cNvPicPr>
            <a:picLocks noChangeAspect="1"/>
          </p:cNvPicPr>
          <p:nvPr/>
        </p:nvPicPr>
        <p:blipFill>
          <a:blip r:embed="rId2"/>
          <a:srcRect l="0" r="0" t="0" b="0"/>
          <a:stretch/>
        </p:blipFill>
        <p:spPr>
          <a:xfrm>
            <a:off x="8737600" y="2733030"/>
            <a:ext cx="76200" cy="330200"/>
          </a:xfrm>
          <a:prstGeom prst="rect">
            <a:avLst/>
          </a:prstGeom>
        </p:spPr>
      </p:pic>
      <p:pic>
        <p:nvPicPr>
          <p:cNvPr id="10" name="Image 2" descr="connector">    </p:cNvPr>
          <p:cNvPicPr>
            <a:picLocks noChangeAspect="1"/>
          </p:cNvPicPr>
          <p:nvPr/>
        </p:nvPicPr>
        <p:blipFill>
          <a:blip r:embed="rId3"/>
          <a:srcRect l="0" r="0" t="0" b="0"/>
          <a:stretch/>
        </p:blipFill>
        <p:spPr>
          <a:xfrm>
            <a:off x="8737600" y="2987030"/>
            <a:ext cx="76200" cy="330200"/>
          </a:xfrm>
          <a:prstGeom prst="rect">
            <a:avLst/>
          </a:prstGeom>
        </p:spPr>
      </p:pic>
      <p:pic>
        <p:nvPicPr>
          <p:cNvPr id="11" name="Image 3" descr="connector">    </p:cNvPr>
          <p:cNvPicPr>
            <a:picLocks noChangeAspect="1"/>
          </p:cNvPicPr>
          <p:nvPr/>
        </p:nvPicPr>
        <p:blipFill>
          <a:blip r:embed="rId4"/>
          <a:srcRect l="0" r="0" t="0" b="0"/>
          <a:stretch/>
        </p:blipFill>
        <p:spPr>
          <a:xfrm>
            <a:off x="8737600" y="2326630"/>
            <a:ext cx="76200" cy="330200"/>
          </a:xfrm>
          <a:prstGeom prst="rect">
            <a:avLst/>
          </a:prstGeom>
        </p:spPr>
      </p:pic>
      <p:pic>
        <p:nvPicPr>
          <p:cNvPr id="12" name="Image 4" descr="connector">    </p:cNvPr>
          <p:cNvPicPr>
            <a:picLocks noChangeAspect="1"/>
          </p:cNvPicPr>
          <p:nvPr/>
        </p:nvPicPr>
        <p:blipFill>
          <a:blip r:embed="rId5"/>
          <a:srcRect l="0" r="0" t="0" b="0"/>
          <a:stretch/>
        </p:blipFill>
        <p:spPr>
          <a:xfrm>
            <a:off x="8737600" y="2580630"/>
            <a:ext cx="76200" cy="228600"/>
          </a:xfrm>
          <a:prstGeom prst="rect">
            <a:avLst/>
          </a:prstGeom>
        </p:spPr>
      </p:pic>
      <p:pic>
        <p:nvPicPr>
          <p:cNvPr id="13" name="Image 5" descr="connector">    </p:cNvPr>
          <p:cNvPicPr>
            <a:picLocks noChangeAspect="1"/>
          </p:cNvPicPr>
          <p:nvPr/>
        </p:nvPicPr>
        <p:blipFill>
          <a:blip r:embed="rId6"/>
          <a:srcRect l="0" r="0" t="0" b="0"/>
          <a:stretch/>
        </p:blipFill>
        <p:spPr>
          <a:xfrm>
            <a:off x="8737600" y="2580630"/>
            <a:ext cx="76200" cy="736600"/>
          </a:xfrm>
          <a:prstGeom prst="rect">
            <a:avLst/>
          </a:prstGeom>
        </p:spPr>
      </p:pic>
      <p:pic>
        <p:nvPicPr>
          <p:cNvPr id="14" name="Image 6" descr="connector">    </p:cNvPr>
          <p:cNvPicPr>
            <a:picLocks noChangeAspect="1"/>
          </p:cNvPicPr>
          <p:nvPr/>
        </p:nvPicPr>
        <p:blipFill>
          <a:blip r:embed="rId7"/>
          <a:srcRect l="0" r="0" t="0" b="0"/>
          <a:stretch/>
        </p:blipFill>
        <p:spPr>
          <a:xfrm>
            <a:off x="8737600" y="2987030"/>
            <a:ext cx="76200" cy="482600"/>
          </a:xfrm>
          <a:prstGeom prst="rect">
            <a:avLst/>
          </a:prstGeom>
        </p:spPr>
      </p:pic>
      <p:pic>
        <p:nvPicPr>
          <p:cNvPr id="15" name="Image 7" descr="connector">    </p:cNvPr>
          <p:cNvPicPr>
            <a:picLocks noChangeAspect="1"/>
          </p:cNvPicPr>
          <p:nvPr/>
        </p:nvPicPr>
        <p:blipFill>
          <a:blip r:embed="rId8"/>
          <a:srcRect l="0" r="0" t="0" b="0"/>
          <a:stretch/>
        </p:blipFill>
        <p:spPr>
          <a:xfrm>
            <a:off x="8737600" y="2987030"/>
            <a:ext cx="330200" cy="76200"/>
          </a:xfrm>
          <a:prstGeom prst="rect">
            <a:avLst/>
          </a:prstGeom>
        </p:spPr>
      </p:pic>
      <p:sp>
        <p:nvSpPr>
          <p:cNvPr id="16" name="Shape 6"/>
          <p:cNvSpPr/>
          <p:nvPr/>
        </p:nvSpPr>
        <p:spPr>
          <a:xfrm>
            <a:off x="8601075" y="2850505"/>
            <a:ext cx="349250" cy="349250"/>
          </a:xfrm>
          <a:prstGeom prst="roundRect">
            <a:avLst>
              <a:gd name="adj" fmla="val 2727"/>
            </a:avLst>
          </a:prstGeom>
          <a:solidFill>
            <a:srgbClr val="2B2B2B"/>
          </a:solidFill>
          <a:ln w="6350">
            <a:solidFill>
              <a:srgbClr val="EFE9DA"/>
            </a:solidFill>
            <a:prstDash val="solid"/>
          </a:ln>
        </p:spPr>
      </p:sp>
      <p:sp>
        <p:nvSpPr>
          <p:cNvPr id="17" name="Shape 7"/>
          <p:cNvSpPr/>
          <p:nvPr/>
        </p:nvSpPr>
        <p:spPr>
          <a:xfrm>
            <a:off x="8397875" y="2964805"/>
            <a:ext cx="146050" cy="120650"/>
          </a:xfrm>
          <a:prstGeom prst="roundRect">
            <a:avLst>
              <a:gd name="adj" fmla="val 7895"/>
            </a:avLst>
          </a:prstGeom>
          <a:solidFill>
            <a:srgbClr val="C9CED3"/>
          </a:solidFill>
          <a:ln w="6350">
            <a:solidFill>
              <a:srgbClr val="EFE9DA"/>
            </a:solidFill>
            <a:prstDash val="solid"/>
          </a:ln>
        </p:spPr>
      </p:sp>
      <p:sp>
        <p:nvSpPr>
          <p:cNvPr id="18" name="Shape 8"/>
          <p:cNvSpPr/>
          <p:nvPr/>
        </p:nvSpPr>
        <p:spPr>
          <a:xfrm>
            <a:off x="8738195" y="2753965"/>
            <a:ext cx="74910" cy="34280"/>
          </a:xfrm>
          <a:prstGeom prst="roundRect">
            <a:avLst>
              <a:gd name="adj" fmla="val 27786"/>
            </a:avLst>
          </a:prstGeom>
          <a:solidFill>
            <a:srgbClr val="E3B66B"/>
          </a:solidFill>
          <a:ln w="6350">
            <a:solidFill>
              <a:srgbClr val="EFE9DA"/>
            </a:solidFill>
            <a:prstDash val="solid"/>
          </a:ln>
        </p:spPr>
      </p:sp>
      <p:sp>
        <p:nvSpPr>
          <p:cNvPr id="19" name="Shape 9"/>
          <p:cNvSpPr/>
          <p:nvPr/>
        </p:nvSpPr>
        <p:spPr>
          <a:xfrm>
            <a:off x="8738195" y="3261965"/>
            <a:ext cx="74910" cy="34280"/>
          </a:xfrm>
          <a:prstGeom prst="roundRect">
            <a:avLst>
              <a:gd name="adj" fmla="val 27786"/>
            </a:avLst>
          </a:prstGeom>
          <a:solidFill>
            <a:srgbClr val="E3B66B"/>
          </a:solidFill>
          <a:ln w="6350">
            <a:solidFill>
              <a:srgbClr val="EFE9DA"/>
            </a:solidFill>
            <a:prstDash val="solid"/>
          </a:ln>
        </p:spPr>
      </p:sp>
      <p:sp>
        <p:nvSpPr>
          <p:cNvPr id="20" name="Shape 10"/>
          <p:cNvSpPr/>
          <p:nvPr/>
        </p:nvSpPr>
        <p:spPr>
          <a:xfrm>
            <a:off x="8702675" y="2545705"/>
            <a:ext cx="146050" cy="146050"/>
          </a:xfrm>
          <a:prstGeom prst="roundRect">
            <a:avLst>
              <a:gd name="adj" fmla="val 6522"/>
            </a:avLst>
          </a:prstGeom>
          <a:solidFill>
            <a:srgbClr val="6FA8DC"/>
          </a:solidFill>
          <a:ln w="6350">
            <a:solidFill>
              <a:srgbClr val="EFE9DA"/>
            </a:solidFill>
            <a:prstDash val="solid"/>
          </a:ln>
        </p:spPr>
      </p:sp>
      <p:sp>
        <p:nvSpPr>
          <p:cNvPr id="21" name="Shape 11"/>
          <p:cNvSpPr/>
          <p:nvPr/>
        </p:nvSpPr>
        <p:spPr>
          <a:xfrm>
            <a:off x="8575675" y="2215505"/>
            <a:ext cx="400050" cy="298450"/>
          </a:xfrm>
          <a:prstGeom prst="roundRect">
            <a:avLst>
              <a:gd name="adj" fmla="val 3191"/>
            </a:avLst>
          </a:prstGeom>
          <a:solidFill>
            <a:srgbClr val="9AA3AB"/>
          </a:solidFill>
          <a:ln w="6350">
            <a:solidFill>
              <a:srgbClr val="EFE9DA"/>
            </a:solidFill>
            <a:prstDash val="solid"/>
          </a:ln>
        </p:spPr>
      </p:sp>
      <p:sp>
        <p:nvSpPr>
          <p:cNvPr id="22" name="Shape 12"/>
          <p:cNvSpPr/>
          <p:nvPr/>
        </p:nvSpPr>
        <p:spPr>
          <a:xfrm>
            <a:off x="8524875" y="3358505"/>
            <a:ext cx="501650" cy="146050"/>
          </a:xfrm>
          <a:prstGeom prst="roundRect">
            <a:avLst>
              <a:gd name="adj" fmla="val 6522"/>
            </a:avLst>
          </a:prstGeom>
          <a:solidFill>
            <a:srgbClr val="555555"/>
          </a:solidFill>
          <a:ln w="6350">
            <a:solidFill>
              <a:srgbClr val="EFE9DA"/>
            </a:solidFill>
            <a:prstDash val="solid"/>
          </a:ln>
        </p:spPr>
      </p:sp>
      <p:sp>
        <p:nvSpPr>
          <p:cNvPr id="23" name="Shape 13"/>
          <p:cNvSpPr/>
          <p:nvPr/>
        </p:nvSpPr>
        <p:spPr>
          <a:xfrm>
            <a:off x="8992195" y="3007965"/>
            <a:ext cx="74910" cy="34280"/>
          </a:xfrm>
          <a:prstGeom prst="roundRect">
            <a:avLst>
              <a:gd name="adj" fmla="val 27786"/>
            </a:avLst>
          </a:prstGeom>
          <a:solidFill>
            <a:srgbClr val="E85D4A"/>
          </a:solidFill>
          <a:ln w="6350">
            <a:solidFill>
              <a:srgbClr val="EFE9DA"/>
            </a:solidFill>
            <a:prstDash val="solid"/>
          </a:ln>
        </p:spPr>
      </p:sp>
      <p:sp>
        <p:nvSpPr>
          <p:cNvPr id="24" name="Shape 14"/>
          <p:cNvSpPr/>
          <p:nvPr/>
        </p:nvSpPr>
        <p:spPr>
          <a:xfrm>
            <a:off x="10201275" y="1779885"/>
            <a:ext cx="133350" cy="133350"/>
          </a:xfrm>
          <a:prstGeom prst="roundRect">
            <a:avLst>
              <a:gd name="adj" fmla="val 16667"/>
            </a:avLst>
          </a:prstGeom>
          <a:solidFill>
            <a:srgbClr val="2B2B2B"/>
          </a:solidFill>
          <a:ln w="6350">
            <a:solidFill>
              <a:srgbClr val="B8B29E"/>
            </a:solidFill>
            <a:prstDash val="solid"/>
          </a:ln>
        </p:spPr>
      </p:sp>
      <p:sp>
        <p:nvSpPr>
          <p:cNvPr id="25" name="Text 15"/>
          <p:cNvSpPr/>
          <p:nvPr/>
        </p:nvSpPr>
        <p:spPr>
          <a:xfrm>
            <a:off x="10401300" y="1755130"/>
            <a:ext cx="434876"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3443D"/>
                </a:solidFill>
                <a:latin typeface="Inter" pitchFamily="34" charset="0"/>
                <a:ea typeface="Inter" pitchFamily="34" charset="-122"/>
                <a:cs typeface="Inter" pitchFamily="34" charset="-120"/>
              </a:rPr>
              <a:t>MCU</a:t>
            </a:r>
            <a:endParaRPr lang="en-US" sz="1200" dirty="0"/>
          </a:p>
        </p:txBody>
      </p:sp>
      <p:sp>
        <p:nvSpPr>
          <p:cNvPr id="26" name="Shape 16"/>
          <p:cNvSpPr/>
          <p:nvPr/>
        </p:nvSpPr>
        <p:spPr>
          <a:xfrm>
            <a:off x="10201275" y="2013545"/>
            <a:ext cx="133350" cy="133350"/>
          </a:xfrm>
          <a:prstGeom prst="roundRect">
            <a:avLst>
              <a:gd name="adj" fmla="val 16667"/>
            </a:avLst>
          </a:prstGeom>
          <a:solidFill>
            <a:srgbClr val="C9CED3"/>
          </a:solidFill>
          <a:ln w="6350">
            <a:solidFill>
              <a:srgbClr val="B8B29E"/>
            </a:solidFill>
            <a:prstDash val="solid"/>
          </a:ln>
        </p:spPr>
      </p:sp>
      <p:sp>
        <p:nvSpPr>
          <p:cNvPr id="27" name="Text 17"/>
          <p:cNvSpPr/>
          <p:nvPr/>
        </p:nvSpPr>
        <p:spPr>
          <a:xfrm>
            <a:off x="10401300" y="1988790"/>
            <a:ext cx="449640"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3443D"/>
                </a:solidFill>
                <a:latin typeface="Inter" pitchFamily="34" charset="0"/>
                <a:ea typeface="Inter" pitchFamily="34" charset="-122"/>
                <a:cs typeface="Inter" pitchFamily="34" charset="-120"/>
              </a:rPr>
              <a:t>XTAL</a:t>
            </a:r>
            <a:endParaRPr lang="en-US" sz="1200" dirty="0"/>
          </a:p>
        </p:txBody>
      </p:sp>
      <p:sp>
        <p:nvSpPr>
          <p:cNvPr id="28" name="Shape 18"/>
          <p:cNvSpPr/>
          <p:nvPr/>
        </p:nvSpPr>
        <p:spPr>
          <a:xfrm>
            <a:off x="10201275" y="2247205"/>
            <a:ext cx="133350" cy="133350"/>
          </a:xfrm>
          <a:prstGeom prst="roundRect">
            <a:avLst>
              <a:gd name="adj" fmla="val 16667"/>
            </a:avLst>
          </a:prstGeom>
          <a:solidFill>
            <a:srgbClr val="E3B66B"/>
          </a:solidFill>
          <a:ln w="6350">
            <a:solidFill>
              <a:srgbClr val="B8B29E"/>
            </a:solidFill>
            <a:prstDash val="solid"/>
          </a:ln>
        </p:spPr>
      </p:sp>
      <p:sp>
        <p:nvSpPr>
          <p:cNvPr id="29" name="Text 19"/>
          <p:cNvSpPr/>
          <p:nvPr/>
        </p:nvSpPr>
        <p:spPr>
          <a:xfrm>
            <a:off x="10401300" y="2222450"/>
            <a:ext cx="557213"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3443D"/>
                </a:solidFill>
                <a:latin typeface="Inter" pitchFamily="34" charset="0"/>
                <a:ea typeface="Inter" pitchFamily="34" charset="-122"/>
                <a:cs typeface="Inter" pitchFamily="34" charset="-120"/>
              </a:rPr>
              <a:t>C1, C2</a:t>
            </a:r>
            <a:endParaRPr lang="en-US" sz="1200" dirty="0"/>
          </a:p>
        </p:txBody>
      </p:sp>
      <p:sp>
        <p:nvSpPr>
          <p:cNvPr id="30" name="Shape 20"/>
          <p:cNvSpPr/>
          <p:nvPr/>
        </p:nvSpPr>
        <p:spPr>
          <a:xfrm>
            <a:off x="10201275" y="2480866"/>
            <a:ext cx="133350" cy="133350"/>
          </a:xfrm>
          <a:prstGeom prst="roundRect">
            <a:avLst>
              <a:gd name="adj" fmla="val 16667"/>
            </a:avLst>
          </a:prstGeom>
          <a:solidFill>
            <a:srgbClr val="6FA8DC"/>
          </a:solidFill>
          <a:ln w="6350">
            <a:solidFill>
              <a:srgbClr val="B8B29E"/>
            </a:solidFill>
            <a:prstDash val="solid"/>
          </a:ln>
        </p:spPr>
      </p:sp>
      <p:sp>
        <p:nvSpPr>
          <p:cNvPr id="31" name="Text 21"/>
          <p:cNvSpPr/>
          <p:nvPr/>
        </p:nvSpPr>
        <p:spPr>
          <a:xfrm>
            <a:off x="10401300" y="2456111"/>
            <a:ext cx="375225"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3443D"/>
                </a:solidFill>
                <a:latin typeface="Inter" pitchFamily="34" charset="0"/>
                <a:ea typeface="Inter" pitchFamily="34" charset="-122"/>
                <a:cs typeface="Inter" pitchFamily="34" charset="-120"/>
              </a:rPr>
              <a:t>LDO</a:t>
            </a:r>
            <a:endParaRPr lang="en-US" sz="1200" dirty="0"/>
          </a:p>
        </p:txBody>
      </p:sp>
      <p:sp>
        <p:nvSpPr>
          <p:cNvPr id="32" name="Shape 22"/>
          <p:cNvSpPr/>
          <p:nvPr/>
        </p:nvSpPr>
        <p:spPr>
          <a:xfrm>
            <a:off x="10201275" y="2714526"/>
            <a:ext cx="133350" cy="133350"/>
          </a:xfrm>
          <a:prstGeom prst="roundRect">
            <a:avLst>
              <a:gd name="adj" fmla="val 16667"/>
            </a:avLst>
          </a:prstGeom>
          <a:solidFill>
            <a:srgbClr val="9AA3AB"/>
          </a:solidFill>
          <a:ln w="6350">
            <a:solidFill>
              <a:srgbClr val="B8B29E"/>
            </a:solidFill>
            <a:prstDash val="solid"/>
          </a:ln>
        </p:spPr>
      </p:sp>
      <p:sp>
        <p:nvSpPr>
          <p:cNvPr id="33" name="Text 23"/>
          <p:cNvSpPr/>
          <p:nvPr/>
        </p:nvSpPr>
        <p:spPr>
          <a:xfrm>
            <a:off x="10401300" y="2689771"/>
            <a:ext cx="373082"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3443D"/>
                </a:solidFill>
                <a:latin typeface="Inter" pitchFamily="34" charset="0"/>
                <a:ea typeface="Inter" pitchFamily="34" charset="-122"/>
                <a:cs typeface="Inter" pitchFamily="34" charset="-120"/>
              </a:rPr>
              <a:t>USB</a:t>
            </a:r>
            <a:endParaRPr lang="en-US" sz="1200" dirty="0"/>
          </a:p>
        </p:txBody>
      </p:sp>
      <p:sp>
        <p:nvSpPr>
          <p:cNvPr id="34" name="Shape 24"/>
          <p:cNvSpPr/>
          <p:nvPr/>
        </p:nvSpPr>
        <p:spPr>
          <a:xfrm>
            <a:off x="10201275" y="2948186"/>
            <a:ext cx="133350" cy="133350"/>
          </a:xfrm>
          <a:prstGeom prst="roundRect">
            <a:avLst>
              <a:gd name="adj" fmla="val 16667"/>
            </a:avLst>
          </a:prstGeom>
          <a:solidFill>
            <a:srgbClr val="555555"/>
          </a:solidFill>
          <a:ln w="6350">
            <a:solidFill>
              <a:srgbClr val="B8B29E"/>
            </a:solidFill>
            <a:prstDash val="solid"/>
          </a:ln>
        </p:spPr>
      </p:sp>
      <p:sp>
        <p:nvSpPr>
          <p:cNvPr id="35" name="Text 25"/>
          <p:cNvSpPr/>
          <p:nvPr/>
        </p:nvSpPr>
        <p:spPr>
          <a:xfrm>
            <a:off x="10401300" y="2923431"/>
            <a:ext cx="385584"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3443D"/>
                </a:solidFill>
                <a:latin typeface="Inter" pitchFamily="34" charset="0"/>
                <a:ea typeface="Inter" pitchFamily="34" charset="-122"/>
                <a:cs typeface="Inter" pitchFamily="34" charset="-120"/>
              </a:rPr>
              <a:t>HDR</a:t>
            </a:r>
            <a:endParaRPr lang="en-US" sz="1200" dirty="0"/>
          </a:p>
        </p:txBody>
      </p:sp>
      <p:sp>
        <p:nvSpPr>
          <p:cNvPr id="36" name="Shape 26"/>
          <p:cNvSpPr/>
          <p:nvPr/>
        </p:nvSpPr>
        <p:spPr>
          <a:xfrm>
            <a:off x="10201275" y="3181846"/>
            <a:ext cx="133350" cy="133350"/>
          </a:xfrm>
          <a:prstGeom prst="roundRect">
            <a:avLst>
              <a:gd name="adj" fmla="val 16667"/>
            </a:avLst>
          </a:prstGeom>
          <a:solidFill>
            <a:srgbClr val="E85D4A"/>
          </a:solidFill>
          <a:ln w="6350">
            <a:solidFill>
              <a:srgbClr val="B8B29E"/>
            </a:solidFill>
            <a:prstDash val="solid"/>
          </a:ln>
        </p:spPr>
      </p:sp>
      <p:sp>
        <p:nvSpPr>
          <p:cNvPr id="37" name="Text 27"/>
          <p:cNvSpPr/>
          <p:nvPr/>
        </p:nvSpPr>
        <p:spPr>
          <a:xfrm>
            <a:off x="10401300" y="3157091"/>
            <a:ext cx="345341"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3443D"/>
                </a:solidFill>
                <a:latin typeface="Inter" pitchFamily="34" charset="0"/>
                <a:ea typeface="Inter" pitchFamily="34" charset="-122"/>
                <a:cs typeface="Inter" pitchFamily="34" charset="-120"/>
              </a:rPr>
              <a:t>LED</a:t>
            </a:r>
            <a:endParaRPr lang="en-US" sz="1200" dirty="0"/>
          </a:p>
        </p:txBody>
      </p:sp>
      <p:sp>
        <p:nvSpPr>
          <p:cNvPr id="38" name="Text 28"/>
          <p:cNvSpPr/>
          <p:nvPr/>
        </p:nvSpPr>
        <p:spPr>
          <a:xfrm>
            <a:off x="7480300" y="4447530"/>
            <a:ext cx="4015867"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A85A14"/>
                </a:solidFill>
                <a:latin typeface="Space Grotesk" pitchFamily="34" charset="0"/>
                <a:ea typeface="Space Grotesk" pitchFamily="34" charset="-122"/>
                <a:cs typeface="Space Grotesk" pitchFamily="34" charset="-120"/>
              </a:rPr>
              <a:t>Score 0.243</a:t>
            </a:r>
            <a:endParaRPr lang="en-US" sz="2800" dirty="0"/>
          </a:p>
        </p:txBody>
      </p:sp>
      <p:sp>
        <p:nvSpPr>
          <p:cNvPr id="39" name="Text 29"/>
          <p:cNvSpPr/>
          <p:nvPr/>
        </p:nvSpPr>
        <p:spPr>
          <a:xfrm>
            <a:off x="7480300" y="4864050"/>
            <a:ext cx="401586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43D"/>
                </a:solidFill>
                <a:latin typeface="Inter" pitchFamily="34" charset="0"/>
                <a:ea typeface="Inter" pitchFamily="34" charset="-122"/>
                <a:cs typeface="Inter" pitchFamily="34" charset="-120"/>
              </a:rPr>
              <a:t>Wire 50.0 mm · crystal 6.0 mm</a:t>
            </a:r>
            <a:endParaRPr lang="en-US" sz="1300" dirty="0"/>
          </a:p>
        </p:txBody>
      </p:sp>
      <p:sp>
        <p:nvSpPr>
          <p:cNvPr id="40" name="Text 30"/>
          <p:cNvSpPr/>
          <p:nvPr/>
        </p:nvSpPr>
        <p:spPr>
          <a:xfrm>
            <a:off x="7480300" y="5120580"/>
            <a:ext cx="401586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43D"/>
                </a:solidFill>
                <a:latin typeface="Inter" pitchFamily="34" charset="0"/>
                <a:ea typeface="Inter" pitchFamily="34" charset="-122"/>
                <a:cs typeface="Inter" pitchFamily="34" charset="-120"/>
              </a:rPr>
              <a:t>Caps 5.0 mm · LDO to crystal 10.0 mm</a:t>
            </a:r>
            <a:endParaRPr lang="en-US" sz="1300" dirty="0"/>
          </a:p>
        </p:txBody>
      </p:sp>
      <p:sp>
        <p:nvSpPr>
          <p:cNvPr id="41" name="Text 31"/>
          <p:cNvSpPr/>
          <p:nvPr/>
        </p:nvSpPr>
        <p:spPr>
          <a:xfrm>
            <a:off x="7480300" y="5377111"/>
            <a:ext cx="401586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43D"/>
                </a:solidFill>
                <a:latin typeface="Inter" pitchFamily="34" charset="0"/>
                <a:ea typeface="Inter" pitchFamily="34" charset="-122"/>
                <a:cs typeface="Inter" pitchFamily="34" charset="-120"/>
              </a:rPr>
              <a:t>Up from 0.066 at the previous stage</a:t>
            </a:r>
            <a:endParaRPr lang="en-US" sz="1300" dirty="0"/>
          </a:p>
        </p:txBody>
      </p:sp>
      <p:sp>
        <p:nvSpPr>
          <p:cNvPr id="42" name="Text 3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B64"/>
                </a:solidFill>
                <a:latin typeface="Inter" pitchFamily="34" charset="0"/>
                <a:ea typeface="Inter" pitchFamily="34" charset="-122"/>
                <a:cs typeface="Inter" pitchFamily="34" charset="-120"/>
              </a:rPr>
              <a:t>PCB placement with AlphaEvolve · 14 · Hand-written stand-in for evolved code, scored by the real evaluator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EFE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68908"/>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2A24"/>
                </a:solidFill>
                <a:latin typeface="Space Grotesk" pitchFamily="34" charset="0"/>
                <a:ea typeface="Space Grotesk" pitchFamily="34" charset="-122"/>
                <a:cs typeface="Space Grotesk" pitchFamily="34" charset="-120"/>
              </a:rPr>
              <a:t>Final: refine with small moves</a:t>
            </a:r>
            <a:endParaRPr lang="en-US" sz="3200" dirty="0"/>
          </a:p>
        </p:txBody>
      </p:sp>
      <p:sp>
        <p:nvSpPr>
          <p:cNvPr id="3" name="Text 1"/>
          <p:cNvSpPr/>
          <p:nvPr/>
        </p:nvSpPr>
        <p:spPr>
          <a:xfrm>
            <a:off x="812800" y="1357908"/>
            <a:ext cx="10883392" cy="289967"/>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3443D"/>
                </a:solidFill>
                <a:latin typeface="Inter" pitchFamily="34" charset="0"/>
                <a:ea typeface="Inter" pitchFamily="34" charset="-122"/>
                <a:cs typeface="Inter" pitchFamily="34" charset="-120"/>
              </a:rPr>
              <a:t>Start from the stage 2 layout, try 6,000 small moves, sometimes keep a worse one.</a:t>
            </a:r>
            <a:endParaRPr lang="en-US" sz="1500" dirty="0"/>
          </a:p>
        </p:txBody>
      </p:sp>
      <p:sp>
        <p:nvSpPr>
          <p:cNvPr id="4" name="Shape 2"/>
          <p:cNvSpPr/>
          <p:nvPr/>
        </p:nvSpPr>
        <p:spPr>
          <a:xfrm>
            <a:off x="812800" y="1724075"/>
            <a:ext cx="6413500" cy="4150668"/>
          </a:xfrm>
          <a:prstGeom prst="roundRect">
            <a:avLst>
              <a:gd name="adj" fmla="val 2448"/>
            </a:avLst>
          </a:prstGeom>
          <a:solidFill>
            <a:srgbClr val="0E2A24"/>
          </a:solidFill>
          <a:ln/>
        </p:spPr>
      </p:sp>
      <p:sp>
        <p:nvSpPr>
          <p:cNvPr id="5" name="Text 3"/>
          <p:cNvSpPr/>
          <p:nvPr/>
        </p:nvSpPr>
        <p:spPr>
          <a:xfrm>
            <a:off x="965200" y="1851075"/>
            <a:ext cx="6291961"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9DB3AA"/>
                </a:solidFill>
                <a:latin typeface="Inter" pitchFamily="34" charset="0"/>
                <a:ea typeface="Inter" pitchFamily="34" charset="-122"/>
                <a:cs typeface="Inter" pitchFamily="34" charset="-120"/>
              </a:rPr>
              <a:t>stage3_anneal.py · place() · </a:t>
            </a:r>
            <a:r>
              <a:rPr lang="en-US" sz="1200" dirty="0">
                <a:solidFill>
                  <a:srgbClr val="E8A25C"/>
                </a:solidFill>
                <a:latin typeface="Inter" pitchFamily="34" charset="0"/>
                <a:ea typeface="Inter" pitchFamily="34" charset="-122"/>
                <a:cs typeface="Inter" pitchFamily="34" charset="-120"/>
              </a:rPr>
              <a:t>amber = the new idea</a:t>
            </a:r>
            <a:endParaRPr lang="en-US" sz="1200" dirty="0"/>
          </a:p>
        </p:txBody>
      </p:sp>
      <p:sp>
        <p:nvSpPr>
          <p:cNvPr id="6" name="Text 4"/>
          <p:cNvSpPr/>
          <p:nvPr/>
        </p:nvSpPr>
        <p:spPr>
          <a:xfrm>
            <a:off x="965200" y="2099965"/>
            <a:ext cx="6291961" cy="3673177"/>
          </a:xfrm>
          <a:prstGeom prst="rect">
            <a:avLst/>
          </a:prstGeom>
          <a:noFill/>
          <a:ln/>
        </p:spPr>
        <p:txBody>
          <a:bodyPr wrap="none" lIns="0" tIns="0" rIns="0" bIns="0" rtlCol="0" anchor="t">
            <a:normAutofit/>
          </a:bodyPr>
          <a:lstStyle/>
          <a:p>
            <a:pPr algn="l" indent="0" marL="0">
              <a:lnSpc>
                <a:spcPts val="1596"/>
              </a:lnSpc>
              <a:buNone/>
            </a:pPr>
            <a:r>
              <a:rPr lang="en-US" sz="1200" dirty="0">
                <a:solidFill>
                  <a:srgbClr val="EFE9DA"/>
                </a:solidFill>
                <a:latin typeface="IBM Plex Mono" pitchFamily="49" charset="0"/>
                <a:ea typeface="IBM Plex Mono" pitchFamily="49" charset="-122"/>
                <a:cs typeface="IBM Plex Mono" pitchFamily="49" charset="-120"/>
              </a:rPr>
              <a:t>def place(seed=0):</a:t>
            </a:r>
            <a:endParaRPr lang="en-US" sz="1200" dirty="0"/>
          </a:p>
          <a:p>
            <a:pPr algn="l" indent="0" marL="0">
              <a:lnSpc>
                <a:spcPts val="1596"/>
              </a:lnSpc>
              <a:buNone/>
            </a:pPr>
            <a:r>
              <a:rPr lang="en-US" sz="1200" dirty="0">
                <a:solidFill>
                  <a:srgbClr val="EFE9DA"/>
                </a:solidFill>
                <a:latin typeface="IBM Plex Mono" pitchFamily="49" charset="0"/>
                <a:ea typeface="IBM Plex Mono" pitchFamily="49" charset="-122"/>
                <a:cs typeface="IBM Plex Mono" pitchFamily="49" charset="-120"/>
              </a:rPr>
              <a:t>    rng = random.Random(seed)</a:t>
            </a:r>
            <a:endParaRPr lang="en-US" sz="1200" dirty="0"/>
          </a:p>
          <a:p>
            <a:pPr algn="l" indent="0" marL="0">
              <a:lnSpc>
                <a:spcPts val="1596"/>
              </a:lnSpc>
              <a:buNone/>
            </a:pPr>
            <a:r>
              <a:rPr lang="en-US" sz="1200" dirty="0">
                <a:solidFill>
                  <a:srgbClr val="E8A25C"/>
                </a:solidFill>
                <a:latin typeface="IBM Plex Mono" pitchFamily="49" charset="0"/>
                <a:ea typeface="IBM Plex Mono" pitchFamily="49" charset="-122"/>
                <a:cs typeface="IBM Plex Mono" pitchFamily="49" charset="-120"/>
              </a:rPr>
              <a:t>    pos = greedy()</a:t>
            </a:r>
            <a:endParaRPr lang="en-US" sz="1200" dirty="0"/>
          </a:p>
          <a:p>
            <a:pPr algn="l" indent="0" marL="0">
              <a:lnSpc>
                <a:spcPts val="1596"/>
              </a:lnSpc>
              <a:buNone/>
            </a:pPr>
            <a:r>
              <a:rPr lang="en-US" sz="1200" dirty="0">
                <a:solidFill>
                  <a:srgbClr val="EFE9DA"/>
                </a:solidFill>
                <a:latin typeface="IBM Plex Mono" pitchFamily="49" charset="0"/>
                <a:ea typeface="IBM Plex Mono" pitchFamily="49" charset="-122"/>
                <a:cs typeface="IBM Plex Mono" pitchFamily="49" charset="-120"/>
              </a:rPr>
              <a:t>    cur = cost(pos)</a:t>
            </a:r>
            <a:endParaRPr lang="en-US" sz="1200" dirty="0"/>
          </a:p>
          <a:p>
            <a:pPr algn="l" indent="0" marL="0">
              <a:lnSpc>
                <a:spcPts val="1596"/>
              </a:lnSpc>
              <a:buNone/>
            </a:pPr>
            <a:r>
              <a:rPr lang="en-US" sz="1200" dirty="0">
                <a:solidFill>
                  <a:srgbClr val="EFE9DA"/>
                </a:solidFill>
                <a:latin typeface="IBM Plex Mono" pitchFamily="49" charset="0"/>
                <a:ea typeface="IBM Plex Mono" pitchFamily="49" charset="-122"/>
                <a:cs typeface="IBM Plex Mono" pitchFamily="49" charset="-120"/>
              </a:rPr>
              <a:t>    best, best_c = dict(pos), cur</a:t>
            </a:r>
            <a:endParaRPr lang="en-US" sz="1200" dirty="0"/>
          </a:p>
          <a:p>
            <a:pPr algn="l" indent="0" marL="0">
              <a:lnSpc>
                <a:spcPts val="1596"/>
              </a:lnSpc>
              <a:buNone/>
            </a:pPr>
            <a:r>
              <a:rPr lang="en-US" sz="1200" dirty="0">
                <a:solidFill>
                  <a:srgbClr val="EFE9DA"/>
                </a:solidFill>
                <a:latin typeface="IBM Plex Mono" pitchFamily="49" charset="0"/>
                <a:ea typeface="IBM Plex Mono" pitchFamily="49" charset="-122"/>
                <a:cs typeface="IBM Plex Mono" pitchFamily="49" charset="-120"/>
              </a:rPr>
              <a:t>    for step in range(6000):</a:t>
            </a:r>
            <a:endParaRPr lang="en-US" sz="1200" dirty="0"/>
          </a:p>
          <a:p>
            <a:pPr algn="l" indent="0" marL="0">
              <a:lnSpc>
                <a:spcPts val="1596"/>
              </a:lnSpc>
              <a:buNone/>
            </a:pPr>
            <a:r>
              <a:rPr lang="en-US" sz="1200" dirty="0">
                <a:solidFill>
                  <a:srgbClr val="E8A25C"/>
                </a:solidFill>
                <a:latin typeface="IBM Plex Mono" pitchFamily="49" charset="0"/>
                <a:ea typeface="IBM Plex Mono" pitchFamily="49" charset="-122"/>
                <a:cs typeface="IBM Plex Mono" pitchFamily="49" charset="-120"/>
              </a:rPr>
              <a:t>        t = 6.0 * 0.01 ** (step / 6000)</a:t>
            </a:r>
            <a:endParaRPr lang="en-US" sz="1200" dirty="0"/>
          </a:p>
          <a:p>
            <a:pPr algn="l" indent="0" marL="0">
              <a:lnSpc>
                <a:spcPts val="1596"/>
              </a:lnSpc>
              <a:buNone/>
            </a:pPr>
            <a:r>
              <a:rPr lang="en-US" sz="1200" dirty="0">
                <a:solidFill>
                  <a:srgbClr val="EFE9DA"/>
                </a:solidFill>
                <a:latin typeface="IBM Plex Mono" pitchFamily="49" charset="0"/>
                <a:ea typeface="IBM Plex Mono" pitchFamily="49" charset="-122"/>
                <a:cs typeface="IBM Plex Mono" pitchFamily="49" charset="-120"/>
              </a:rPr>
              <a:t>        n = rng.choice(NAMES)</a:t>
            </a:r>
            <a:endParaRPr lang="en-US" sz="1200" dirty="0"/>
          </a:p>
          <a:p>
            <a:pPr algn="l" indent="0" marL="0">
              <a:lnSpc>
                <a:spcPts val="1596"/>
              </a:lnSpc>
              <a:buNone/>
            </a:pPr>
            <a:r>
              <a:rPr lang="en-US" sz="1200" dirty="0">
                <a:solidFill>
                  <a:srgbClr val="EFE9DA"/>
                </a:solidFill>
                <a:latin typeface="IBM Plex Mono" pitchFamily="49" charset="0"/>
                <a:ea typeface="IBM Plex Mono" pitchFamily="49" charset="-122"/>
                <a:cs typeface="IBM Plex Mono" pitchFamily="49" charset="-120"/>
              </a:rPr>
              <a:t>        old = pos[n]</a:t>
            </a:r>
            <a:endParaRPr lang="en-US" sz="1200" dirty="0"/>
          </a:p>
          <a:p>
            <a:pPr algn="l" indent="0" marL="0">
              <a:lnSpc>
                <a:spcPts val="1596"/>
              </a:lnSpc>
              <a:buNone/>
            </a:pPr>
            <a:r>
              <a:rPr lang="en-US" sz="1200" dirty="0">
                <a:solidFill>
                  <a:srgbClr val="E8A25C"/>
                </a:solidFill>
                <a:latin typeface="IBM Plex Mono" pitchFamily="49" charset="0"/>
                <a:ea typeface="IBM Plex Mono" pitchFamily="49" charset="-122"/>
                <a:cs typeface="IBM Plex Mono" pitchFamily="49" charset="-120"/>
              </a:rPr>
              <a:t>        pos[n] = nudge(old, n, rng)</a:t>
            </a:r>
            <a:endParaRPr lang="en-US" sz="1200" dirty="0"/>
          </a:p>
          <a:p>
            <a:pPr algn="l" indent="0" marL="0">
              <a:lnSpc>
                <a:spcPts val="1596"/>
              </a:lnSpc>
              <a:buNone/>
            </a:pPr>
            <a:r>
              <a:rPr lang="en-US" sz="1200" dirty="0">
                <a:solidFill>
                  <a:srgbClr val="EFE9DA"/>
                </a:solidFill>
                <a:latin typeface="IBM Plex Mono" pitchFamily="49" charset="0"/>
                <a:ea typeface="IBM Plex Mono" pitchFamily="49" charset="-122"/>
                <a:cs typeface="IBM Plex Mono" pitchFamily="49" charset="-120"/>
              </a:rPr>
              <a:t>        new = cost(pos)</a:t>
            </a:r>
            <a:endParaRPr lang="en-US" sz="1200" dirty="0"/>
          </a:p>
          <a:p>
            <a:pPr algn="l" indent="0" marL="0">
              <a:lnSpc>
                <a:spcPts val="1596"/>
              </a:lnSpc>
              <a:buNone/>
            </a:pPr>
            <a:r>
              <a:rPr lang="en-US" sz="1200" dirty="0">
                <a:solidFill>
                  <a:srgbClr val="E8A25C"/>
                </a:solidFill>
                <a:latin typeface="IBM Plex Mono" pitchFamily="49" charset="0"/>
                <a:ea typeface="IBM Plex Mono" pitchFamily="49" charset="-122"/>
                <a:cs typeface="IBM Plex Mono" pitchFamily="49" charset="-120"/>
              </a:rPr>
              <a:t>        if new &lt;= cur or rng.random() &lt; math.exp((cur - new) / t):</a:t>
            </a:r>
            <a:endParaRPr lang="en-US" sz="1200" dirty="0"/>
          </a:p>
          <a:p>
            <a:pPr algn="l" indent="0" marL="0">
              <a:lnSpc>
                <a:spcPts val="1596"/>
              </a:lnSpc>
              <a:buNone/>
            </a:pPr>
            <a:r>
              <a:rPr lang="en-US" sz="1200" dirty="0">
                <a:solidFill>
                  <a:srgbClr val="EFE9DA"/>
                </a:solidFill>
                <a:latin typeface="IBM Plex Mono" pitchFamily="49" charset="0"/>
                <a:ea typeface="IBM Plex Mono" pitchFamily="49" charset="-122"/>
                <a:cs typeface="IBM Plex Mono" pitchFamily="49" charset="-120"/>
              </a:rPr>
              <a:t>            cur = new</a:t>
            </a:r>
            <a:endParaRPr lang="en-US" sz="1200" dirty="0"/>
          </a:p>
          <a:p>
            <a:pPr algn="l" indent="0" marL="0">
              <a:lnSpc>
                <a:spcPts val="1596"/>
              </a:lnSpc>
              <a:buNone/>
            </a:pPr>
            <a:r>
              <a:rPr lang="en-US" sz="1200" dirty="0">
                <a:solidFill>
                  <a:srgbClr val="EFE9DA"/>
                </a:solidFill>
                <a:latin typeface="IBM Plex Mono" pitchFamily="49" charset="0"/>
                <a:ea typeface="IBM Plex Mono" pitchFamily="49" charset="-122"/>
                <a:cs typeface="IBM Plex Mono" pitchFamily="49" charset="-120"/>
              </a:rPr>
              <a:t>            if cur &lt; best_c and overlaps(pos) == 0:</a:t>
            </a:r>
            <a:endParaRPr lang="en-US" sz="1200" dirty="0"/>
          </a:p>
          <a:p>
            <a:pPr algn="l" indent="0" marL="0">
              <a:lnSpc>
                <a:spcPts val="1596"/>
              </a:lnSpc>
              <a:buNone/>
            </a:pPr>
            <a:r>
              <a:rPr lang="en-US" sz="1200" dirty="0">
                <a:solidFill>
                  <a:srgbClr val="EFE9DA"/>
                </a:solidFill>
                <a:latin typeface="IBM Plex Mono" pitchFamily="49" charset="0"/>
                <a:ea typeface="IBM Plex Mono" pitchFamily="49" charset="-122"/>
                <a:cs typeface="IBM Plex Mono" pitchFamily="49" charset="-120"/>
              </a:rPr>
              <a:t>                best, best_c = dict(pos), cur</a:t>
            </a:r>
            <a:endParaRPr lang="en-US" sz="1200" dirty="0"/>
          </a:p>
          <a:p>
            <a:pPr algn="l" indent="0" marL="0">
              <a:lnSpc>
                <a:spcPts val="1596"/>
              </a:lnSpc>
              <a:buNone/>
            </a:pPr>
            <a:r>
              <a:rPr lang="en-US" sz="1200" dirty="0">
                <a:solidFill>
                  <a:srgbClr val="EFE9DA"/>
                </a:solidFill>
                <a:latin typeface="IBM Plex Mono" pitchFamily="49" charset="0"/>
                <a:ea typeface="IBM Plex Mono" pitchFamily="49" charset="-122"/>
                <a:cs typeface="IBM Plex Mono" pitchFamily="49" charset="-120"/>
              </a:rPr>
              <a:t>        else:</a:t>
            </a:r>
            <a:endParaRPr lang="en-US" sz="1200" dirty="0"/>
          </a:p>
          <a:p>
            <a:pPr algn="l" indent="0" marL="0">
              <a:lnSpc>
                <a:spcPts val="1596"/>
              </a:lnSpc>
              <a:buNone/>
            </a:pPr>
            <a:r>
              <a:rPr lang="en-US" sz="1200" dirty="0">
                <a:solidFill>
                  <a:srgbClr val="EFE9DA"/>
                </a:solidFill>
                <a:latin typeface="IBM Plex Mono" pitchFamily="49" charset="0"/>
                <a:ea typeface="IBM Plex Mono" pitchFamily="49" charset="-122"/>
                <a:cs typeface="IBM Plex Mono" pitchFamily="49" charset="-120"/>
              </a:rPr>
              <a:t>            pos[n] = old</a:t>
            </a:r>
            <a:endParaRPr lang="en-US" sz="1200" dirty="0"/>
          </a:p>
          <a:p>
            <a:pPr algn="l" indent="0" marL="0">
              <a:lnSpc>
                <a:spcPts val="1596"/>
              </a:lnSpc>
              <a:buNone/>
            </a:pPr>
            <a:r>
              <a:rPr lang="en-US" sz="1200" dirty="0">
                <a:solidFill>
                  <a:srgbClr val="EFE9DA"/>
                </a:solidFill>
                <a:latin typeface="IBM Plex Mono" pitchFamily="49" charset="0"/>
                <a:ea typeface="IBM Plex Mono" pitchFamily="49" charset="-122"/>
                <a:cs typeface="IBM Plex Mono" pitchFamily="49" charset="-120"/>
              </a:rPr>
              <a:t>    return best</a:t>
            </a:r>
            <a:endParaRPr lang="en-US" sz="1200" dirty="0"/>
          </a:p>
        </p:txBody>
      </p:sp>
      <p:sp>
        <p:nvSpPr>
          <p:cNvPr id="7" name="Shape 5"/>
          <p:cNvSpPr/>
          <p:nvPr/>
        </p:nvSpPr>
        <p:spPr>
          <a:xfrm>
            <a:off x="7505700" y="1749475"/>
            <a:ext cx="2540000" cy="2540000"/>
          </a:xfrm>
          <a:prstGeom prst="roundRect">
            <a:avLst>
              <a:gd name="adj" fmla="val 2500"/>
            </a:avLst>
          </a:prstGeom>
          <a:solidFill>
            <a:srgbClr val="1C5E47"/>
          </a:solidFill>
          <a:ln/>
          <a:effectLst>
            <a:outerShdw sx="100000" sy="100000" kx="0" ky="0" algn="bl" rotWithShape="0" blurRad="25400" dist="0" dir="60000">
              <a:srgbClr val="0F3B2D">
                <a:alpha val="100000"/>
              </a:srgbClr>
            </a:outerShdw>
          </a:effectLst>
        </p:spPr>
      </p:sp>
      <p:pic>
        <p:nvPicPr>
          <p:cNvPr id="8" name="Image 0" descr="connector">    </p:cNvPr>
          <p:cNvPicPr>
            <a:picLocks noChangeAspect="1"/>
          </p:cNvPicPr>
          <p:nvPr/>
        </p:nvPicPr>
        <p:blipFill>
          <a:blip r:embed="rId1"/>
          <a:srcRect l="0" r="0" t="-390" b="-390"/>
          <a:stretch/>
        </p:blipFill>
        <p:spPr>
          <a:xfrm>
            <a:off x="8301980" y="3115965"/>
            <a:ext cx="349250" cy="76795"/>
          </a:xfrm>
          <a:prstGeom prst="rect">
            <a:avLst/>
          </a:prstGeom>
        </p:spPr>
      </p:pic>
      <p:pic>
        <p:nvPicPr>
          <p:cNvPr id="9" name="Image 1" descr="connector">    </p:cNvPr>
          <p:cNvPicPr>
            <a:picLocks noChangeAspect="1"/>
          </p:cNvPicPr>
          <p:nvPr/>
        </p:nvPicPr>
        <p:blipFill>
          <a:blip r:embed="rId2"/>
          <a:srcRect l="-1395" r="-1395" t="0" b="0"/>
          <a:stretch/>
        </p:blipFill>
        <p:spPr>
          <a:xfrm>
            <a:off x="8575030" y="3030885"/>
            <a:ext cx="313680" cy="161925"/>
          </a:xfrm>
          <a:prstGeom prst="rect">
            <a:avLst/>
          </a:prstGeom>
        </p:spPr>
      </p:pic>
      <p:pic>
        <p:nvPicPr>
          <p:cNvPr id="10" name="Image 2" descr="connector">    </p:cNvPr>
          <p:cNvPicPr>
            <a:picLocks noChangeAspect="1"/>
          </p:cNvPicPr>
          <p:nvPr/>
        </p:nvPicPr>
        <p:blipFill>
          <a:blip r:embed="rId3"/>
          <a:srcRect l="-1439" r="-1439" t="0" b="0"/>
          <a:stretch/>
        </p:blipFill>
        <p:spPr>
          <a:xfrm>
            <a:off x="8575030" y="3107085"/>
            <a:ext cx="321270" cy="85725"/>
          </a:xfrm>
          <a:prstGeom prst="rect">
            <a:avLst/>
          </a:prstGeom>
        </p:spPr>
      </p:pic>
      <p:pic>
        <p:nvPicPr>
          <p:cNvPr id="11" name="Image 3" descr="connector">    </p:cNvPr>
          <p:cNvPicPr>
            <a:picLocks noChangeAspect="1"/>
          </p:cNvPicPr>
          <p:nvPr/>
        </p:nvPicPr>
        <p:blipFill>
          <a:blip r:embed="rId4"/>
          <a:srcRect l="-1660" r="-1660" t="0" b="0"/>
          <a:stretch/>
        </p:blipFill>
        <p:spPr>
          <a:xfrm>
            <a:off x="8977610" y="3107085"/>
            <a:ext cx="78730" cy="323850"/>
          </a:xfrm>
          <a:prstGeom prst="rect">
            <a:avLst/>
          </a:prstGeom>
        </p:spPr>
      </p:pic>
      <p:pic>
        <p:nvPicPr>
          <p:cNvPr id="12" name="Image 4" descr="connector">    </p:cNvPr>
          <p:cNvPicPr>
            <a:picLocks noChangeAspect="1"/>
          </p:cNvPicPr>
          <p:nvPr/>
        </p:nvPicPr>
        <p:blipFill>
          <a:blip r:embed="rId5"/>
          <a:srcRect l="0" r="0" t="0" b="0"/>
          <a:stretch/>
        </p:blipFill>
        <p:spPr>
          <a:xfrm>
            <a:off x="8812510" y="3030885"/>
            <a:ext cx="241300" cy="152400"/>
          </a:xfrm>
          <a:prstGeom prst="rect">
            <a:avLst/>
          </a:prstGeom>
        </p:spPr>
      </p:pic>
      <p:pic>
        <p:nvPicPr>
          <p:cNvPr id="13" name="Image 5" descr="connector">    </p:cNvPr>
          <p:cNvPicPr>
            <a:picLocks noChangeAspect="1"/>
          </p:cNvPicPr>
          <p:nvPr/>
        </p:nvPicPr>
        <p:blipFill>
          <a:blip r:embed="rId6"/>
          <a:srcRect l="0" r="0" t="-276" b="-276"/>
          <a:stretch/>
        </p:blipFill>
        <p:spPr>
          <a:xfrm>
            <a:off x="8820150" y="3107085"/>
            <a:ext cx="233660" cy="76200"/>
          </a:xfrm>
          <a:prstGeom prst="rect">
            <a:avLst/>
          </a:prstGeom>
        </p:spPr>
      </p:pic>
      <p:pic>
        <p:nvPicPr>
          <p:cNvPr id="14" name="Image 6" descr="connector">    </p:cNvPr>
          <p:cNvPicPr>
            <a:picLocks noChangeAspect="1"/>
          </p:cNvPicPr>
          <p:nvPr/>
        </p:nvPicPr>
        <p:blipFill>
          <a:blip r:embed="rId7"/>
          <a:srcRect l="-1208" r="-1208" t="0" b="0"/>
          <a:stretch/>
        </p:blipFill>
        <p:spPr>
          <a:xfrm>
            <a:off x="8567390" y="2840385"/>
            <a:ext cx="83790" cy="352425"/>
          </a:xfrm>
          <a:prstGeom prst="rect">
            <a:avLst/>
          </a:prstGeom>
        </p:spPr>
      </p:pic>
      <p:pic>
        <p:nvPicPr>
          <p:cNvPr id="15" name="Image 7" descr="connector">    </p:cNvPr>
          <p:cNvPicPr>
            <a:picLocks noChangeAspect="1"/>
          </p:cNvPicPr>
          <p:nvPr/>
        </p:nvPicPr>
        <p:blipFill>
          <a:blip r:embed="rId8"/>
          <a:srcRect l="-641" r="-641" t="0" b="0"/>
          <a:stretch/>
        </p:blipFill>
        <p:spPr>
          <a:xfrm>
            <a:off x="8555335" y="3116610"/>
            <a:ext cx="95845" cy="296515"/>
          </a:xfrm>
          <a:prstGeom prst="rect">
            <a:avLst/>
          </a:prstGeom>
        </p:spPr>
      </p:pic>
      <p:sp>
        <p:nvSpPr>
          <p:cNvPr id="16" name="Shape 6"/>
          <p:cNvSpPr/>
          <p:nvPr/>
        </p:nvSpPr>
        <p:spPr>
          <a:xfrm>
            <a:off x="8438505" y="2980085"/>
            <a:ext cx="349250" cy="349250"/>
          </a:xfrm>
          <a:prstGeom prst="roundRect">
            <a:avLst>
              <a:gd name="adj" fmla="val 2727"/>
            </a:avLst>
          </a:prstGeom>
          <a:solidFill>
            <a:srgbClr val="2B2B2B"/>
          </a:solidFill>
          <a:ln w="6350">
            <a:solidFill>
              <a:srgbClr val="EFE9DA"/>
            </a:solidFill>
            <a:prstDash val="solid"/>
          </a:ln>
        </p:spPr>
      </p:sp>
      <p:sp>
        <p:nvSpPr>
          <p:cNvPr id="17" name="Shape 7"/>
          <p:cNvSpPr/>
          <p:nvPr/>
        </p:nvSpPr>
        <p:spPr>
          <a:xfrm>
            <a:off x="8267055" y="3093740"/>
            <a:ext cx="146050" cy="120650"/>
          </a:xfrm>
          <a:prstGeom prst="roundRect">
            <a:avLst>
              <a:gd name="adj" fmla="val 7895"/>
            </a:avLst>
          </a:prstGeom>
          <a:solidFill>
            <a:srgbClr val="C9CED3"/>
          </a:solidFill>
          <a:ln w="6350">
            <a:solidFill>
              <a:srgbClr val="EFE9DA"/>
            </a:solidFill>
            <a:prstDash val="solid"/>
          </a:ln>
        </p:spPr>
      </p:sp>
      <p:sp>
        <p:nvSpPr>
          <p:cNvPr id="18" name="Shape 8"/>
          <p:cNvSpPr/>
          <p:nvPr/>
        </p:nvSpPr>
        <p:spPr>
          <a:xfrm>
            <a:off x="8813155" y="3051820"/>
            <a:ext cx="74910" cy="34280"/>
          </a:xfrm>
          <a:prstGeom prst="roundRect">
            <a:avLst>
              <a:gd name="adj" fmla="val 27786"/>
            </a:avLst>
          </a:prstGeom>
          <a:solidFill>
            <a:srgbClr val="E3B66B"/>
          </a:solidFill>
          <a:ln w="6350">
            <a:solidFill>
              <a:srgbClr val="EFE9DA"/>
            </a:solidFill>
            <a:prstDash val="solid"/>
          </a:ln>
        </p:spPr>
      </p:sp>
      <p:sp>
        <p:nvSpPr>
          <p:cNvPr id="19" name="Shape 9"/>
          <p:cNvSpPr/>
          <p:nvPr/>
        </p:nvSpPr>
        <p:spPr>
          <a:xfrm>
            <a:off x="8820745" y="3128020"/>
            <a:ext cx="74910" cy="34280"/>
          </a:xfrm>
          <a:prstGeom prst="roundRect">
            <a:avLst>
              <a:gd name="adj" fmla="val 27786"/>
            </a:avLst>
          </a:prstGeom>
          <a:solidFill>
            <a:srgbClr val="E3B66B"/>
          </a:solidFill>
          <a:ln w="6350">
            <a:solidFill>
              <a:srgbClr val="EFE9DA"/>
            </a:solidFill>
            <a:prstDash val="solid"/>
          </a:ln>
        </p:spPr>
      </p:sp>
      <p:sp>
        <p:nvSpPr>
          <p:cNvPr id="20" name="Shape 10"/>
          <p:cNvSpPr/>
          <p:nvPr/>
        </p:nvSpPr>
        <p:spPr>
          <a:xfrm>
            <a:off x="8942685" y="3072160"/>
            <a:ext cx="146050" cy="146050"/>
          </a:xfrm>
          <a:prstGeom prst="roundRect">
            <a:avLst>
              <a:gd name="adj" fmla="val 6522"/>
            </a:avLst>
          </a:prstGeom>
          <a:solidFill>
            <a:srgbClr val="6FA8DC"/>
          </a:solidFill>
          <a:ln w="6350">
            <a:solidFill>
              <a:srgbClr val="EFE9DA"/>
            </a:solidFill>
            <a:prstDash val="solid"/>
          </a:ln>
        </p:spPr>
      </p:sp>
      <p:sp>
        <p:nvSpPr>
          <p:cNvPr id="21" name="Shape 11"/>
          <p:cNvSpPr/>
          <p:nvPr/>
        </p:nvSpPr>
        <p:spPr>
          <a:xfrm>
            <a:off x="8818215" y="3243610"/>
            <a:ext cx="400050" cy="298450"/>
          </a:xfrm>
          <a:prstGeom prst="roundRect">
            <a:avLst>
              <a:gd name="adj" fmla="val 3191"/>
            </a:avLst>
          </a:prstGeom>
          <a:solidFill>
            <a:srgbClr val="9AA3AB"/>
          </a:solidFill>
          <a:ln w="6350">
            <a:solidFill>
              <a:srgbClr val="EFE9DA"/>
            </a:solidFill>
            <a:prstDash val="solid"/>
          </a:ln>
        </p:spPr>
      </p:sp>
      <p:sp>
        <p:nvSpPr>
          <p:cNvPr id="22" name="Shape 12"/>
          <p:cNvSpPr/>
          <p:nvPr/>
        </p:nvSpPr>
        <p:spPr>
          <a:xfrm>
            <a:off x="8354665" y="2805460"/>
            <a:ext cx="501650" cy="146050"/>
          </a:xfrm>
          <a:prstGeom prst="roundRect">
            <a:avLst>
              <a:gd name="adj" fmla="val 6522"/>
            </a:avLst>
          </a:prstGeom>
          <a:solidFill>
            <a:srgbClr val="555555"/>
          </a:solidFill>
          <a:ln w="6350">
            <a:solidFill>
              <a:srgbClr val="EFE9DA"/>
            </a:solidFill>
            <a:prstDash val="solid"/>
          </a:ln>
        </p:spPr>
      </p:sp>
      <p:sp>
        <p:nvSpPr>
          <p:cNvPr id="23" name="Shape 13"/>
          <p:cNvSpPr/>
          <p:nvPr/>
        </p:nvSpPr>
        <p:spPr>
          <a:xfrm>
            <a:off x="8555980" y="3357910"/>
            <a:ext cx="74910" cy="34280"/>
          </a:xfrm>
          <a:prstGeom prst="roundRect">
            <a:avLst>
              <a:gd name="adj" fmla="val 27786"/>
            </a:avLst>
          </a:prstGeom>
          <a:solidFill>
            <a:srgbClr val="E85D4A"/>
          </a:solidFill>
          <a:ln w="6350">
            <a:solidFill>
              <a:srgbClr val="EFE9DA"/>
            </a:solidFill>
            <a:prstDash val="solid"/>
          </a:ln>
        </p:spPr>
      </p:sp>
      <p:sp>
        <p:nvSpPr>
          <p:cNvPr id="24" name="Shape 14"/>
          <p:cNvSpPr/>
          <p:nvPr/>
        </p:nvSpPr>
        <p:spPr>
          <a:xfrm>
            <a:off x="10201275" y="1774230"/>
            <a:ext cx="133350" cy="133350"/>
          </a:xfrm>
          <a:prstGeom prst="roundRect">
            <a:avLst>
              <a:gd name="adj" fmla="val 16667"/>
            </a:avLst>
          </a:prstGeom>
          <a:solidFill>
            <a:srgbClr val="2B2B2B"/>
          </a:solidFill>
          <a:ln w="6350">
            <a:solidFill>
              <a:srgbClr val="B8B29E"/>
            </a:solidFill>
            <a:prstDash val="solid"/>
          </a:ln>
        </p:spPr>
      </p:sp>
      <p:sp>
        <p:nvSpPr>
          <p:cNvPr id="25" name="Text 15"/>
          <p:cNvSpPr/>
          <p:nvPr/>
        </p:nvSpPr>
        <p:spPr>
          <a:xfrm>
            <a:off x="10401300" y="1749475"/>
            <a:ext cx="434876"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3443D"/>
                </a:solidFill>
                <a:latin typeface="Inter" pitchFamily="34" charset="0"/>
                <a:ea typeface="Inter" pitchFamily="34" charset="-122"/>
                <a:cs typeface="Inter" pitchFamily="34" charset="-120"/>
              </a:rPr>
              <a:t>MCU</a:t>
            </a:r>
            <a:endParaRPr lang="en-US" sz="1200" dirty="0"/>
          </a:p>
        </p:txBody>
      </p:sp>
      <p:sp>
        <p:nvSpPr>
          <p:cNvPr id="26" name="Shape 16"/>
          <p:cNvSpPr/>
          <p:nvPr/>
        </p:nvSpPr>
        <p:spPr>
          <a:xfrm>
            <a:off x="10201275" y="2007890"/>
            <a:ext cx="133350" cy="133350"/>
          </a:xfrm>
          <a:prstGeom prst="roundRect">
            <a:avLst>
              <a:gd name="adj" fmla="val 16667"/>
            </a:avLst>
          </a:prstGeom>
          <a:solidFill>
            <a:srgbClr val="C9CED3"/>
          </a:solidFill>
          <a:ln w="6350">
            <a:solidFill>
              <a:srgbClr val="B8B29E"/>
            </a:solidFill>
            <a:prstDash val="solid"/>
          </a:ln>
        </p:spPr>
      </p:sp>
      <p:sp>
        <p:nvSpPr>
          <p:cNvPr id="27" name="Text 17"/>
          <p:cNvSpPr/>
          <p:nvPr/>
        </p:nvSpPr>
        <p:spPr>
          <a:xfrm>
            <a:off x="10401300" y="1983135"/>
            <a:ext cx="449640"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3443D"/>
                </a:solidFill>
                <a:latin typeface="Inter" pitchFamily="34" charset="0"/>
                <a:ea typeface="Inter" pitchFamily="34" charset="-122"/>
                <a:cs typeface="Inter" pitchFamily="34" charset="-120"/>
              </a:rPr>
              <a:t>XTAL</a:t>
            </a:r>
            <a:endParaRPr lang="en-US" sz="1200" dirty="0"/>
          </a:p>
        </p:txBody>
      </p:sp>
      <p:sp>
        <p:nvSpPr>
          <p:cNvPr id="28" name="Shape 18"/>
          <p:cNvSpPr/>
          <p:nvPr/>
        </p:nvSpPr>
        <p:spPr>
          <a:xfrm>
            <a:off x="10201275" y="2241550"/>
            <a:ext cx="133350" cy="133350"/>
          </a:xfrm>
          <a:prstGeom prst="roundRect">
            <a:avLst>
              <a:gd name="adj" fmla="val 16667"/>
            </a:avLst>
          </a:prstGeom>
          <a:solidFill>
            <a:srgbClr val="E3B66B"/>
          </a:solidFill>
          <a:ln w="6350">
            <a:solidFill>
              <a:srgbClr val="B8B29E"/>
            </a:solidFill>
            <a:prstDash val="solid"/>
          </a:ln>
        </p:spPr>
      </p:sp>
      <p:sp>
        <p:nvSpPr>
          <p:cNvPr id="29" name="Text 19"/>
          <p:cNvSpPr/>
          <p:nvPr/>
        </p:nvSpPr>
        <p:spPr>
          <a:xfrm>
            <a:off x="10401300" y="2216795"/>
            <a:ext cx="557213"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3443D"/>
                </a:solidFill>
                <a:latin typeface="Inter" pitchFamily="34" charset="0"/>
                <a:ea typeface="Inter" pitchFamily="34" charset="-122"/>
                <a:cs typeface="Inter" pitchFamily="34" charset="-120"/>
              </a:rPr>
              <a:t>C1, C2</a:t>
            </a:r>
            <a:endParaRPr lang="en-US" sz="1200" dirty="0"/>
          </a:p>
        </p:txBody>
      </p:sp>
      <p:sp>
        <p:nvSpPr>
          <p:cNvPr id="30" name="Shape 20"/>
          <p:cNvSpPr/>
          <p:nvPr/>
        </p:nvSpPr>
        <p:spPr>
          <a:xfrm>
            <a:off x="10201275" y="2475210"/>
            <a:ext cx="133350" cy="133350"/>
          </a:xfrm>
          <a:prstGeom prst="roundRect">
            <a:avLst>
              <a:gd name="adj" fmla="val 16667"/>
            </a:avLst>
          </a:prstGeom>
          <a:solidFill>
            <a:srgbClr val="6FA8DC"/>
          </a:solidFill>
          <a:ln w="6350">
            <a:solidFill>
              <a:srgbClr val="B8B29E"/>
            </a:solidFill>
            <a:prstDash val="solid"/>
          </a:ln>
        </p:spPr>
      </p:sp>
      <p:sp>
        <p:nvSpPr>
          <p:cNvPr id="31" name="Text 21"/>
          <p:cNvSpPr/>
          <p:nvPr/>
        </p:nvSpPr>
        <p:spPr>
          <a:xfrm>
            <a:off x="10401300" y="2450455"/>
            <a:ext cx="375225"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3443D"/>
                </a:solidFill>
                <a:latin typeface="Inter" pitchFamily="34" charset="0"/>
                <a:ea typeface="Inter" pitchFamily="34" charset="-122"/>
                <a:cs typeface="Inter" pitchFamily="34" charset="-120"/>
              </a:rPr>
              <a:t>LDO</a:t>
            </a:r>
            <a:endParaRPr lang="en-US" sz="1200" dirty="0"/>
          </a:p>
        </p:txBody>
      </p:sp>
      <p:sp>
        <p:nvSpPr>
          <p:cNvPr id="32" name="Shape 22"/>
          <p:cNvSpPr/>
          <p:nvPr/>
        </p:nvSpPr>
        <p:spPr>
          <a:xfrm>
            <a:off x="10201275" y="2708870"/>
            <a:ext cx="133350" cy="133350"/>
          </a:xfrm>
          <a:prstGeom prst="roundRect">
            <a:avLst>
              <a:gd name="adj" fmla="val 16667"/>
            </a:avLst>
          </a:prstGeom>
          <a:solidFill>
            <a:srgbClr val="9AA3AB"/>
          </a:solidFill>
          <a:ln w="6350">
            <a:solidFill>
              <a:srgbClr val="B8B29E"/>
            </a:solidFill>
            <a:prstDash val="solid"/>
          </a:ln>
        </p:spPr>
      </p:sp>
      <p:sp>
        <p:nvSpPr>
          <p:cNvPr id="33" name="Text 23"/>
          <p:cNvSpPr/>
          <p:nvPr/>
        </p:nvSpPr>
        <p:spPr>
          <a:xfrm>
            <a:off x="10401300" y="2684115"/>
            <a:ext cx="373082"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3443D"/>
                </a:solidFill>
                <a:latin typeface="Inter" pitchFamily="34" charset="0"/>
                <a:ea typeface="Inter" pitchFamily="34" charset="-122"/>
                <a:cs typeface="Inter" pitchFamily="34" charset="-120"/>
              </a:rPr>
              <a:t>USB</a:t>
            </a:r>
            <a:endParaRPr lang="en-US" sz="1200" dirty="0"/>
          </a:p>
        </p:txBody>
      </p:sp>
      <p:sp>
        <p:nvSpPr>
          <p:cNvPr id="34" name="Shape 24"/>
          <p:cNvSpPr/>
          <p:nvPr/>
        </p:nvSpPr>
        <p:spPr>
          <a:xfrm>
            <a:off x="10201275" y="2942530"/>
            <a:ext cx="133350" cy="133350"/>
          </a:xfrm>
          <a:prstGeom prst="roundRect">
            <a:avLst>
              <a:gd name="adj" fmla="val 16667"/>
            </a:avLst>
          </a:prstGeom>
          <a:solidFill>
            <a:srgbClr val="555555"/>
          </a:solidFill>
          <a:ln w="6350">
            <a:solidFill>
              <a:srgbClr val="B8B29E"/>
            </a:solidFill>
            <a:prstDash val="solid"/>
          </a:ln>
        </p:spPr>
      </p:sp>
      <p:sp>
        <p:nvSpPr>
          <p:cNvPr id="35" name="Text 25"/>
          <p:cNvSpPr/>
          <p:nvPr/>
        </p:nvSpPr>
        <p:spPr>
          <a:xfrm>
            <a:off x="10401300" y="2917775"/>
            <a:ext cx="385584"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3443D"/>
                </a:solidFill>
                <a:latin typeface="Inter" pitchFamily="34" charset="0"/>
                <a:ea typeface="Inter" pitchFamily="34" charset="-122"/>
                <a:cs typeface="Inter" pitchFamily="34" charset="-120"/>
              </a:rPr>
              <a:t>HDR</a:t>
            </a:r>
            <a:endParaRPr lang="en-US" sz="1200" dirty="0"/>
          </a:p>
        </p:txBody>
      </p:sp>
      <p:sp>
        <p:nvSpPr>
          <p:cNvPr id="36" name="Shape 26"/>
          <p:cNvSpPr/>
          <p:nvPr/>
        </p:nvSpPr>
        <p:spPr>
          <a:xfrm>
            <a:off x="10201275" y="3176191"/>
            <a:ext cx="133350" cy="133350"/>
          </a:xfrm>
          <a:prstGeom prst="roundRect">
            <a:avLst>
              <a:gd name="adj" fmla="val 16667"/>
            </a:avLst>
          </a:prstGeom>
          <a:solidFill>
            <a:srgbClr val="E85D4A"/>
          </a:solidFill>
          <a:ln w="6350">
            <a:solidFill>
              <a:srgbClr val="B8B29E"/>
            </a:solidFill>
            <a:prstDash val="solid"/>
          </a:ln>
        </p:spPr>
      </p:sp>
      <p:sp>
        <p:nvSpPr>
          <p:cNvPr id="37" name="Text 27"/>
          <p:cNvSpPr/>
          <p:nvPr/>
        </p:nvSpPr>
        <p:spPr>
          <a:xfrm>
            <a:off x="10401300" y="3151436"/>
            <a:ext cx="345341"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3443D"/>
                </a:solidFill>
                <a:latin typeface="Inter" pitchFamily="34" charset="0"/>
                <a:ea typeface="Inter" pitchFamily="34" charset="-122"/>
                <a:cs typeface="Inter" pitchFamily="34" charset="-120"/>
              </a:rPr>
              <a:t>LED</a:t>
            </a:r>
            <a:endParaRPr lang="en-US" sz="1200" dirty="0"/>
          </a:p>
        </p:txBody>
      </p:sp>
      <p:sp>
        <p:nvSpPr>
          <p:cNvPr id="38" name="Text 28"/>
          <p:cNvSpPr/>
          <p:nvPr/>
        </p:nvSpPr>
        <p:spPr>
          <a:xfrm>
            <a:off x="7480300" y="4441875"/>
            <a:ext cx="4015867"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A85A14"/>
                </a:solidFill>
                <a:latin typeface="Space Grotesk" pitchFamily="34" charset="0"/>
                <a:ea typeface="Space Grotesk" pitchFamily="34" charset="-122"/>
                <a:cs typeface="Space Grotesk" pitchFamily="34" charset="-120"/>
              </a:rPr>
              <a:t>Score 0.281</a:t>
            </a:r>
            <a:endParaRPr lang="en-US" sz="2800" dirty="0"/>
          </a:p>
        </p:txBody>
      </p:sp>
      <p:sp>
        <p:nvSpPr>
          <p:cNvPr id="39" name="Text 29"/>
          <p:cNvSpPr/>
          <p:nvPr/>
        </p:nvSpPr>
        <p:spPr>
          <a:xfrm>
            <a:off x="7480300" y="4858395"/>
            <a:ext cx="401586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43D"/>
                </a:solidFill>
                <a:latin typeface="Inter" pitchFamily="34" charset="0"/>
                <a:ea typeface="Inter" pitchFamily="34" charset="-122"/>
                <a:cs typeface="Inter" pitchFamily="34" charset="-120"/>
              </a:rPr>
              <a:t>Wire 39.8 mm · crystal 5.4 mm</a:t>
            </a:r>
            <a:endParaRPr lang="en-US" sz="1300" dirty="0"/>
          </a:p>
        </p:txBody>
      </p:sp>
      <p:sp>
        <p:nvSpPr>
          <p:cNvPr id="40" name="Text 30"/>
          <p:cNvSpPr/>
          <p:nvPr/>
        </p:nvSpPr>
        <p:spPr>
          <a:xfrm>
            <a:off x="7480300" y="5114925"/>
            <a:ext cx="401586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43D"/>
                </a:solidFill>
                <a:latin typeface="Inter" pitchFamily="34" charset="0"/>
                <a:ea typeface="Inter" pitchFamily="34" charset="-122"/>
                <a:cs typeface="Inter" pitchFamily="34" charset="-120"/>
              </a:rPr>
              <a:t>Caps 4.9 mm · LDO to crystal 13.3 mm</a:t>
            </a:r>
            <a:endParaRPr lang="en-US" sz="1300" dirty="0"/>
          </a:p>
        </p:txBody>
      </p:sp>
      <p:sp>
        <p:nvSpPr>
          <p:cNvPr id="41" name="Text 31"/>
          <p:cNvSpPr/>
          <p:nvPr/>
        </p:nvSpPr>
        <p:spPr>
          <a:xfrm>
            <a:off x="7480300" y="5371455"/>
            <a:ext cx="401586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43D"/>
                </a:solidFill>
                <a:latin typeface="Inter" pitchFamily="34" charset="0"/>
                <a:ea typeface="Inter" pitchFamily="34" charset="-122"/>
                <a:cs typeface="Inter" pitchFamily="34" charset="-120"/>
              </a:rPr>
              <a:t>Up from 0.243 at the previous stage</a:t>
            </a:r>
            <a:endParaRPr lang="en-US" sz="1300" dirty="0"/>
          </a:p>
        </p:txBody>
      </p:sp>
      <p:sp>
        <p:nvSpPr>
          <p:cNvPr id="42" name="Text 3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B64"/>
                </a:solidFill>
                <a:latin typeface="Inter" pitchFamily="34" charset="0"/>
                <a:ea typeface="Inter" pitchFamily="34" charset="-122"/>
                <a:cs typeface="Inter" pitchFamily="34" charset="-120"/>
              </a:rPr>
              <a:t>PCB placement with AlphaEvolve · 15 · Hand-written stand-in for evolved code, scored by the real evaluator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2A2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FE9DA"/>
                </a:solidFill>
                <a:latin typeface="Space Grotesk" pitchFamily="34" charset="0"/>
                <a:ea typeface="Space Grotesk" pitchFamily="34" charset="-122"/>
                <a:cs typeface="Space Grotesk" pitchFamily="34" charset="-120"/>
              </a:rPr>
              <a:t>Simulation 1: one layout improving</a:t>
            </a:r>
            <a:endParaRPr lang="en-US" sz="3200" dirty="0"/>
          </a:p>
        </p:txBody>
      </p:sp>
      <p:pic>
        <p:nvPicPr>
          <p:cNvPr id="3" name="Image 0" descr="web embed">    </p:cNvPr>
          <p:cNvPicPr>
            <a:picLocks noChangeAspect="1"/>
          </p:cNvPicPr>
          <p:nvPr/>
        </p:nvPicPr>
        <p:blipFill>
          <a:blip r:embed="rId1"/>
          <a:srcRect l="0" r="0" t="0" b="0"/>
          <a:stretch/>
        </p:blipFill>
        <p:spPr>
          <a:xfrm>
            <a:off x="812800" y="1460500"/>
            <a:ext cx="10566400" cy="4546600"/>
          </a:xfrm>
          <a:prstGeom prst="rect">
            <a:avLst/>
          </a:prstGeom>
        </p:spPr>
      </p:pic>
      <p:sp>
        <p:nvSpPr>
          <p:cNvPr id="4" name="Text 1"/>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DB3AA"/>
                </a:solidFill>
                <a:latin typeface="Inter" pitchFamily="34" charset="0"/>
                <a:ea typeface="Inter" pitchFamily="34" charset="-122"/>
                <a:cs typeface="Inter" pitchFamily="34" charset="-120"/>
              </a:rPr>
              <a:t>Stand-in for an evolved placer: simulated annealing on the 8-part toy board. Red outline = overlap. Scores shown are the raw formula (closer to 0 is better); the code rescales them to 0 to 1.</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2A2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FE9DA"/>
                </a:solidFill>
                <a:latin typeface="Space Grotesk" pitchFamily="34" charset="0"/>
                <a:ea typeface="Space Grotesk" pitchFamily="34" charset="-122"/>
                <a:cs typeface="Space Grotesk" pitchFamily="34" charset="-120"/>
              </a:rPr>
              <a:t>Simulation 2: five generations of placer code</a:t>
            </a:r>
            <a:endParaRPr lang="en-US" sz="3200" dirty="0"/>
          </a:p>
        </p:txBody>
      </p:sp>
      <p:pic>
        <p:nvPicPr>
          <p:cNvPr id="3" name="Image 0" descr="web embed">    </p:cNvPr>
          <p:cNvPicPr>
            <a:picLocks noChangeAspect="1"/>
          </p:cNvPicPr>
          <p:nvPr/>
        </p:nvPicPr>
        <p:blipFill>
          <a:blip r:embed="rId1"/>
          <a:srcRect l="0" r="0" t="0" b="0"/>
          <a:stretch/>
        </p:blipFill>
        <p:spPr>
          <a:xfrm>
            <a:off x="812800" y="1460500"/>
            <a:ext cx="10566400" cy="4546600"/>
          </a:xfrm>
          <a:prstGeom prst="rect">
            <a:avLst/>
          </a:prstGeom>
        </p:spPr>
      </p:pic>
      <p:sp>
        <p:nvSpPr>
          <p:cNvPr id="4" name="Text 1"/>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DB3AA"/>
                </a:solidFill>
                <a:latin typeface="Inter" pitchFamily="34" charset="0"/>
                <a:ea typeface="Inter" pitchFamily="34" charset="-122"/>
                <a:cs typeface="Inter" pitchFamily="34" charset="-120"/>
              </a:rPr>
              <a:t>Each generation is a different placement program, scored by the same evaluator. Red outline = overlap. Scores are the raw formula (closer to 0 is better).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EFE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E2A24"/>
                </a:solidFill>
                <a:latin typeface="Space Grotesk" pitchFamily="34" charset="0"/>
                <a:ea typeface="Space Grotesk" pitchFamily="34" charset="-122"/>
                <a:cs typeface="Space Grotesk" pitchFamily="34" charset="-120"/>
              </a:rPr>
              <a:t>Pitfalls to design around</a:t>
            </a:r>
            <a:endParaRPr lang="en-US" sz="3200" dirty="0"/>
          </a:p>
        </p:txBody>
      </p:sp>
      <p:sp>
        <p:nvSpPr>
          <p:cNvPr id="3" name="Shape 1"/>
          <p:cNvSpPr/>
          <p:nvPr/>
        </p:nvSpPr>
        <p:spPr>
          <a:xfrm>
            <a:off x="815975" y="1567805"/>
            <a:ext cx="5175250" cy="1327051"/>
          </a:xfrm>
          <a:prstGeom prst="roundRect">
            <a:avLst>
              <a:gd name="adj" fmla="val 9331"/>
            </a:avLst>
          </a:prstGeom>
          <a:solidFill>
            <a:srgbClr val="FBF9F2"/>
          </a:solidFill>
          <a:ln w="6350">
            <a:solidFill>
              <a:srgbClr val="D9D3C1"/>
            </a:solidFill>
            <a:prstDash val="solid"/>
          </a:ln>
        </p:spPr>
      </p:sp>
      <p:sp>
        <p:nvSpPr>
          <p:cNvPr id="4" name="Text 2"/>
          <p:cNvSpPr/>
          <p:nvPr/>
        </p:nvSpPr>
        <p:spPr>
          <a:xfrm>
            <a:off x="1047750" y="1799580"/>
            <a:ext cx="4853051"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A85A14"/>
                </a:solidFill>
                <a:latin typeface="Space Grotesk" pitchFamily="34" charset="0"/>
                <a:ea typeface="Space Grotesk" pitchFamily="34" charset="-122"/>
                <a:cs typeface="Space Grotesk" pitchFamily="34" charset="-120"/>
              </a:rPr>
              <a:t>Reward hacking</a:t>
            </a:r>
            <a:endParaRPr lang="en-US" sz="1900" dirty="0"/>
          </a:p>
        </p:txBody>
      </p:sp>
      <p:sp>
        <p:nvSpPr>
          <p:cNvPr id="5" name="Text 3"/>
          <p:cNvSpPr/>
          <p:nvPr/>
        </p:nvSpPr>
        <p:spPr>
          <a:xfrm>
            <a:off x="1047750" y="2165300"/>
            <a:ext cx="485305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41F"/>
                </a:solidFill>
                <a:latin typeface="Inter" pitchFamily="34" charset="0"/>
                <a:ea typeface="Inter" pitchFamily="34" charset="-122"/>
                <a:cs typeface="Inter" pitchFamily="34" charset="-120"/>
              </a:rPr>
              <a:t>Evolution exploits any loophole. Keep rules as hard checks and cap bonus terms.</a:t>
            </a:r>
            <a:endParaRPr lang="en-US" sz="1400" dirty="0"/>
          </a:p>
        </p:txBody>
      </p:sp>
      <p:sp>
        <p:nvSpPr>
          <p:cNvPr id="6" name="Shape 4"/>
          <p:cNvSpPr/>
          <p:nvPr/>
        </p:nvSpPr>
        <p:spPr>
          <a:xfrm>
            <a:off x="6200775" y="1567805"/>
            <a:ext cx="5175250" cy="1327051"/>
          </a:xfrm>
          <a:prstGeom prst="roundRect">
            <a:avLst>
              <a:gd name="adj" fmla="val 9331"/>
            </a:avLst>
          </a:prstGeom>
          <a:solidFill>
            <a:srgbClr val="FBF9F2"/>
          </a:solidFill>
          <a:ln w="6350">
            <a:solidFill>
              <a:srgbClr val="D9D3C1"/>
            </a:solidFill>
            <a:prstDash val="solid"/>
          </a:ln>
        </p:spPr>
      </p:sp>
      <p:sp>
        <p:nvSpPr>
          <p:cNvPr id="7" name="Text 5"/>
          <p:cNvSpPr/>
          <p:nvPr/>
        </p:nvSpPr>
        <p:spPr>
          <a:xfrm>
            <a:off x="6432550" y="1799580"/>
            <a:ext cx="4853051"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A85A14"/>
                </a:solidFill>
                <a:latin typeface="Space Grotesk" pitchFamily="34" charset="0"/>
                <a:ea typeface="Space Grotesk" pitchFamily="34" charset="-122"/>
                <a:cs typeface="Space Grotesk" pitchFamily="34" charset="-120"/>
              </a:rPr>
              <a:t>One number hides trade-offs</a:t>
            </a:r>
            <a:endParaRPr lang="en-US" sz="1900" dirty="0"/>
          </a:p>
        </p:txBody>
      </p:sp>
      <p:sp>
        <p:nvSpPr>
          <p:cNvPr id="8" name="Text 6"/>
          <p:cNvSpPr/>
          <p:nvPr/>
        </p:nvSpPr>
        <p:spPr>
          <a:xfrm>
            <a:off x="6432550" y="2165300"/>
            <a:ext cx="485305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41F"/>
                </a:solidFill>
                <a:latin typeface="Inter" pitchFamily="34" charset="0"/>
                <a:ea typeface="Inter" pitchFamily="34" charset="-122"/>
                <a:cs typeface="Inter" pitchFamily="34" charset="-120"/>
              </a:rPr>
              <a:t>Track metrics separately, try several weightings, or keep a Pareto front.</a:t>
            </a:r>
            <a:endParaRPr lang="en-US" sz="1400" dirty="0"/>
          </a:p>
        </p:txBody>
      </p:sp>
      <p:sp>
        <p:nvSpPr>
          <p:cNvPr id="9" name="Shape 7"/>
          <p:cNvSpPr/>
          <p:nvPr/>
        </p:nvSpPr>
        <p:spPr>
          <a:xfrm>
            <a:off x="815975" y="3104406"/>
            <a:ext cx="5175250" cy="1327051"/>
          </a:xfrm>
          <a:prstGeom prst="roundRect">
            <a:avLst>
              <a:gd name="adj" fmla="val 9331"/>
            </a:avLst>
          </a:prstGeom>
          <a:solidFill>
            <a:srgbClr val="FBF9F2"/>
          </a:solidFill>
          <a:ln w="6350">
            <a:solidFill>
              <a:srgbClr val="D9D3C1"/>
            </a:solidFill>
            <a:prstDash val="solid"/>
          </a:ln>
        </p:spPr>
      </p:sp>
      <p:sp>
        <p:nvSpPr>
          <p:cNvPr id="10" name="Text 8"/>
          <p:cNvSpPr/>
          <p:nvPr/>
        </p:nvSpPr>
        <p:spPr>
          <a:xfrm>
            <a:off x="1047750" y="3336181"/>
            <a:ext cx="4853051"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A85A14"/>
                </a:solidFill>
                <a:latin typeface="Space Grotesk" pitchFamily="34" charset="0"/>
                <a:ea typeface="Space Grotesk" pitchFamily="34" charset="-122"/>
                <a:cs typeface="Space Grotesk" pitchFamily="34" charset="-120"/>
              </a:rPr>
              <a:t>Slow evaluators</a:t>
            </a:r>
            <a:endParaRPr lang="en-US" sz="1900" dirty="0"/>
          </a:p>
        </p:txBody>
      </p:sp>
      <p:sp>
        <p:nvSpPr>
          <p:cNvPr id="11" name="Text 9"/>
          <p:cNvSpPr/>
          <p:nvPr/>
        </p:nvSpPr>
        <p:spPr>
          <a:xfrm>
            <a:off x="1047750" y="3701901"/>
            <a:ext cx="485305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41F"/>
                </a:solidFill>
                <a:latin typeface="Inter" pitchFamily="34" charset="0"/>
                <a:ea typeface="Inter" pitchFamily="34" charset="-122"/>
                <a:cs typeface="Inter" pitchFamily="34" charset="-120"/>
              </a:rPr>
              <a:t>The scorer runs thousands of times. Use cheap proxies inside the loop.</a:t>
            </a:r>
            <a:endParaRPr lang="en-US" sz="1400" dirty="0"/>
          </a:p>
        </p:txBody>
      </p:sp>
      <p:sp>
        <p:nvSpPr>
          <p:cNvPr id="12" name="Shape 10"/>
          <p:cNvSpPr/>
          <p:nvPr/>
        </p:nvSpPr>
        <p:spPr>
          <a:xfrm>
            <a:off x="6200775" y="3104406"/>
            <a:ext cx="5175250" cy="1327051"/>
          </a:xfrm>
          <a:prstGeom prst="roundRect">
            <a:avLst>
              <a:gd name="adj" fmla="val 9331"/>
            </a:avLst>
          </a:prstGeom>
          <a:solidFill>
            <a:srgbClr val="FBF9F2"/>
          </a:solidFill>
          <a:ln w="6350">
            <a:solidFill>
              <a:srgbClr val="D9D3C1"/>
            </a:solidFill>
            <a:prstDash val="solid"/>
          </a:ln>
        </p:spPr>
      </p:sp>
      <p:sp>
        <p:nvSpPr>
          <p:cNvPr id="13" name="Text 11"/>
          <p:cNvSpPr/>
          <p:nvPr/>
        </p:nvSpPr>
        <p:spPr>
          <a:xfrm>
            <a:off x="6432550" y="3336181"/>
            <a:ext cx="4853051"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A85A14"/>
                </a:solidFill>
                <a:latin typeface="Space Grotesk" pitchFamily="34" charset="0"/>
                <a:ea typeface="Space Grotesk" pitchFamily="34" charset="-122"/>
                <a:cs typeface="Space Grotesk" pitchFamily="34" charset="-120"/>
              </a:rPr>
              <a:t>Overfitting to one board</a:t>
            </a:r>
            <a:endParaRPr lang="en-US" sz="1900" dirty="0"/>
          </a:p>
        </p:txBody>
      </p:sp>
      <p:sp>
        <p:nvSpPr>
          <p:cNvPr id="14" name="Text 12"/>
          <p:cNvSpPr/>
          <p:nvPr/>
        </p:nvSpPr>
        <p:spPr>
          <a:xfrm>
            <a:off x="6432550" y="3701901"/>
            <a:ext cx="485305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41F"/>
                </a:solidFill>
                <a:latin typeface="Inter" pitchFamily="34" charset="0"/>
                <a:ea typeface="Inter" pitchFamily="34" charset="-122"/>
                <a:cs typeface="Inter" pitchFamily="34" charset="-120"/>
              </a:rPr>
              <a:t>Score on several board variants so the evolved method generalizes.</a:t>
            </a:r>
            <a:endParaRPr lang="en-US" sz="1400" dirty="0"/>
          </a:p>
        </p:txBody>
      </p:sp>
      <p:sp>
        <p:nvSpPr>
          <p:cNvPr id="15" name="Text 13"/>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6B64"/>
                </a:solidFill>
                <a:latin typeface="Inter" pitchFamily="34" charset="0"/>
                <a:ea typeface="Inter" pitchFamily="34" charset="-122"/>
                <a:cs typeface="Inter" pitchFamily="34" charset="-120"/>
              </a:rPr>
              <a:t>PCB placement with AlphaEvolve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2A2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FE9DA"/>
                </a:solidFill>
                <a:latin typeface="Space Grotesk" pitchFamily="34" charset="0"/>
                <a:ea typeface="Space Grotesk" pitchFamily="34" charset="-122"/>
                <a:cs typeface="Space Grotesk" pitchFamily="34" charset="-120"/>
              </a:rPr>
              <a:t>From toy to real board</a:t>
            </a:r>
            <a:endParaRPr lang="en-US" sz="3200" dirty="0"/>
          </a:p>
        </p:txBody>
      </p:sp>
      <p:sp>
        <p:nvSpPr>
          <p:cNvPr id="3" name="Shape 1"/>
          <p:cNvSpPr/>
          <p:nvPr/>
        </p:nvSpPr>
        <p:spPr>
          <a:xfrm>
            <a:off x="815975" y="1618605"/>
            <a:ext cx="1944340" cy="2238921"/>
          </a:xfrm>
          <a:prstGeom prst="roundRect">
            <a:avLst>
              <a:gd name="adj" fmla="val 6368"/>
            </a:avLst>
          </a:prstGeom>
          <a:solidFill>
            <a:srgbClr val="143A32"/>
          </a:solidFill>
          <a:ln w="6350">
            <a:solidFill>
              <a:srgbClr val="E8A25C"/>
            </a:solidFill>
            <a:prstDash val="solid"/>
          </a:ln>
        </p:spPr>
      </p:sp>
      <p:sp>
        <p:nvSpPr>
          <p:cNvPr id="4" name="Text 2"/>
          <p:cNvSpPr/>
          <p:nvPr/>
        </p:nvSpPr>
        <p:spPr>
          <a:xfrm>
            <a:off x="1022350" y="1824980"/>
            <a:ext cx="158239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8A25C"/>
                </a:solidFill>
                <a:latin typeface="Inter" pitchFamily="34" charset="0"/>
                <a:ea typeface="Inter" pitchFamily="34" charset="-122"/>
                <a:cs typeface="Inter" pitchFamily="34" charset="-120"/>
              </a:rPr>
              <a:t>1</a:t>
            </a:r>
            <a:endParaRPr lang="en-US" sz="1400" dirty="0"/>
          </a:p>
        </p:txBody>
      </p:sp>
      <p:sp>
        <p:nvSpPr>
          <p:cNvPr id="5" name="Text 3"/>
          <p:cNvSpPr/>
          <p:nvPr/>
        </p:nvSpPr>
        <p:spPr>
          <a:xfrm>
            <a:off x="1022350" y="2162770"/>
            <a:ext cx="158239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FE9DA"/>
                </a:solidFill>
                <a:latin typeface="Space Grotesk" pitchFamily="34" charset="0"/>
                <a:ea typeface="Space Grotesk" pitchFamily="34" charset="-122"/>
                <a:cs typeface="Space Grotesk" pitchFamily="34" charset="-120"/>
              </a:rPr>
              <a:t>Toy placement</a:t>
            </a:r>
            <a:endParaRPr lang="en-US" sz="1600" dirty="0"/>
          </a:p>
        </p:txBody>
      </p:sp>
      <p:sp>
        <p:nvSpPr>
          <p:cNvPr id="6" name="Text 4"/>
          <p:cNvSpPr/>
          <p:nvPr/>
        </p:nvSpPr>
        <p:spPr>
          <a:xfrm>
            <a:off x="1022350" y="2495500"/>
            <a:ext cx="1582390"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CF"/>
                </a:solidFill>
                <a:latin typeface="Inter" pitchFamily="34" charset="0"/>
                <a:ea typeface="Inter" pitchFamily="34" charset="-122"/>
                <a:cs typeface="Inter" pitchFamily="34" charset="-120"/>
              </a:rPr>
              <a:t>8 parts, simple distances. The example in this deck.</a:t>
            </a:r>
            <a:endParaRPr lang="en-US" sz="1300" dirty="0"/>
          </a:p>
        </p:txBody>
      </p:sp>
      <p:sp>
        <p:nvSpPr>
          <p:cNvPr id="7" name="Shape 5"/>
          <p:cNvSpPr/>
          <p:nvPr/>
        </p:nvSpPr>
        <p:spPr>
          <a:xfrm>
            <a:off x="2969865" y="1618605"/>
            <a:ext cx="1944390" cy="2238921"/>
          </a:xfrm>
          <a:prstGeom prst="roundRect">
            <a:avLst>
              <a:gd name="adj" fmla="val 6368"/>
            </a:avLst>
          </a:prstGeom>
          <a:solidFill>
            <a:srgbClr val="143A32"/>
          </a:solidFill>
          <a:ln w="6350">
            <a:solidFill>
              <a:srgbClr val="24544A"/>
            </a:solidFill>
            <a:prstDash val="solid"/>
          </a:ln>
        </p:spPr>
      </p:sp>
      <p:sp>
        <p:nvSpPr>
          <p:cNvPr id="8" name="Text 6"/>
          <p:cNvSpPr/>
          <p:nvPr/>
        </p:nvSpPr>
        <p:spPr>
          <a:xfrm>
            <a:off x="3176240" y="1824980"/>
            <a:ext cx="158244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8A25C"/>
                </a:solidFill>
                <a:latin typeface="Inter" pitchFamily="34" charset="0"/>
                <a:ea typeface="Inter" pitchFamily="34" charset="-122"/>
                <a:cs typeface="Inter" pitchFamily="34" charset="-120"/>
              </a:rPr>
              <a:t>2</a:t>
            </a:r>
            <a:endParaRPr lang="en-US" sz="1400" dirty="0"/>
          </a:p>
        </p:txBody>
      </p:sp>
      <p:sp>
        <p:nvSpPr>
          <p:cNvPr id="9" name="Text 7"/>
          <p:cNvSpPr/>
          <p:nvPr/>
        </p:nvSpPr>
        <p:spPr>
          <a:xfrm>
            <a:off x="3176240" y="2162770"/>
            <a:ext cx="158244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FE9DA"/>
                </a:solidFill>
                <a:latin typeface="Space Grotesk" pitchFamily="34" charset="0"/>
                <a:ea typeface="Space Grotesk" pitchFamily="34" charset="-122"/>
                <a:cs typeface="Space Grotesk" pitchFamily="34" charset="-120"/>
              </a:rPr>
              <a:t>Real geometry</a:t>
            </a:r>
            <a:endParaRPr lang="en-US" sz="1600" dirty="0"/>
          </a:p>
        </p:txBody>
      </p:sp>
      <p:sp>
        <p:nvSpPr>
          <p:cNvPr id="10" name="Text 8"/>
          <p:cNvSpPr/>
          <p:nvPr/>
        </p:nvSpPr>
        <p:spPr>
          <a:xfrm>
            <a:off x="3176240" y="2495500"/>
            <a:ext cx="1582440"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CF"/>
                </a:solidFill>
                <a:latin typeface="Inter" pitchFamily="34" charset="0"/>
                <a:ea typeface="Inter" pitchFamily="34" charset="-122"/>
                <a:cs typeface="Inter" pitchFamily="34" charset="-120"/>
              </a:rPr>
              <a:t>Apply placements to a real board with KiCad's pcbnew API.</a:t>
            </a:r>
            <a:endParaRPr lang="en-US" sz="1300" dirty="0"/>
          </a:p>
        </p:txBody>
      </p:sp>
      <p:sp>
        <p:nvSpPr>
          <p:cNvPr id="11" name="Shape 9"/>
          <p:cNvSpPr/>
          <p:nvPr/>
        </p:nvSpPr>
        <p:spPr>
          <a:xfrm>
            <a:off x="5123805" y="1618605"/>
            <a:ext cx="1944340" cy="2238921"/>
          </a:xfrm>
          <a:prstGeom prst="roundRect">
            <a:avLst>
              <a:gd name="adj" fmla="val 6368"/>
            </a:avLst>
          </a:prstGeom>
          <a:solidFill>
            <a:srgbClr val="143A32"/>
          </a:solidFill>
          <a:ln w="6350">
            <a:solidFill>
              <a:srgbClr val="24544A"/>
            </a:solidFill>
            <a:prstDash val="solid"/>
          </a:ln>
        </p:spPr>
      </p:sp>
      <p:sp>
        <p:nvSpPr>
          <p:cNvPr id="12" name="Text 10"/>
          <p:cNvSpPr/>
          <p:nvPr/>
        </p:nvSpPr>
        <p:spPr>
          <a:xfrm>
            <a:off x="5330180" y="1824980"/>
            <a:ext cx="158239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8A25C"/>
                </a:solidFill>
                <a:latin typeface="Inter" pitchFamily="34" charset="0"/>
                <a:ea typeface="Inter" pitchFamily="34" charset="-122"/>
                <a:cs typeface="Inter" pitchFamily="34" charset="-120"/>
              </a:rPr>
              <a:t>3</a:t>
            </a:r>
            <a:endParaRPr lang="en-US" sz="1400" dirty="0"/>
          </a:p>
        </p:txBody>
      </p:sp>
      <p:sp>
        <p:nvSpPr>
          <p:cNvPr id="13" name="Text 11"/>
          <p:cNvSpPr/>
          <p:nvPr/>
        </p:nvSpPr>
        <p:spPr>
          <a:xfrm>
            <a:off x="5330180" y="2162770"/>
            <a:ext cx="158239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FE9DA"/>
                </a:solidFill>
                <a:latin typeface="Space Grotesk" pitchFamily="34" charset="0"/>
                <a:ea typeface="Space Grotesk" pitchFamily="34" charset="-122"/>
                <a:cs typeface="Space Grotesk" pitchFamily="34" charset="-120"/>
              </a:rPr>
              <a:t>Routing</a:t>
            </a:r>
            <a:endParaRPr lang="en-US" sz="1600" dirty="0"/>
          </a:p>
        </p:txBody>
      </p:sp>
      <p:sp>
        <p:nvSpPr>
          <p:cNvPr id="14" name="Text 12"/>
          <p:cNvSpPr/>
          <p:nvPr/>
        </p:nvSpPr>
        <p:spPr>
          <a:xfrm>
            <a:off x="5330180" y="2495500"/>
            <a:ext cx="1582390"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CF"/>
                </a:solidFill>
                <a:latin typeface="Inter" pitchFamily="34" charset="0"/>
                <a:ea typeface="Inter" pitchFamily="34" charset="-122"/>
                <a:cs typeface="Inter" pitchFamily="34" charset="-120"/>
              </a:rPr>
              <a:t>Run an autorouter. Count unrouted nets, vias and trace length.</a:t>
            </a:r>
            <a:endParaRPr lang="en-US" sz="1300" dirty="0"/>
          </a:p>
        </p:txBody>
      </p:sp>
      <p:sp>
        <p:nvSpPr>
          <p:cNvPr id="15" name="Shape 13"/>
          <p:cNvSpPr/>
          <p:nvPr/>
        </p:nvSpPr>
        <p:spPr>
          <a:xfrm>
            <a:off x="7277695" y="1618605"/>
            <a:ext cx="1944390" cy="2238921"/>
          </a:xfrm>
          <a:prstGeom prst="roundRect">
            <a:avLst>
              <a:gd name="adj" fmla="val 6368"/>
            </a:avLst>
          </a:prstGeom>
          <a:solidFill>
            <a:srgbClr val="143A32"/>
          </a:solidFill>
          <a:ln w="6350">
            <a:solidFill>
              <a:srgbClr val="24544A"/>
            </a:solidFill>
            <a:prstDash val="solid"/>
          </a:ln>
        </p:spPr>
      </p:sp>
      <p:sp>
        <p:nvSpPr>
          <p:cNvPr id="16" name="Text 14"/>
          <p:cNvSpPr/>
          <p:nvPr/>
        </p:nvSpPr>
        <p:spPr>
          <a:xfrm>
            <a:off x="7484070" y="1824980"/>
            <a:ext cx="158244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8A25C"/>
                </a:solidFill>
                <a:latin typeface="Inter" pitchFamily="34" charset="0"/>
                <a:ea typeface="Inter" pitchFamily="34" charset="-122"/>
                <a:cs typeface="Inter" pitchFamily="34" charset="-120"/>
              </a:rPr>
              <a:t>4</a:t>
            </a:r>
            <a:endParaRPr lang="en-US" sz="1400" dirty="0"/>
          </a:p>
        </p:txBody>
      </p:sp>
      <p:sp>
        <p:nvSpPr>
          <p:cNvPr id="17" name="Text 15"/>
          <p:cNvSpPr/>
          <p:nvPr/>
        </p:nvSpPr>
        <p:spPr>
          <a:xfrm>
            <a:off x="7484070" y="2162770"/>
            <a:ext cx="158244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FE9DA"/>
                </a:solidFill>
                <a:latin typeface="Space Grotesk" pitchFamily="34" charset="0"/>
                <a:ea typeface="Space Grotesk" pitchFamily="34" charset="-122"/>
                <a:cs typeface="Space Grotesk" pitchFamily="34" charset="-120"/>
              </a:rPr>
              <a:t>Rule checks</a:t>
            </a:r>
            <a:endParaRPr lang="en-US" sz="1600" dirty="0"/>
          </a:p>
        </p:txBody>
      </p:sp>
      <p:sp>
        <p:nvSpPr>
          <p:cNvPr id="18" name="Text 16"/>
          <p:cNvSpPr/>
          <p:nvPr/>
        </p:nvSpPr>
        <p:spPr>
          <a:xfrm>
            <a:off x="7484070" y="2495500"/>
            <a:ext cx="158244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CF"/>
                </a:solidFill>
                <a:latin typeface="Inter" pitchFamily="34" charset="0"/>
                <a:ea typeface="Inter" pitchFamily="34" charset="-122"/>
                <a:cs typeface="Inter" pitchFamily="34" charset="-120"/>
              </a:rPr>
              <a:t>Run the real design rule check. Require zero violations.</a:t>
            </a:r>
            <a:endParaRPr lang="en-US" sz="1300" dirty="0"/>
          </a:p>
        </p:txBody>
      </p:sp>
      <p:sp>
        <p:nvSpPr>
          <p:cNvPr id="19" name="Shape 17"/>
          <p:cNvSpPr/>
          <p:nvPr/>
        </p:nvSpPr>
        <p:spPr>
          <a:xfrm>
            <a:off x="9431635" y="1618605"/>
            <a:ext cx="1944390" cy="2238921"/>
          </a:xfrm>
          <a:prstGeom prst="roundRect">
            <a:avLst>
              <a:gd name="adj" fmla="val 6368"/>
            </a:avLst>
          </a:prstGeom>
          <a:solidFill>
            <a:srgbClr val="143A32"/>
          </a:solidFill>
          <a:ln w="6350">
            <a:solidFill>
              <a:srgbClr val="24544A"/>
            </a:solidFill>
            <a:prstDash val="solid"/>
          </a:ln>
        </p:spPr>
      </p:sp>
      <p:sp>
        <p:nvSpPr>
          <p:cNvPr id="20" name="Text 18"/>
          <p:cNvSpPr/>
          <p:nvPr/>
        </p:nvSpPr>
        <p:spPr>
          <a:xfrm>
            <a:off x="9638010" y="1824980"/>
            <a:ext cx="158244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8A25C"/>
                </a:solidFill>
                <a:latin typeface="Inter" pitchFamily="34" charset="0"/>
                <a:ea typeface="Inter" pitchFamily="34" charset="-122"/>
                <a:cs typeface="Inter" pitchFamily="34" charset="-120"/>
              </a:rPr>
              <a:t>5</a:t>
            </a:r>
            <a:endParaRPr lang="en-US" sz="1400" dirty="0"/>
          </a:p>
        </p:txBody>
      </p:sp>
      <p:sp>
        <p:nvSpPr>
          <p:cNvPr id="21" name="Text 19"/>
          <p:cNvSpPr/>
          <p:nvPr/>
        </p:nvSpPr>
        <p:spPr>
          <a:xfrm>
            <a:off x="9638010" y="2162770"/>
            <a:ext cx="158244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FE9DA"/>
                </a:solidFill>
                <a:latin typeface="Space Grotesk" pitchFamily="34" charset="0"/>
                <a:ea typeface="Space Grotesk" pitchFamily="34" charset="-122"/>
                <a:cs typeface="Space Grotesk" pitchFamily="34" charset="-120"/>
              </a:rPr>
              <a:t>Physics</a:t>
            </a:r>
            <a:endParaRPr lang="en-US" sz="1600" dirty="0"/>
          </a:p>
        </p:txBody>
      </p:sp>
      <p:sp>
        <p:nvSpPr>
          <p:cNvPr id="22" name="Text 20"/>
          <p:cNvSpPr/>
          <p:nvPr/>
        </p:nvSpPr>
        <p:spPr>
          <a:xfrm>
            <a:off x="9638010" y="2495500"/>
            <a:ext cx="1582440" cy="118105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6CF"/>
                </a:solidFill>
                <a:latin typeface="Inter" pitchFamily="34" charset="0"/>
                <a:ea typeface="Inter" pitchFamily="34" charset="-122"/>
                <a:cs typeface="Inter" pitchFamily="34" charset="-120"/>
              </a:rPr>
              <a:t>Add impedance, thermal and EMI estimates, costly ones on top candidates only.</a:t>
            </a:r>
            <a:endParaRPr lang="en-US" sz="1300" dirty="0"/>
          </a:p>
        </p:txBody>
      </p:sp>
      <p:sp>
        <p:nvSpPr>
          <p:cNvPr id="23" name="Text 21"/>
          <p:cNvSpPr/>
          <p:nvPr/>
        </p:nvSpPr>
        <p:spPr>
          <a:xfrm>
            <a:off x="812800" y="4216301"/>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E8A25C"/>
                </a:solidFill>
                <a:latin typeface="Inter" pitchFamily="34" charset="0"/>
                <a:ea typeface="Inter" pitchFamily="34" charset="-122"/>
                <a:cs typeface="Inter" pitchFamily="34" charset="-120"/>
              </a:rPr>
              <a:t>Upgrade the evaluator, not the framework.</a:t>
            </a:r>
            <a:endParaRPr lang="en-US" sz="2000" dirty="0"/>
          </a:p>
        </p:txBody>
      </p:sp>
      <p:sp>
        <p:nvSpPr>
          <p:cNvPr id="24" name="Text 2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DB3AA"/>
                </a:solidFill>
                <a:latin typeface="Inter" pitchFamily="34" charset="0"/>
                <a:ea typeface="Inter" pitchFamily="34" charset="-122"/>
                <a:cs typeface="Inter" pitchFamily="34" charset="-120"/>
              </a:rPr>
              <a:t>PCB placement with AlphaEvolve · 19</a:t>
            </a:r>
            <a:endParaRPr lang="en-US" sz="1200" dirty="0"/>
          </a:p>
        </p:txBody>
      </p:sp>
    </p:spTree>
  </p:cSld>
  <p:clrMapOvr>
    <a:masterClrMapping/>
  </p:clrMapOvr>
</p:sld>
</file>

<file path=ppt/theme/theme1.xml><?xml version="1.0" encoding="utf-8"?>
<a:theme xmlns:a="http://schemas.openxmlformats.org/drawingml/2006/main" name="PCB Design Optimization with AlphaEvolve">
  <a:themeElements>
    <a:clrScheme name="PCB Design Optimization with AlphaEvolve">
      <a:dk1>
        <a:srgbClr val="0E2A24"/>
      </a:dk1>
      <a:lt1>
        <a:srgbClr val="F3EFE4"/>
      </a:lt1>
      <a:dk2>
        <a:srgbClr val="475B54"/>
      </a:dk2>
      <a:lt2>
        <a:srgbClr val="DCDBD1"/>
      </a:lt2>
      <a:accent1>
        <a:srgbClr val="E3B66B"/>
      </a:accent1>
      <a:accent2>
        <a:srgbClr val="A85A14"/>
      </a:accent2>
      <a:accent3>
        <a:srgbClr val="E8A25C"/>
      </a:accent3>
      <a:accent4>
        <a:srgbClr val="6FA8DC"/>
      </a:accent4>
      <a:accent5>
        <a:srgbClr val="E85D4A"/>
      </a:accent5>
      <a:accent6>
        <a:srgbClr val="1C5E47"/>
      </a:accent6>
      <a:hlink>
        <a:srgbClr val="0563C1"/>
      </a:hlink>
      <a:folHlink>
        <a:srgbClr val="954F72"/>
      </a:folHlink>
    </a:clrScheme>
    <a:fontScheme name="PCB Design Optimization with AlphaEvolve">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PCB Design Optimization with AlphaEvolve</dc:title>
  <dc:subject/>
  <dc:creator/>
  <cp:lastModifiedBy/>
  <cp:revision>1</cp:revision>
  <dcterms:created xsi:type="dcterms:W3CDTF">2026-10-07T14:26:49Z</dcterms:created>
  <dcterms:modified xsi:type="dcterms:W3CDTF">2026-10-07T14:26:49Z</dcterms:modified>
</cp:coreProperties>
</file>